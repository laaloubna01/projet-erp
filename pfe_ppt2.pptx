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8"/>
  </p:notesMasterIdLst>
  <p:sldIdLst>
    <p:sldId id="305" r:id="rId2"/>
    <p:sldId id="257" r:id="rId3"/>
    <p:sldId id="514" r:id="rId4"/>
    <p:sldId id="558" r:id="rId5"/>
    <p:sldId id="560" r:id="rId6"/>
    <p:sldId id="517" r:id="rId7"/>
    <p:sldId id="559" r:id="rId8"/>
    <p:sldId id="576" r:id="rId9"/>
    <p:sldId id="581" r:id="rId10"/>
    <p:sldId id="577" r:id="rId11"/>
    <p:sldId id="578" r:id="rId12"/>
    <p:sldId id="583" r:id="rId13"/>
    <p:sldId id="584" r:id="rId14"/>
    <p:sldId id="448" r:id="rId15"/>
    <p:sldId id="450" r:id="rId16"/>
    <p:sldId id="449" r:id="rId17"/>
    <p:sldId id="440" r:id="rId18"/>
    <p:sldId id="498" r:id="rId19"/>
    <p:sldId id="499" r:id="rId20"/>
    <p:sldId id="500" r:id="rId21"/>
    <p:sldId id="502" r:id="rId22"/>
    <p:sldId id="523" r:id="rId23"/>
    <p:sldId id="270" r:id="rId24"/>
    <p:sldId id="441" r:id="rId25"/>
    <p:sldId id="275" r:id="rId26"/>
    <p:sldId id="566" r:id="rId27"/>
    <p:sldId id="563" r:id="rId28"/>
    <p:sldId id="564" r:id="rId29"/>
    <p:sldId id="565" r:id="rId30"/>
    <p:sldId id="573" r:id="rId31"/>
    <p:sldId id="571" r:id="rId32"/>
    <p:sldId id="574" r:id="rId33"/>
    <p:sldId id="569" r:id="rId34"/>
    <p:sldId id="474" r:id="rId35"/>
    <p:sldId id="529" r:id="rId36"/>
    <p:sldId id="531" r:id="rId37"/>
    <p:sldId id="524" r:id="rId38"/>
    <p:sldId id="575" r:id="rId39"/>
    <p:sldId id="530" r:id="rId40"/>
    <p:sldId id="525" r:id="rId41"/>
    <p:sldId id="542" r:id="rId42"/>
    <p:sldId id="549" r:id="rId43"/>
    <p:sldId id="550" r:id="rId44"/>
    <p:sldId id="551" r:id="rId45"/>
    <p:sldId id="552" r:id="rId46"/>
    <p:sldId id="553" r:id="rId47"/>
    <p:sldId id="541" r:id="rId48"/>
    <p:sldId id="543" r:id="rId49"/>
    <p:sldId id="546" r:id="rId50"/>
    <p:sldId id="547" r:id="rId51"/>
    <p:sldId id="554" r:id="rId52"/>
    <p:sldId id="467" r:id="rId53"/>
    <p:sldId id="307" r:id="rId54"/>
    <p:sldId id="585" r:id="rId55"/>
    <p:sldId id="469" r:id="rId56"/>
    <p:sldId id="460" r:id="rId57"/>
  </p:sldIdLst>
  <p:sldSz cx="12192000" cy="6858000"/>
  <p:notesSz cx="6858000" cy="9144000"/>
  <p:embeddedFontLst>
    <p:embeddedFont>
      <p:font typeface="Cambria" panose="02040503050406030204" pitchFamily="18" charset="0"/>
      <p:regular r:id="rId59"/>
      <p:bold r:id="rId60"/>
      <p:italic r:id="rId61"/>
      <p:boldItalic r:id="rId62"/>
    </p:embeddedFont>
    <p:embeddedFont>
      <p:font typeface="Century Gothic" panose="020B0502020202020204" pitchFamily="34" charset="0"/>
      <p:regular r:id="rId63"/>
      <p:bold r:id="rId64"/>
      <p:italic r:id="rId65"/>
      <p:boldItalic r:id="rId66"/>
    </p:embeddedFont>
    <p:embeddedFont>
      <p:font typeface="Garamond" panose="02020404030301010803" pitchFamily="18" charset="0"/>
      <p:regular r:id="rId67"/>
      <p:bold r:id="rId68"/>
      <p:italic r:id="rId69"/>
    </p:embeddedFont>
    <p:embeddedFont>
      <p:font typeface="Georgia" panose="02040502050405020303" pitchFamily="18" charset="0"/>
      <p:regular r:id="rId70"/>
      <p:bold r:id="rId71"/>
      <p:italic r:id="rId72"/>
      <p:boldItalic r:id="rId73"/>
    </p:embeddedFont>
  </p:embeddedFontLst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FBFBF"/>
    <a:srgbClr val="EC3A3B"/>
    <a:srgbClr val="BE4748"/>
    <a:srgbClr val="E93C3D"/>
    <a:srgbClr val="2BB6B5"/>
    <a:srgbClr val="BF2827"/>
    <a:srgbClr val="DA7F7D"/>
    <a:srgbClr val="004996"/>
    <a:srgbClr val="F5F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C6180-756B-4050-A127-7531F31259F3}" v="197" dt="2026-07-15T08:56:57.7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57" autoAdjust="0"/>
  </p:normalViewPr>
  <p:slideViewPr>
    <p:cSldViewPr snapToGrid="0">
      <p:cViewPr varScale="1">
        <p:scale>
          <a:sx n="56" d="100"/>
          <a:sy n="56" d="100"/>
        </p:scale>
        <p:origin x="1000" y="2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2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5.fntdata"/><Relationship Id="rId68" Type="http://schemas.openxmlformats.org/officeDocument/2006/relationships/font" Target="fonts/font10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66" Type="http://schemas.openxmlformats.org/officeDocument/2006/relationships/font" Target="fonts/font8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6.fntdata"/><Relationship Id="rId69" Type="http://schemas.openxmlformats.org/officeDocument/2006/relationships/font" Target="fonts/font11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.fntdata"/><Relationship Id="rId67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4.fntdata"/><Relationship Id="rId70" Type="http://schemas.openxmlformats.org/officeDocument/2006/relationships/font" Target="fonts/font12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2.fntdata"/><Relationship Id="rId65" Type="http://schemas.openxmlformats.org/officeDocument/2006/relationships/font" Target="fonts/font7.fntdata"/><Relationship Id="rId73" Type="http://schemas.openxmlformats.org/officeDocument/2006/relationships/font" Target="fonts/font15.fntdata"/><Relationship Id="rId78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1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3;n"/>
          <p:cNvSpPr txBox="1">
            <a:spLocks noGrp="1"/>
          </p:cNvSpPr>
          <p:nvPr>
            <p:ph type="hdr" idx="2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2051" name="Google Shape;4;n"/>
          <p:cNvSpPr txBox="1">
            <a:spLocks noGrp="1"/>
          </p:cNvSpPr>
          <p:nvPr>
            <p:ph type="dt" idx="10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2052" name="Google Shape;5;n"/>
          <p:cNvSpPr>
            <a:spLocks noGrp="1" noRot="1" noChangeAspect="1"/>
          </p:cNvSpPr>
          <p:nvPr>
            <p:ph type="sldImg" idx="3"/>
          </p:nvPr>
        </p:nvSpPr>
        <p:spPr bwMode="auto">
          <a:xfrm>
            <a:off x="685800" y="1143000"/>
            <a:ext cx="5486400" cy="30861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041115087 h 120000"/>
              <a:gd name="T6" fmla="*/ 0 w 120000"/>
              <a:gd name="T7" fmla="*/ 2041115087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Google Shape;6;n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 lvl="0"/>
            <a:endParaRPr lang="fr-FR" altLang="fr-FR">
              <a:sym typeface="Arial" panose="020B0604020202020204" pitchFamily="34" charset="0"/>
            </a:endParaRPr>
          </a:p>
        </p:txBody>
      </p:sp>
      <p:sp>
        <p:nvSpPr>
          <p:cNvPr id="2054" name="Google Shape;7;n"/>
          <p:cNvSpPr txBox="1">
            <a:spLocks noGrp="1"/>
          </p:cNvSpPr>
          <p:nvPr>
            <p:ph type="ftr" idx="11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b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2055" name="Google Shape;8;n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>
              <a:defRPr/>
            </a:pPr>
            <a:fld id="{D5601F68-DC3F-4A09-B017-7A5B99B0DD0B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1pPr>
    <a:lvl2pPr marL="914400" lvl="1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2pPr>
    <a:lvl3pPr marL="1371600" lvl="2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3pPr>
    <a:lvl4pPr marL="1828800" lvl="3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4pPr>
    <a:lvl5pPr marL="2286000" lvl="4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Google Shape;2131;p41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4099" name="Google Shape;2132;p41:notes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fr-FR" altLang="fr-FR" sz="12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100" name="Google Shape;2133;p41:notes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1C990A83-31BF-4972-B27D-CA3DFA148D2D}" type="slidenum">
              <a:rPr lang="fr-FR" altLang="fr-FR" smtClean="0"/>
              <a:pPr/>
              <a:t>1</a:t>
            </a:fld>
            <a:endParaRPr lang="fr-FR" altLang="fr-FR"/>
          </a:p>
        </p:txBody>
      </p:sp>
      <p:sp>
        <p:nvSpPr>
          <p:cNvPr id="4101" name="Google Shape;2134;p41:notes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fr-FR" altLang="fr-FR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Projet de Génie Logiciel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Google Shape;112;p2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6147" name="Google Shape;113;p2:notes"/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148" name="Google Shape;114;p2:notes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E345997D-22AC-4E15-8D25-7AC3FD8412B3}" type="slidenum">
              <a:rPr lang="fr-FR" altLang="fr-FR" smtClean="0"/>
              <a:pPr/>
              <a:t>2</a:t>
            </a:fld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8539A23-C387-8021-AB13-9CE606CF3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Google Shape;168;p3:notes">
            <a:extLst>
              <a:ext uri="{FF2B5EF4-FFF2-40B4-BE49-F238E27FC236}">
                <a16:creationId xmlns:a16="http://schemas.microsoft.com/office/drawing/2014/main" id="{394A993D-AAFA-ED41-333D-F59381B148E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8195" name="Google Shape;169;p3:notes">
            <a:extLst>
              <a:ext uri="{FF2B5EF4-FFF2-40B4-BE49-F238E27FC236}">
                <a16:creationId xmlns:a16="http://schemas.microsoft.com/office/drawing/2014/main" id="{FE4D614F-277B-FFC2-F52D-9E5601AFF6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196" name="Google Shape;170;p3:notes">
            <a:extLst>
              <a:ext uri="{FF2B5EF4-FFF2-40B4-BE49-F238E27FC236}">
                <a16:creationId xmlns:a16="http://schemas.microsoft.com/office/drawing/2014/main" id="{B871E5FC-D025-50BD-69DE-A7B714FD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76BEFC2A-7173-40BC-A9D5-18792A972A69}" type="slidenum">
              <a:rPr lang="fr-FR" altLang="fr-FR" smtClean="0"/>
              <a:pPr/>
              <a:t>3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24292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F0EE747-E3A6-6417-5A4E-80419B893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979;p8:notes">
            <a:extLst>
              <a:ext uri="{FF2B5EF4-FFF2-40B4-BE49-F238E27FC236}">
                <a16:creationId xmlns:a16="http://schemas.microsoft.com/office/drawing/2014/main" id="{C003E701-F2C2-1E5F-CE64-1703F6AB395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435" name="Google Shape;980;p8:notes">
            <a:extLst>
              <a:ext uri="{FF2B5EF4-FFF2-40B4-BE49-F238E27FC236}">
                <a16:creationId xmlns:a16="http://schemas.microsoft.com/office/drawing/2014/main" id="{35460E14-8CC0-A224-C6B8-E22617ED94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6" name="Google Shape;981;p8:notes">
            <a:extLst>
              <a:ext uri="{FF2B5EF4-FFF2-40B4-BE49-F238E27FC236}">
                <a16:creationId xmlns:a16="http://schemas.microsoft.com/office/drawing/2014/main" id="{C43E9B1A-88E6-AB80-6AA5-AA3C517D8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BC7613B-45AA-45A1-9F83-E25C9CD1E880}" type="slidenum">
              <a:rPr lang="fr-FR" altLang="fr-FR" smtClean="0"/>
              <a:pPr/>
              <a:t>4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92914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3BD07AF-BA49-7C8A-C8AA-AF9D58070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979;p8:notes">
            <a:extLst>
              <a:ext uri="{FF2B5EF4-FFF2-40B4-BE49-F238E27FC236}">
                <a16:creationId xmlns:a16="http://schemas.microsoft.com/office/drawing/2014/main" id="{0B210C40-A03E-C3E6-8448-621F2941F6A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435" name="Google Shape;980;p8:notes">
            <a:extLst>
              <a:ext uri="{FF2B5EF4-FFF2-40B4-BE49-F238E27FC236}">
                <a16:creationId xmlns:a16="http://schemas.microsoft.com/office/drawing/2014/main" id="{8AA254A3-6C93-79A5-0611-394EF59F3F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6" name="Google Shape;981;p8:notes">
            <a:extLst>
              <a:ext uri="{FF2B5EF4-FFF2-40B4-BE49-F238E27FC236}">
                <a16:creationId xmlns:a16="http://schemas.microsoft.com/office/drawing/2014/main" id="{6B3F888E-3321-648F-1138-A6BBCCBCA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BC7613B-45AA-45A1-9F83-E25C9CD1E880}" type="slidenum">
              <a:rPr lang="fr-FR" altLang="fr-FR" smtClean="0"/>
              <a:pPr/>
              <a:t>5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778596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E45FCDB-E1F7-FA6E-747D-0E325E257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979;p8:notes">
            <a:extLst>
              <a:ext uri="{FF2B5EF4-FFF2-40B4-BE49-F238E27FC236}">
                <a16:creationId xmlns:a16="http://schemas.microsoft.com/office/drawing/2014/main" id="{AB8E2289-9618-DD3B-D3E5-5E1DC8A9212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435" name="Google Shape;980;p8:notes">
            <a:extLst>
              <a:ext uri="{FF2B5EF4-FFF2-40B4-BE49-F238E27FC236}">
                <a16:creationId xmlns:a16="http://schemas.microsoft.com/office/drawing/2014/main" id="{5FDD5B07-59A5-805A-5527-F3C47C544A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6" name="Google Shape;981;p8:notes">
            <a:extLst>
              <a:ext uri="{FF2B5EF4-FFF2-40B4-BE49-F238E27FC236}">
                <a16:creationId xmlns:a16="http://schemas.microsoft.com/office/drawing/2014/main" id="{0DDF0CAB-832A-FB3D-F741-C24115BBB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BC7613B-45AA-45A1-9F83-E25C9CD1E880}" type="slidenum">
              <a:rPr lang="fr-FR" altLang="fr-FR" smtClean="0"/>
              <a:pPr/>
              <a:t>6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460602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B49EA9E-536F-B1D3-BCED-ED3668C33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979;p8:notes">
            <a:extLst>
              <a:ext uri="{FF2B5EF4-FFF2-40B4-BE49-F238E27FC236}">
                <a16:creationId xmlns:a16="http://schemas.microsoft.com/office/drawing/2014/main" id="{32B15567-5342-FFBF-F572-BDBC89FA247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435" name="Google Shape;980;p8:notes">
            <a:extLst>
              <a:ext uri="{FF2B5EF4-FFF2-40B4-BE49-F238E27FC236}">
                <a16:creationId xmlns:a16="http://schemas.microsoft.com/office/drawing/2014/main" id="{9361C965-A85F-385C-10CA-79E4FFE5B1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6" name="Google Shape;981;p8:notes">
            <a:extLst>
              <a:ext uri="{FF2B5EF4-FFF2-40B4-BE49-F238E27FC236}">
                <a16:creationId xmlns:a16="http://schemas.microsoft.com/office/drawing/2014/main" id="{6BACEBA8-A81B-7E69-8523-4CF14501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BC7613B-45AA-45A1-9F83-E25C9CD1E880}" type="slidenum">
              <a:rPr lang="fr-FR" altLang="fr-FR" smtClean="0"/>
              <a:pPr/>
              <a:t>7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45523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AE23F06-D698-CEE1-66A2-E59E7CC45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979;p8:notes">
            <a:extLst>
              <a:ext uri="{FF2B5EF4-FFF2-40B4-BE49-F238E27FC236}">
                <a16:creationId xmlns:a16="http://schemas.microsoft.com/office/drawing/2014/main" id="{D7315BE4-4B7C-F2FB-AF86-CFE06CB7AEC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435" name="Google Shape;980;p8:notes">
            <a:extLst>
              <a:ext uri="{FF2B5EF4-FFF2-40B4-BE49-F238E27FC236}">
                <a16:creationId xmlns:a16="http://schemas.microsoft.com/office/drawing/2014/main" id="{B2FC6261-ACDC-227C-49B7-82E81CAA13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6" name="Google Shape;981;p8:notes">
            <a:extLst>
              <a:ext uri="{FF2B5EF4-FFF2-40B4-BE49-F238E27FC236}">
                <a16:creationId xmlns:a16="http://schemas.microsoft.com/office/drawing/2014/main" id="{B65E9437-BF7C-50F5-2B5E-F780D38F5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BC7613B-45AA-45A1-9F83-E25C9CD1E880}" type="slidenum">
              <a:rPr lang="fr-FR" altLang="fr-FR" smtClean="0"/>
              <a:pPr/>
              <a:t>8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230121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C5C441E-283D-9028-5183-BEA09A90C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979;p8:notes">
            <a:extLst>
              <a:ext uri="{FF2B5EF4-FFF2-40B4-BE49-F238E27FC236}">
                <a16:creationId xmlns:a16="http://schemas.microsoft.com/office/drawing/2014/main" id="{FEDABF4A-A673-1182-993B-FB33B095632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435" name="Google Shape;980;p8:notes">
            <a:extLst>
              <a:ext uri="{FF2B5EF4-FFF2-40B4-BE49-F238E27FC236}">
                <a16:creationId xmlns:a16="http://schemas.microsoft.com/office/drawing/2014/main" id="{E5D8CF6F-E9CE-CBE1-961B-A5B5BA2A15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6" name="Google Shape;981;p8:notes">
            <a:extLst>
              <a:ext uri="{FF2B5EF4-FFF2-40B4-BE49-F238E27FC236}">
                <a16:creationId xmlns:a16="http://schemas.microsoft.com/office/drawing/2014/main" id="{1B23E702-FF5F-CBDA-B143-6B6E26544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BC7613B-45AA-45A1-9F83-E25C9CD1E880}" type="slidenum">
              <a:rPr lang="fr-FR" altLang="fr-FR" smtClean="0"/>
              <a:pPr/>
              <a:t>9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85424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B852D76-13EB-9216-C221-795A676F0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979;p8:notes">
            <a:extLst>
              <a:ext uri="{FF2B5EF4-FFF2-40B4-BE49-F238E27FC236}">
                <a16:creationId xmlns:a16="http://schemas.microsoft.com/office/drawing/2014/main" id="{2461E46A-2436-1675-48CF-D9115DC2AC8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435" name="Google Shape;980;p8:notes">
            <a:extLst>
              <a:ext uri="{FF2B5EF4-FFF2-40B4-BE49-F238E27FC236}">
                <a16:creationId xmlns:a16="http://schemas.microsoft.com/office/drawing/2014/main" id="{FCB781B1-5299-7D10-4C70-F588B9EFC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6" name="Google Shape;981;p8:notes">
            <a:extLst>
              <a:ext uri="{FF2B5EF4-FFF2-40B4-BE49-F238E27FC236}">
                <a16:creationId xmlns:a16="http://schemas.microsoft.com/office/drawing/2014/main" id="{8D1A7145-6CCE-F791-450F-A7A52037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BC7613B-45AA-45A1-9F83-E25C9CD1E880}" type="slidenum">
              <a:rPr lang="fr-FR" altLang="fr-FR" smtClean="0"/>
              <a:pPr/>
              <a:t>10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71527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89BE921-26C7-539B-7650-C5FE5907A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979;p8:notes">
            <a:extLst>
              <a:ext uri="{FF2B5EF4-FFF2-40B4-BE49-F238E27FC236}">
                <a16:creationId xmlns:a16="http://schemas.microsoft.com/office/drawing/2014/main" id="{9176C1F5-604D-4857-69A5-1F66BBF7F82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435" name="Google Shape;980;p8:notes">
            <a:extLst>
              <a:ext uri="{FF2B5EF4-FFF2-40B4-BE49-F238E27FC236}">
                <a16:creationId xmlns:a16="http://schemas.microsoft.com/office/drawing/2014/main" id="{3ED42266-AFB5-C34B-F1FA-88A09710A7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6" name="Google Shape;981;p8:notes">
            <a:extLst>
              <a:ext uri="{FF2B5EF4-FFF2-40B4-BE49-F238E27FC236}">
                <a16:creationId xmlns:a16="http://schemas.microsoft.com/office/drawing/2014/main" id="{70CDE424-B2CE-87F4-F51C-F50FCB59B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BC7613B-45AA-45A1-9F83-E25C9CD1E880}" type="slidenum">
              <a:rPr lang="fr-FR" altLang="fr-FR" smtClean="0"/>
              <a:pPr/>
              <a:t>11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417129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855C681-9061-B9C2-E265-9782D2D46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979;p8:notes">
            <a:extLst>
              <a:ext uri="{FF2B5EF4-FFF2-40B4-BE49-F238E27FC236}">
                <a16:creationId xmlns:a16="http://schemas.microsoft.com/office/drawing/2014/main" id="{C258756D-7457-91AF-71C1-3913AB302CE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435" name="Google Shape;980;p8:notes">
            <a:extLst>
              <a:ext uri="{FF2B5EF4-FFF2-40B4-BE49-F238E27FC236}">
                <a16:creationId xmlns:a16="http://schemas.microsoft.com/office/drawing/2014/main" id="{0157F745-CF83-9CBB-CDE2-E54B159388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6" name="Google Shape;981;p8:notes">
            <a:extLst>
              <a:ext uri="{FF2B5EF4-FFF2-40B4-BE49-F238E27FC236}">
                <a16:creationId xmlns:a16="http://schemas.microsoft.com/office/drawing/2014/main" id="{5EDF2730-A611-C55F-D21D-EA1E9F979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BC7613B-45AA-45A1-9F83-E25C9CD1E880}" type="slidenum">
              <a:rPr lang="fr-FR" altLang="fr-FR" smtClean="0"/>
              <a:pPr/>
              <a:t>12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16066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84F44F1-BC13-9B98-2737-9F2C13520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979;p8:notes">
            <a:extLst>
              <a:ext uri="{FF2B5EF4-FFF2-40B4-BE49-F238E27FC236}">
                <a16:creationId xmlns:a16="http://schemas.microsoft.com/office/drawing/2014/main" id="{6C3F166C-A0A3-9F4D-2201-05F1EA863AA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435" name="Google Shape;980;p8:notes">
            <a:extLst>
              <a:ext uri="{FF2B5EF4-FFF2-40B4-BE49-F238E27FC236}">
                <a16:creationId xmlns:a16="http://schemas.microsoft.com/office/drawing/2014/main" id="{013FE18B-A7BB-98F8-CC39-F893FB006B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6" name="Google Shape;981;p8:notes">
            <a:extLst>
              <a:ext uri="{FF2B5EF4-FFF2-40B4-BE49-F238E27FC236}">
                <a16:creationId xmlns:a16="http://schemas.microsoft.com/office/drawing/2014/main" id="{6E88CA30-A507-FB18-82B1-3C854905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BC7613B-45AA-45A1-9F83-E25C9CD1E880}" type="slidenum">
              <a:rPr lang="fr-FR" altLang="fr-FR" smtClean="0"/>
              <a:pPr/>
              <a:t>13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445107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0E78B2C-5F49-E084-8FA8-9E85526F2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979;p8:notes">
            <a:extLst>
              <a:ext uri="{FF2B5EF4-FFF2-40B4-BE49-F238E27FC236}">
                <a16:creationId xmlns:a16="http://schemas.microsoft.com/office/drawing/2014/main" id="{0FE02C43-DA9C-4353-C33C-17164779FCD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435" name="Google Shape;980;p8:notes">
            <a:extLst>
              <a:ext uri="{FF2B5EF4-FFF2-40B4-BE49-F238E27FC236}">
                <a16:creationId xmlns:a16="http://schemas.microsoft.com/office/drawing/2014/main" id="{33BD0603-55A0-3A70-09E8-157354E080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6" name="Google Shape;981;p8:notes">
            <a:extLst>
              <a:ext uri="{FF2B5EF4-FFF2-40B4-BE49-F238E27FC236}">
                <a16:creationId xmlns:a16="http://schemas.microsoft.com/office/drawing/2014/main" id="{D8181D96-E75B-556D-D247-DABE262F0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BC7613B-45AA-45A1-9F83-E25C9CD1E880}" type="slidenum">
              <a:rPr lang="fr-FR" altLang="fr-FR" smtClean="0"/>
              <a:pPr/>
              <a:t>14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191688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9750F0E-A424-4A85-C274-58608FD53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979;p8:notes">
            <a:extLst>
              <a:ext uri="{FF2B5EF4-FFF2-40B4-BE49-F238E27FC236}">
                <a16:creationId xmlns:a16="http://schemas.microsoft.com/office/drawing/2014/main" id="{A0F9125D-6180-DEBE-8566-A8D85385998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435" name="Google Shape;980;p8:notes">
            <a:extLst>
              <a:ext uri="{FF2B5EF4-FFF2-40B4-BE49-F238E27FC236}">
                <a16:creationId xmlns:a16="http://schemas.microsoft.com/office/drawing/2014/main" id="{EEA752D6-ADDC-642F-29BD-5E0D6EEF9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6" name="Google Shape;981;p8:notes">
            <a:extLst>
              <a:ext uri="{FF2B5EF4-FFF2-40B4-BE49-F238E27FC236}">
                <a16:creationId xmlns:a16="http://schemas.microsoft.com/office/drawing/2014/main" id="{AC6B9C5F-D479-5FBA-6962-40B969539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BC7613B-45AA-45A1-9F83-E25C9CD1E880}" type="slidenum">
              <a:rPr lang="fr-FR" altLang="fr-FR" smtClean="0"/>
              <a:pPr/>
              <a:t>15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758125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E5BB3A5-0D68-A2F8-4139-C2152EF2C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979;p8:notes">
            <a:extLst>
              <a:ext uri="{FF2B5EF4-FFF2-40B4-BE49-F238E27FC236}">
                <a16:creationId xmlns:a16="http://schemas.microsoft.com/office/drawing/2014/main" id="{7A3F2940-4ABD-FE61-BB13-2E5A9DD058C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435" name="Google Shape;980;p8:notes">
            <a:extLst>
              <a:ext uri="{FF2B5EF4-FFF2-40B4-BE49-F238E27FC236}">
                <a16:creationId xmlns:a16="http://schemas.microsoft.com/office/drawing/2014/main" id="{BCC339FE-7B8F-8E1B-DC6D-878A463CEC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6" name="Google Shape;981;p8:notes">
            <a:extLst>
              <a:ext uri="{FF2B5EF4-FFF2-40B4-BE49-F238E27FC236}">
                <a16:creationId xmlns:a16="http://schemas.microsoft.com/office/drawing/2014/main" id="{7982898A-B921-B035-BB21-5A3452FF3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BC7613B-45AA-45A1-9F83-E25C9CD1E880}" type="slidenum">
              <a:rPr lang="fr-FR" altLang="fr-FR" smtClean="0"/>
              <a:pPr/>
              <a:t>16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2314725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84CA01A-77AB-E1BD-516A-0A3C216F5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979;p8:notes">
            <a:extLst>
              <a:ext uri="{FF2B5EF4-FFF2-40B4-BE49-F238E27FC236}">
                <a16:creationId xmlns:a16="http://schemas.microsoft.com/office/drawing/2014/main" id="{69354BF1-3C34-D71B-1F0B-4B3B1ADC6B6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435" name="Google Shape;980;p8:notes">
            <a:extLst>
              <a:ext uri="{FF2B5EF4-FFF2-40B4-BE49-F238E27FC236}">
                <a16:creationId xmlns:a16="http://schemas.microsoft.com/office/drawing/2014/main" id="{7D5C29F0-4AD9-7F50-96F4-B1F8F4E4C6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r>
              <a:rPr lang="fr-FR" sz="1200" dirty="0"/>
              <a:t>Une transaction est un </a:t>
            </a:r>
            <a:r>
              <a:rPr lang="fr-FR" sz="1200" b="1" dirty="0"/>
              <a:t>code</a:t>
            </a:r>
            <a:r>
              <a:rPr lang="fr-FR" sz="1200" dirty="0"/>
              <a:t> que l'utilisateur utilise dans SAP pour accéder directement à un écran, un programme ou une fonctionnalité.</a:t>
            </a: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6" name="Google Shape;981;p8:notes">
            <a:extLst>
              <a:ext uri="{FF2B5EF4-FFF2-40B4-BE49-F238E27FC236}">
                <a16:creationId xmlns:a16="http://schemas.microsoft.com/office/drawing/2014/main" id="{2B634681-2C7A-D485-2963-D0CFD2D6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BC7613B-45AA-45A1-9F83-E25C9CD1E880}" type="slidenum">
              <a:rPr lang="fr-FR" altLang="fr-FR" smtClean="0"/>
              <a:pPr/>
              <a:t>17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110589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5C2435C-03F5-3AD7-60D0-78C6551DD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979;p8:notes">
            <a:extLst>
              <a:ext uri="{FF2B5EF4-FFF2-40B4-BE49-F238E27FC236}">
                <a16:creationId xmlns:a16="http://schemas.microsoft.com/office/drawing/2014/main" id="{D72CAAA3-310E-4411-8288-0B4A579C71A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435" name="Google Shape;980;p8:notes">
            <a:extLst>
              <a:ext uri="{FF2B5EF4-FFF2-40B4-BE49-F238E27FC236}">
                <a16:creationId xmlns:a16="http://schemas.microsoft.com/office/drawing/2014/main" id="{F8AF7EA3-DE41-5621-DF08-D59E6E3BDC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6" name="Google Shape;981;p8:notes">
            <a:extLst>
              <a:ext uri="{FF2B5EF4-FFF2-40B4-BE49-F238E27FC236}">
                <a16:creationId xmlns:a16="http://schemas.microsoft.com/office/drawing/2014/main" id="{49FB2A53-86A8-CC52-A88A-A52D39CD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BC7613B-45AA-45A1-9F83-E25C9CD1E880}" type="slidenum">
              <a:rPr lang="fr-FR" altLang="fr-FR" smtClean="0"/>
              <a:pPr/>
              <a:t>18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1985168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79B36D7-109B-BCBE-61D8-409DA1AD7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979;p8:notes">
            <a:extLst>
              <a:ext uri="{FF2B5EF4-FFF2-40B4-BE49-F238E27FC236}">
                <a16:creationId xmlns:a16="http://schemas.microsoft.com/office/drawing/2014/main" id="{EF6C0CE8-8F8D-BC6A-2BE0-3BF05AEA321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435" name="Google Shape;980;p8:notes">
            <a:extLst>
              <a:ext uri="{FF2B5EF4-FFF2-40B4-BE49-F238E27FC236}">
                <a16:creationId xmlns:a16="http://schemas.microsoft.com/office/drawing/2014/main" id="{147BD292-6FB1-C06B-74BA-175A35BE55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6" name="Google Shape;981;p8:notes">
            <a:extLst>
              <a:ext uri="{FF2B5EF4-FFF2-40B4-BE49-F238E27FC236}">
                <a16:creationId xmlns:a16="http://schemas.microsoft.com/office/drawing/2014/main" id="{86135270-F232-EFB5-B989-B0A2CB99C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BC7613B-45AA-45A1-9F83-E25C9CD1E880}" type="slidenum">
              <a:rPr lang="fr-FR" altLang="fr-FR" smtClean="0"/>
              <a:pPr/>
              <a:t>19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689478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DD9B430-EDFE-5C70-C3BD-A35E066F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979;p8:notes">
            <a:extLst>
              <a:ext uri="{FF2B5EF4-FFF2-40B4-BE49-F238E27FC236}">
                <a16:creationId xmlns:a16="http://schemas.microsoft.com/office/drawing/2014/main" id="{53A79CD4-3AE8-300C-3434-31A51E83503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435" name="Google Shape;980;p8:notes">
            <a:extLst>
              <a:ext uri="{FF2B5EF4-FFF2-40B4-BE49-F238E27FC236}">
                <a16:creationId xmlns:a16="http://schemas.microsoft.com/office/drawing/2014/main" id="{1ECFA055-D55D-20D4-6D02-228D0AE6B4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6" name="Google Shape;981;p8:notes">
            <a:extLst>
              <a:ext uri="{FF2B5EF4-FFF2-40B4-BE49-F238E27FC236}">
                <a16:creationId xmlns:a16="http://schemas.microsoft.com/office/drawing/2014/main" id="{9FF1A9FB-DB9B-DC72-A3C3-466AB7062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BC7613B-45AA-45A1-9F83-E25C9CD1E880}" type="slidenum">
              <a:rPr lang="fr-FR" altLang="fr-FR" smtClean="0"/>
              <a:pPr/>
              <a:t>20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377615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B1D900A-1B00-FCB5-8EA2-08BE2AC34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979;p8:notes">
            <a:extLst>
              <a:ext uri="{FF2B5EF4-FFF2-40B4-BE49-F238E27FC236}">
                <a16:creationId xmlns:a16="http://schemas.microsoft.com/office/drawing/2014/main" id="{836B9D62-A0D3-E087-E5C0-28B83CAC68B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435" name="Google Shape;980;p8:notes">
            <a:extLst>
              <a:ext uri="{FF2B5EF4-FFF2-40B4-BE49-F238E27FC236}">
                <a16:creationId xmlns:a16="http://schemas.microsoft.com/office/drawing/2014/main" id="{7CA94BE0-5879-79AD-2560-A7E0500B40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6" name="Google Shape;981;p8:notes">
            <a:extLst>
              <a:ext uri="{FF2B5EF4-FFF2-40B4-BE49-F238E27FC236}">
                <a16:creationId xmlns:a16="http://schemas.microsoft.com/office/drawing/2014/main" id="{B376F618-70C8-9B37-8B5C-C615659E4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BC7613B-45AA-45A1-9F83-E25C9CD1E880}" type="slidenum">
              <a:rPr lang="fr-FR" altLang="fr-FR" smtClean="0"/>
              <a:pPr/>
              <a:t>21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4731158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A95ABC4-2C42-4920-B9E8-F1510AD7B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979;p8:notes">
            <a:extLst>
              <a:ext uri="{FF2B5EF4-FFF2-40B4-BE49-F238E27FC236}">
                <a16:creationId xmlns:a16="http://schemas.microsoft.com/office/drawing/2014/main" id="{13E1087E-6425-B2D9-7149-9318589EB19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8435" name="Google Shape;980;p8:notes">
            <a:extLst>
              <a:ext uri="{FF2B5EF4-FFF2-40B4-BE49-F238E27FC236}">
                <a16:creationId xmlns:a16="http://schemas.microsoft.com/office/drawing/2014/main" id="{0E262E87-6131-54E8-15CF-1B43C384BE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436" name="Google Shape;981;p8:notes">
            <a:extLst>
              <a:ext uri="{FF2B5EF4-FFF2-40B4-BE49-F238E27FC236}">
                <a16:creationId xmlns:a16="http://schemas.microsoft.com/office/drawing/2014/main" id="{B88A68A9-963C-330B-386E-FC8A57B74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BC7613B-45AA-45A1-9F83-E25C9CD1E880}" type="slidenum">
              <a:rPr lang="fr-FR" altLang="fr-FR" smtClean="0"/>
              <a:pPr/>
              <a:t>22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75609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Google Shape;1269;p15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24579" name="Google Shape;1270;p15:notes"/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580" name="Google Shape;1271;p15:notes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B9B6A4D8-7558-43E6-9F6D-419DD43C7159}" type="slidenum">
              <a:rPr lang="fr-FR" altLang="fr-FR" smtClean="0"/>
              <a:pPr/>
              <a:t>23</a:t>
            </a:fld>
            <a:endParaRPr lang="fr-FR" altLang="fr-F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EF861E5-6D11-03A7-1D16-B966A6608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Google Shape;1269;p15:notes">
            <a:extLst>
              <a:ext uri="{FF2B5EF4-FFF2-40B4-BE49-F238E27FC236}">
                <a16:creationId xmlns:a16="http://schemas.microsoft.com/office/drawing/2014/main" id="{6C9411C5-49D2-3B2B-7C4C-187E338DA43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24579" name="Google Shape;1270;p15:notes">
            <a:extLst>
              <a:ext uri="{FF2B5EF4-FFF2-40B4-BE49-F238E27FC236}">
                <a16:creationId xmlns:a16="http://schemas.microsoft.com/office/drawing/2014/main" id="{EA1C008B-BD76-BCF6-CB64-50905AA65C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endParaRPr lang="fr-FR" altLang="fr-FR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580" name="Google Shape;1271;p15:notes">
            <a:extLst>
              <a:ext uri="{FF2B5EF4-FFF2-40B4-BE49-F238E27FC236}">
                <a16:creationId xmlns:a16="http://schemas.microsoft.com/office/drawing/2014/main" id="{AB45FA00-DD71-A035-2D47-213D35F6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B9B6A4D8-7558-43E6-9F6D-419DD43C7159}" type="slidenum">
              <a:rPr lang="fr-FR" altLang="fr-FR" smtClean="0"/>
              <a:pPr/>
              <a:t>24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438466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/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r>
              <a:rPr lang="fr-FR" sz="1200" b="1" dirty="0" err="1"/>
              <a:t>OData</a:t>
            </a:r>
            <a:r>
              <a:rPr lang="fr-FR" sz="1200" b="1" dirty="0"/>
              <a:t> (Open Data Protocol)</a:t>
            </a:r>
            <a:r>
              <a:rPr lang="fr-FR" sz="1200" dirty="0"/>
              <a:t> est un protocole standard qui permet à une application d'échanger des données avec SAP via des services web REST.</a:t>
            </a:r>
            <a:br>
              <a:rPr lang="fr-FR" altLang="fr-FR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</a:b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25</a:t>
            </a:fld>
            <a:endParaRPr lang="fr-FR" altLang="fr-F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5559544-7F34-9336-8B8F-18DBC925F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7165ACD3-EA06-A47F-E4B4-58B981F3F14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E1826966-DE0F-A641-1E26-B9CF0A0ADB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r>
              <a:rPr lang="fr-FR" sz="1200" b="1" dirty="0" err="1"/>
              <a:t>OData</a:t>
            </a:r>
            <a:r>
              <a:rPr lang="fr-FR" sz="1200" b="1" dirty="0"/>
              <a:t> (Open Data Protocol)</a:t>
            </a:r>
            <a:r>
              <a:rPr lang="fr-FR" sz="1200" dirty="0"/>
              <a:t> est un protocole standard qui permet à une application d'échanger des données avec SAP via des services web REST.</a:t>
            </a:r>
            <a:br>
              <a:rPr lang="fr-FR" altLang="fr-FR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</a:b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DD1C55FC-6487-016C-ED96-8850DD56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26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1103753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A79CFA0-7399-8687-EFF2-6FCD747F9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ADCE227B-832D-022D-FD14-5E8686C87FB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6038B99D-2FEB-547D-13B0-B122752203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r>
              <a:rPr lang="fr-FR" sz="1200" b="1" dirty="0" err="1"/>
              <a:t>OData</a:t>
            </a:r>
            <a:r>
              <a:rPr lang="fr-FR" sz="1200" b="1" dirty="0"/>
              <a:t> (Open Data Protocol)</a:t>
            </a:r>
            <a:r>
              <a:rPr lang="fr-FR" sz="1200" dirty="0"/>
              <a:t> est un protocole standard qui permet à une application d'échanger des données avec SAP via des services web REST.</a:t>
            </a:r>
            <a:br>
              <a:rPr lang="fr-FR" altLang="fr-FR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</a:b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38638AEB-A701-84DB-5CDB-2E8898884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27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5593769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43FC7F0-BB59-28EC-3CF1-D5E387CC2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FA059ABD-D3FD-B817-22C0-37C946B901F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03AA5933-4249-09D4-57EA-7F622D98D3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r>
              <a:rPr lang="fr-FR" sz="1200" b="1" dirty="0" err="1"/>
              <a:t>OData</a:t>
            </a:r>
            <a:r>
              <a:rPr lang="fr-FR" sz="1200" b="1" dirty="0"/>
              <a:t> (Open Data Protocol)</a:t>
            </a:r>
            <a:r>
              <a:rPr lang="fr-FR" sz="1200" dirty="0"/>
              <a:t> est un protocole standard qui permet à une application d'échanger des données avec SAP via des services web REST.</a:t>
            </a:r>
            <a:br>
              <a:rPr lang="fr-FR" altLang="fr-FR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</a:b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C87159C0-7519-38EC-32B5-2352731E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28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581130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2296CA5-13C6-ECE0-A6C3-2658A5668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92B8B73C-EA8B-62E7-6C16-DD8C7B7EFFE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CCD3BE61-BB20-17A6-B556-4B4DDA45EC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r>
              <a:rPr lang="fr-FR" sz="1200" b="1" dirty="0" err="1"/>
              <a:t>OData</a:t>
            </a:r>
            <a:r>
              <a:rPr lang="fr-FR" sz="1200" b="1" dirty="0"/>
              <a:t> (Open Data Protocol)</a:t>
            </a:r>
            <a:r>
              <a:rPr lang="fr-FR" sz="1200" dirty="0"/>
              <a:t> est un protocole standard qui permet à une application d'échanger des données avec SAP via des services web REST.</a:t>
            </a:r>
            <a:br>
              <a:rPr lang="fr-FR" altLang="fr-FR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</a:b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E438A82C-53A3-DC74-2355-43922065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29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106796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DFE93EF-B8A4-07FE-0CD6-0D2F37335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BB710F95-73BB-6A12-1A99-22B24305B01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71CFD640-CD09-CA90-51E8-9BB24C48B4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r>
              <a:rPr lang="fr-FR" sz="1200" b="1" dirty="0" err="1"/>
              <a:t>OData</a:t>
            </a:r>
            <a:r>
              <a:rPr lang="fr-FR" sz="1200" b="1" dirty="0"/>
              <a:t> (Open Data Protocol)</a:t>
            </a:r>
            <a:r>
              <a:rPr lang="fr-FR" sz="1200" dirty="0"/>
              <a:t> est un protocole standard qui permet à une application d'échanger des données avec SAP via des services web REST.</a:t>
            </a:r>
            <a:br>
              <a:rPr lang="fr-FR" altLang="fr-FR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</a:b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FC5D40A6-758E-1CAD-6092-EBBAAA7FF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30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872010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F1CC431-6CCA-40CB-6162-319124768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F807754F-BA9E-D75C-763F-97EE4AFF781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39E8E978-0823-79D1-A1D5-C4673371C4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r>
              <a:rPr lang="fr-FR" sz="1200" b="1" dirty="0" err="1"/>
              <a:t>OData</a:t>
            </a:r>
            <a:r>
              <a:rPr lang="fr-FR" sz="1200" b="1" dirty="0"/>
              <a:t> (Open Data Protocol)</a:t>
            </a:r>
            <a:r>
              <a:rPr lang="fr-FR" sz="1200" dirty="0"/>
              <a:t> est un protocole standard qui permet à une application d'échanger des données avec SAP via des services web REST.</a:t>
            </a:r>
            <a:br>
              <a:rPr lang="fr-FR" altLang="fr-FR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</a:b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DA049800-FDB7-CA0E-9379-89951E7FD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31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316950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39F225D-131E-7607-73AC-16C54F36B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AAAFCAE0-682D-1A7E-1783-2952A4124D8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52BA3585-F094-3D57-051C-3C3DBF8198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r>
              <a:rPr lang="fr-FR" sz="1200" b="1" dirty="0" err="1"/>
              <a:t>OData</a:t>
            </a:r>
            <a:r>
              <a:rPr lang="fr-FR" sz="1200" b="1" dirty="0"/>
              <a:t> (Open Data Protocol)</a:t>
            </a:r>
            <a:r>
              <a:rPr lang="fr-FR" sz="1200" dirty="0"/>
              <a:t> est un protocole standard qui permet à une application d'échanger des données avec SAP via des services web REST.</a:t>
            </a:r>
            <a:br>
              <a:rPr lang="fr-FR" altLang="fr-FR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</a:b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CB8AF1A9-FFEF-1B7C-26BB-2B245ED44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32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665562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42ECB13-CE34-ECBD-2E0C-1B9D96F7B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72079C2C-659B-A82F-F72E-8C8C81B3416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0CAB78DA-AEBF-82F0-5127-3B1FD121E3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r>
              <a:rPr lang="fr-FR" sz="1200" b="1" dirty="0" err="1"/>
              <a:t>OData</a:t>
            </a:r>
            <a:r>
              <a:rPr lang="fr-FR" sz="1200" b="1" dirty="0"/>
              <a:t> (Open Data Protocol)</a:t>
            </a:r>
            <a:r>
              <a:rPr lang="fr-FR" sz="1200" dirty="0"/>
              <a:t> est un protocole standard qui permet à une application d'échanger des données avec SAP via des services web REST.</a:t>
            </a:r>
            <a:br>
              <a:rPr lang="fr-FR" altLang="fr-FR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</a:b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62A5BF90-FBF2-2EAF-D2C6-9397B8401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33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3648378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DE39F85-C5CD-68E3-8FDD-091781ADC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B9B27F98-8C22-1DA1-F3C8-5A50ECC7D35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06B9003B-39A1-EE85-C67E-8EAA43ECA9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  <a:tabLst/>
              <a:defRPr/>
            </a:pPr>
            <a:r>
              <a:rPr lang="fr-FR" sz="1200" dirty="0"/>
              <a:t>C'est une </a:t>
            </a:r>
            <a:r>
              <a:rPr lang="fr-FR" sz="1200" b="1" dirty="0"/>
              <a:t>fonction module standard fournie par SAP</a:t>
            </a:r>
            <a:r>
              <a:rPr lang="fr-FR" sz="1200" dirty="0"/>
              <a:t> qui permet d'exécuter des opérations métier sur les objets SAP</a:t>
            </a:r>
            <a:br>
              <a:rPr lang="fr-FR" altLang="fr-FR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</a:b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marL="0" indent="0" eaLnBrk="1" hangingPunct="1">
              <a:buSzPts val="1400"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14126F5D-0E07-401E-5606-9468D2325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34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988554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59CAEE5-EB78-A8A4-FB90-CF93BB548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DA738474-BF73-834D-D805-4CCF74470A6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D706B773-EADC-AF1B-4942-8901D04F6C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r>
              <a:rPr lang="fr-FR" sz="1200" b="1" dirty="0" err="1"/>
              <a:t>OData</a:t>
            </a:r>
            <a:r>
              <a:rPr lang="fr-FR" sz="1200" b="1" dirty="0"/>
              <a:t> (Open Data Protocol)</a:t>
            </a:r>
            <a:r>
              <a:rPr lang="fr-FR" sz="1200" dirty="0"/>
              <a:t> est un protocole standard qui permet à une application d'échanger des données avec SAP via des services web REST.</a:t>
            </a:r>
            <a:br>
              <a:rPr lang="fr-FR" altLang="fr-FR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</a:b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B8C8B05B-4FC3-3C38-0C32-0E6D99B46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35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939793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24A0AC7-0C9F-AA51-CBD5-4DF36CAB8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9A634DC3-7F1B-6804-AEBF-BF9CB966CF4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7765CA81-19BF-2E9B-6F1C-CB94BB460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r>
              <a:rPr lang="fr-FR" sz="1200" b="1" dirty="0" err="1"/>
              <a:t>OData</a:t>
            </a:r>
            <a:r>
              <a:rPr lang="fr-FR" sz="1200" b="1" dirty="0"/>
              <a:t> (Open Data Protocol)</a:t>
            </a:r>
            <a:r>
              <a:rPr lang="fr-FR" sz="1200" dirty="0"/>
              <a:t> est un protocole standard qui permet à une application d'échanger des données avec SAP via des services web REST.</a:t>
            </a:r>
            <a:br>
              <a:rPr lang="fr-FR" altLang="fr-FR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</a:b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A5309593-2F34-3AF4-9E1C-59C090D80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36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7546134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FEFB961-82D7-3445-01C6-D61B4B7B9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AC7A7660-249C-8746-B014-81DCE7EA95E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433EBE0B-DF18-A745-C7DB-18576A2766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r>
              <a:rPr lang="fr-FR" sz="1200" b="1" dirty="0" err="1"/>
              <a:t>OData</a:t>
            </a:r>
            <a:r>
              <a:rPr lang="fr-FR" sz="1200" b="1" dirty="0"/>
              <a:t> (Open Data Protocol)</a:t>
            </a:r>
            <a:r>
              <a:rPr lang="fr-FR" sz="1200" dirty="0"/>
              <a:t> est un protocole standard qui permet à une application d'échanger des données avec SAP via des services web REST.</a:t>
            </a:r>
            <a:br>
              <a:rPr lang="fr-FR" altLang="fr-FR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</a:b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ED9FAE8A-F5F6-9EE8-47C6-4C3B0BB94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39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0333906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61FC47C-EF86-A5A9-FAAF-C2BC2EC6F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70AD0531-3E2B-5653-8BBF-0BB7F85D56B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83A8003D-6FC8-25CA-C1B3-0B830E681D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EEBB384C-E062-B79B-EE63-5A97141E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40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230600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BE0555C-532B-A2A7-55A3-C564A4C1C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C3AE247C-8BBF-4A69-7022-BC41B8F7028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727E32C0-3C20-037F-B8E7-12C7BCF5D9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51BAA8C8-2134-ADE1-CAA2-DF77E54E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41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827531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53B26D6-627D-DA29-B701-E48809A99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607320D0-2E23-935A-BE8B-5CFCAE6202F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2F7A4987-055D-8109-A073-651A0AEDD4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DF1D1111-6E7C-530E-FCE8-247B7DE14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42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842517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6CC45ED-4E3B-6812-63AE-29CEBCC8C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12D33758-7C4D-900E-40C1-92B36A48314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14774555-4A68-63BC-6EA8-9AEA9B37E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B34CD070-EFCF-3A14-3393-EEDB830C2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43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6466919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0871EA4-83FD-FC08-CBC5-818AAB344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811AD88D-ABFA-54D2-3D62-D476E3C6097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EEC7A97C-C45D-91AF-5080-AC79F42A9E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B47F2845-FB2D-1826-93AB-EE14CAED8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44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4666484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1DC0A94-AB35-756B-E718-7C119CBFB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0C51723B-0F56-1B05-A349-504346FD03F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602A1BF0-E671-DCA1-046C-493AB5337E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A030B8E2-D3C6-30FB-1B67-CCE988EE3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45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0148371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AC6BF48-F8BB-A294-3F39-D426BD7A0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D4444201-CEC5-63A2-19FE-339F11E3303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83A16DB9-22BD-C060-043D-E121FF5011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29EBA64F-F4DA-155F-592B-B8B06D942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46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1970273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5DD995C-8635-B76E-DAE2-F210F1287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D68221B9-26C6-234F-4560-705550394A0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18762740-303F-F651-9AA9-8F2BF6D2B5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77F40070-FD70-C023-182F-38EF5A113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47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266281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213C8A1-A50B-9A43-1369-7AB1312B3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EF41F2E0-48B5-554A-DAB9-66349387B5C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BE161689-3929-1120-2E7A-A5849A673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4DC7065B-55E2-08A8-9699-868CC76F8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48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7447560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F08EB53-E217-9A93-DD02-2253D5722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A03149C5-7165-F896-9D7C-B17AE843EDA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21D5FDDD-BBA1-9EB0-6F19-35B4C03E2B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80E6DDF5-A44B-FC6F-4080-89DAC774C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49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027303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423AEC1-0C66-F903-C676-EA4EBEF90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70851805-CC36-4DF2-6E10-453CC7A5B8D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2AE43BF9-2755-5C02-62E1-F86FF09E3D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r>
              <a:rPr lang="fr-FR" sz="1200" dirty="0"/>
              <a:t>SAP Fiori </a:t>
            </a:r>
            <a:r>
              <a:rPr lang="fr-FR" sz="1200" dirty="0" err="1"/>
              <a:t>Launchpad</a:t>
            </a:r>
            <a:r>
              <a:rPr lang="fr-FR" sz="1200" dirty="0"/>
              <a:t> est le portail d'accueil de SAP qui centralise l'accès aux différentes applications métier via une interface simple et intuitive.</a:t>
            </a: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E2A5FFD3-4F45-2AF9-2316-7D2583710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50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9276970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0161CBF-176C-4C2F-2634-F387D4E33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4581BB78-87B3-9BB4-F52A-307289DCB12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16555D86-564C-CC0D-5BA7-DEE2ADBF7A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r>
              <a:rPr lang="fr-FR" sz="1200" dirty="0"/>
              <a:t>SAP Fiori </a:t>
            </a:r>
            <a:r>
              <a:rPr lang="fr-FR" sz="1200" dirty="0" err="1"/>
              <a:t>Launchpad</a:t>
            </a:r>
            <a:r>
              <a:rPr lang="fr-FR" sz="1200" dirty="0"/>
              <a:t> est le portail d'accueil de SAP qui centralise l'accès aux différentes applications métier via une interface simple et intuitive.</a:t>
            </a: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CCD06542-61BF-BDED-308C-8EFD397D1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51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9196346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Google Shape;2120;p40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43011" name="Google Shape;2121;p40:notes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SzPts val="1400"/>
            </a:pPr>
            <a:endParaRPr lang="fr-FR" altLang="fr-FR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3012" name="Google Shape;2122;p40:notes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06AB3C9-FD99-4C33-9A0C-7EC071F88C42}" type="slidenum">
              <a:rPr lang="fr-FR" altLang="fr-FR" smtClean="0"/>
              <a:pPr/>
              <a:t>53</a:t>
            </a:fld>
            <a:endParaRPr lang="fr-FR" altLang="fr-FR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03CD687-A86D-1580-B745-1DE80F959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Google Shape;2131;p41:notes">
            <a:extLst>
              <a:ext uri="{FF2B5EF4-FFF2-40B4-BE49-F238E27FC236}">
                <a16:creationId xmlns:a16="http://schemas.microsoft.com/office/drawing/2014/main" id="{9AAB763E-C9A7-5E90-A951-92F68119226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4099" name="Google Shape;2132;p41:notes">
            <a:extLst>
              <a:ext uri="{FF2B5EF4-FFF2-40B4-BE49-F238E27FC236}">
                <a16:creationId xmlns:a16="http://schemas.microsoft.com/office/drawing/2014/main" id="{9E87008C-2B5A-88B5-DE3D-4A40F526D3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SzPts val="1200"/>
              <a:buFont typeface="Calibri" panose="020F0502020204030204" pitchFamily="34" charset="0"/>
              <a:buNone/>
            </a:pPr>
            <a:endParaRPr lang="fr-FR" altLang="fr-FR" sz="12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100" name="Google Shape;2133;p41:notes">
            <a:extLst>
              <a:ext uri="{FF2B5EF4-FFF2-40B4-BE49-F238E27FC236}">
                <a16:creationId xmlns:a16="http://schemas.microsoft.com/office/drawing/2014/main" id="{16A95521-F28D-894A-8101-0E8732222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1C990A83-31BF-4972-B27D-CA3DFA148D2D}" type="slidenum">
              <a:rPr lang="fr-FR" altLang="fr-FR" smtClean="0"/>
              <a:pPr/>
              <a:t>54</a:t>
            </a:fld>
            <a:endParaRPr lang="fr-FR" altLang="fr-FR"/>
          </a:p>
        </p:txBody>
      </p:sp>
      <p:sp>
        <p:nvSpPr>
          <p:cNvPr id="4101" name="Google Shape;2134;p41:notes">
            <a:extLst>
              <a:ext uri="{FF2B5EF4-FFF2-40B4-BE49-F238E27FC236}">
                <a16:creationId xmlns:a16="http://schemas.microsoft.com/office/drawing/2014/main" id="{46A35DA2-AD1B-52A2-85DC-62642E8AC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fr-FR" altLang="fr-FR" sz="1200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Projet de Génie Logiciel</a:t>
            </a:r>
          </a:p>
        </p:txBody>
      </p:sp>
    </p:spTree>
    <p:extLst>
      <p:ext uri="{BB962C8B-B14F-4D97-AF65-F5344CB8AC3E}">
        <p14:creationId xmlns:p14="http://schemas.microsoft.com/office/powerpoint/2010/main" val="228832359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FD18926-5758-D8CD-E6C3-7EC3264F4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A844BB66-BEAC-8FAF-49AF-A52DE61340C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C1F6B418-7BF9-7F27-3ABB-6FA53C2A32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54451CE2-1933-C1E9-E845-ECFE3036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55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6422564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300747D-6CDD-A628-B60B-0303314E1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1438;p20:notes">
            <a:extLst>
              <a:ext uri="{FF2B5EF4-FFF2-40B4-BE49-F238E27FC236}">
                <a16:creationId xmlns:a16="http://schemas.microsoft.com/office/drawing/2014/main" id="{12844C17-865E-38FB-6BB4-538C636E22A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1439;p20:notes">
            <a:extLst>
              <a:ext uri="{FF2B5EF4-FFF2-40B4-BE49-F238E27FC236}">
                <a16:creationId xmlns:a16="http://schemas.microsoft.com/office/drawing/2014/main" id="{F1A9C5A4-6EF7-29CB-82DD-718C3E3AD4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indent="0" eaLnBrk="1" hangingPunct="1">
              <a:buSzPts val="1400"/>
            </a:pPr>
            <a:endParaRPr lang="fr-FR" altLang="fr-FR" sz="12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820" name="Google Shape;1440;p20:notes">
            <a:extLst>
              <a:ext uri="{FF2B5EF4-FFF2-40B4-BE49-F238E27FC236}">
                <a16:creationId xmlns:a16="http://schemas.microsoft.com/office/drawing/2014/main" id="{4FD1C438-7AE7-A6BB-2244-3D51756FC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C6A32688-DECD-429A-8943-1558F9B3736E}" type="slidenum">
              <a:rPr lang="fr-FR" altLang="fr-FR" smtClean="0"/>
              <a:pPr/>
              <a:t>56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34594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;p42"/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3" name="Google Shape;13;p42"/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4" name="Google Shape;14;p42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6BB4E7-8EBE-429E-9611-BBE4E0176289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457187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" name="Google Shape;12;p42"/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Google Shape;13;p42"/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Google Shape;14;p42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A6DD08-DD9D-4A31-886C-2CE656E92720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39742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" name="Google Shape;12;p42"/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Google Shape;13;p42"/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Google Shape;14;p42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72E320-6D9C-4C57-869C-3FC2CDF4BB73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828756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" name="Google Shape;12;p42"/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Google Shape;13;p42"/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7" name="Google Shape;14;p42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AA6CB4-A2E7-4448-963D-7ADBD95EA7DB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771996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4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" name="Google Shape;12;p42"/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8" name="Google Shape;13;p42"/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9" name="Google Shape;14;p42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8C4923-92D6-49F9-AC66-C28F8FA0CD69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348796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Google Shape;12;p42"/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4" name="Google Shape;13;p42"/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Google Shape;14;p42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26A9F-003F-469F-8E0F-975727E52288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13814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" name="Google Shape;12;p42"/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Google Shape;13;p42"/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7" name="Google Shape;14;p42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5B6460-50A8-4612-941C-6961FBD2F4AE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093620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endParaRPr noProof="0">
              <a:sym typeface="Calibri"/>
            </a:endParaRPr>
          </a:p>
        </p:txBody>
      </p:sp>
      <p:sp>
        <p:nvSpPr>
          <p:cNvPr id="68" name="Google Shape;68;p5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" name="Google Shape;12;p42"/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Google Shape;13;p42"/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7" name="Google Shape;14;p42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2B9452-117E-41FC-906D-8858A5451D21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79074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" name="Google Shape;12;p42"/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Google Shape;13;p42"/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Google Shape;14;p42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667E76-D3DB-4FEB-9D6F-956458B1B7C0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651395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" name="Google Shape;12;p42"/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Google Shape;13;p42"/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Google Shape;14;p42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DDDC84-50B9-443F-AF67-26F204029CF3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158260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;p42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fr-FR" altLang="fr-FR">
              <a:sym typeface="Arial" panose="020B0604020202020204" pitchFamily="34" charset="0"/>
            </a:endParaRPr>
          </a:p>
        </p:txBody>
      </p:sp>
      <p:sp>
        <p:nvSpPr>
          <p:cNvPr id="1027" name="Google Shape;11;p42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 lvl="0"/>
            <a:endParaRPr lang="fr-FR" altLang="fr-FR">
              <a:sym typeface="Arial" panose="020B0604020202020204" pitchFamily="34" charset="0"/>
            </a:endParaRPr>
          </a:p>
        </p:txBody>
      </p:sp>
      <p:sp>
        <p:nvSpPr>
          <p:cNvPr id="1028" name="Google Shape;12;p4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2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1029" name="Google Shape;13;p4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2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1030" name="Google Shape;14;p4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2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>
              <a:defRPr/>
            </a:pPr>
            <a:fld id="{60DA1D53-C4FE-4567-87B6-684475100B9C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jpeg"/><Relationship Id="rId7" Type="http://schemas.microsoft.com/office/2007/relationships/hdphoto" Target="../media/hdphoto2.wdp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microsoft.com/office/2007/relationships/hdphoto" Target="../media/hdphoto1.wdp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jpeg"/><Relationship Id="rId7" Type="http://schemas.microsoft.com/office/2007/relationships/hdphoto" Target="../media/hdphoto2.wdp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microsoft.com/office/2007/relationships/hdphoto" Target="../media/hdphoto1.wdp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jpeg"/><Relationship Id="rId7" Type="http://schemas.microsoft.com/office/2007/relationships/hdphoto" Target="../media/hdphoto2.wdp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microsoft.com/office/2007/relationships/hdphoto" Target="../media/hdphoto1.wdp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jpeg"/><Relationship Id="rId7" Type="http://schemas.microsoft.com/office/2007/relationships/hdphoto" Target="../media/hdphoto2.wdp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microsoft.com/office/2007/relationships/hdphoto" Target="../media/hdphoto1.wdp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3.png"/><Relationship Id="rId7" Type="http://schemas.openxmlformats.org/officeDocument/2006/relationships/image" Target="../media/image4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e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jpeg"/><Relationship Id="rId7" Type="http://schemas.openxmlformats.org/officeDocument/2006/relationships/image" Target="../media/image65.pn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sv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Google Shape;2137;p41"/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78" name="Google Shape;2140;p41"/>
          <p:cNvSpPr txBox="1">
            <a:spLocks noChangeArrowheads="1"/>
          </p:cNvSpPr>
          <p:nvPr/>
        </p:nvSpPr>
        <p:spPr bwMode="auto">
          <a:xfrm>
            <a:off x="8427793" y="4105031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84" name="Google Shape;2146;p41" descr="Title 1"/>
          <p:cNvSpPr txBox="1">
            <a:spLocks noChangeArrowheads="1"/>
          </p:cNvSpPr>
          <p:nvPr/>
        </p:nvSpPr>
        <p:spPr bwMode="auto">
          <a:xfrm>
            <a:off x="1612881" y="2693694"/>
            <a:ext cx="9042766" cy="60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sz="1800" b="1" dirty="0">
                <a:solidFill>
                  <a:schemeClr val="tx1"/>
                </a:solidFill>
              </a:rPr>
              <a:t>5éme Année en Ingénierie Informatique et Réseaux                                          </a:t>
            </a:r>
            <a:r>
              <a:rPr lang="fr-FR" sz="1800" dirty="0">
                <a:solidFill>
                  <a:schemeClr val="tx1"/>
                </a:solidFill>
              </a:rPr>
              <a:t>Option MIAGE</a:t>
            </a:r>
          </a:p>
        </p:txBody>
      </p:sp>
      <p:sp>
        <p:nvSpPr>
          <p:cNvPr id="3085" name="Google Shape;2147;p41" descr="Title 1"/>
          <p:cNvSpPr txBox="1">
            <a:spLocks noChangeArrowheads="1"/>
          </p:cNvSpPr>
          <p:nvPr/>
        </p:nvSpPr>
        <p:spPr bwMode="auto">
          <a:xfrm>
            <a:off x="1562264" y="2157225"/>
            <a:ext cx="9144000" cy="4318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200" b="1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Soutenance de Projet de Fin d’Etude</a:t>
            </a:r>
            <a:endParaRPr lang="fr-FR" altLang="fr-FR" dirty="0"/>
          </a:p>
        </p:txBody>
      </p:sp>
      <p:sp>
        <p:nvSpPr>
          <p:cNvPr id="3088" name="Google Shape;2150;p41"/>
          <p:cNvSpPr>
            <a:spLocks noChangeArrowheads="1"/>
          </p:cNvSpPr>
          <p:nvPr/>
        </p:nvSpPr>
        <p:spPr bwMode="auto">
          <a:xfrm>
            <a:off x="1562264" y="3442174"/>
            <a:ext cx="9144000" cy="1200288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sz="2400" b="1" dirty="0">
                <a:solidFill>
                  <a:schemeClr val="tx1"/>
                </a:solidFill>
              </a:rPr>
              <a:t>Sujet: Conception et implémentation d'une application SAP Fiori pour l'automatisation du chargement des documents de vente</a:t>
            </a:r>
          </a:p>
        </p:txBody>
      </p:sp>
      <p:sp>
        <p:nvSpPr>
          <p:cNvPr id="3094" name="Google Shape;2156;p41"/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dirty="0"/>
          </a:p>
        </p:txBody>
      </p:sp>
      <p:pic>
        <p:nvPicPr>
          <p:cNvPr id="23" name="Image 2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2" y="44706"/>
            <a:ext cx="2818404" cy="747753"/>
          </a:xfrm>
          <a:prstGeom prst="rect">
            <a:avLst/>
          </a:prstGeom>
        </p:spPr>
      </p:pic>
      <p:pic>
        <p:nvPicPr>
          <p:cNvPr id="5122" name="Picture 2" descr="APO Group - Africa Newsroom / Communiqué de presse | Honoris United  Universities enrichit son réseau panafricain avec une nouvelle école en  sciences de la santé et un centre de simulation médicale ultra-moderne">
            <a:extLst>
              <a:ext uri="{FF2B5EF4-FFF2-40B4-BE49-F238E27FC236}">
                <a16:creationId xmlns:a16="http://schemas.microsoft.com/office/drawing/2014/main" id="{33D72141-71E4-250F-61E3-EABB97086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555" y="22430"/>
            <a:ext cx="2701445" cy="923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7178D7B-FEFA-06E4-1767-17B7A03832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0558" y="792459"/>
            <a:ext cx="4800432" cy="1044094"/>
          </a:xfrm>
          <a:prstGeom prst="rect">
            <a:avLst/>
          </a:prstGeom>
        </p:spPr>
      </p:pic>
      <p:sp>
        <p:nvSpPr>
          <p:cNvPr id="2" name="Google Shape;2142;p41">
            <a:extLst>
              <a:ext uri="{FF2B5EF4-FFF2-40B4-BE49-F238E27FC236}">
                <a16:creationId xmlns:a16="http://schemas.microsoft.com/office/drawing/2014/main" id="{541E2CBA-AB35-3101-C7A6-25ADEE993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9526" y="5137436"/>
            <a:ext cx="3419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rgbClr val="3F3F3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Encadrées Par:</a:t>
            </a:r>
            <a:endParaRPr lang="fr-FR" altLang="fr-FR" dirty="0"/>
          </a:p>
        </p:txBody>
      </p:sp>
      <p:sp>
        <p:nvSpPr>
          <p:cNvPr id="3" name="Google Shape;2143;p41">
            <a:extLst>
              <a:ext uri="{FF2B5EF4-FFF2-40B4-BE49-F238E27FC236}">
                <a16:creationId xmlns:a16="http://schemas.microsoft.com/office/drawing/2014/main" id="{6C21DFD7-FD30-B69F-5227-499296B08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083" y="5166117"/>
            <a:ext cx="34194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rgbClr val="3F3F3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Réalisée par : </a:t>
            </a:r>
            <a:endParaRPr lang="fr-FR" altLang="fr-FR" dirty="0"/>
          </a:p>
        </p:txBody>
      </p:sp>
      <p:sp>
        <p:nvSpPr>
          <p:cNvPr id="6" name="Google Shape;2151;p41">
            <a:extLst>
              <a:ext uri="{FF2B5EF4-FFF2-40B4-BE49-F238E27FC236}">
                <a16:creationId xmlns:a16="http://schemas.microsoft.com/office/drawing/2014/main" id="{06A17F04-3A21-C8AF-64EB-356BB145C20A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8489526" y="5578716"/>
            <a:ext cx="3016250" cy="460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2800">
              <a:solidFill>
                <a:srgbClr val="6699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7" name="Google Shape;2152;p41">
            <a:extLst>
              <a:ext uri="{FF2B5EF4-FFF2-40B4-BE49-F238E27FC236}">
                <a16:creationId xmlns:a16="http://schemas.microsoft.com/office/drawing/2014/main" id="{E8276930-DE4E-9A5B-3E2E-B08F5A5E66FC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347908" y="5595101"/>
            <a:ext cx="2936875" cy="5238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2800">
              <a:solidFill>
                <a:srgbClr val="6699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BC60100-74A0-4988-93F3-7F0ABCBE698C}"/>
              </a:ext>
            </a:extLst>
          </p:cNvPr>
          <p:cNvSpPr txBox="1"/>
          <p:nvPr/>
        </p:nvSpPr>
        <p:spPr>
          <a:xfrm>
            <a:off x="347908" y="5706585"/>
            <a:ext cx="37279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Mlle. Loubna LAASRI</a:t>
            </a:r>
          </a:p>
        </p:txBody>
      </p:sp>
      <p:sp>
        <p:nvSpPr>
          <p:cNvPr id="9" name="Google Shape;2139;p41">
            <a:extLst>
              <a:ext uri="{FF2B5EF4-FFF2-40B4-BE49-F238E27FC236}">
                <a16:creationId xmlns:a16="http://schemas.microsoft.com/office/drawing/2014/main" id="{A549AA06-9A07-9BA6-A36D-5FEAE1F73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9923" y="5619105"/>
            <a:ext cx="5252915" cy="523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b="1" dirty="0">
                <a:latin typeface="Cambria" panose="02040503050406030204" pitchFamily="18" charset="0"/>
              </a:rPr>
              <a:t>Mme. Mariam CHERRABI 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(EMSI)</a:t>
            </a:r>
            <a:endParaRPr lang="fr-FR" altLang="fr-FR" dirty="0">
              <a:latin typeface="Cambria" panose="02040503050406030204" pitchFamily="18" charset="0"/>
              <a:ea typeface="Cambria" panose="02040503050406030204" pitchFamily="18" charset="0"/>
              <a:sym typeface="Cambria" panose="02040503050406030204" pitchFamily="18" charset="0"/>
            </a:endParaRPr>
          </a:p>
          <a:p>
            <a:pPr eaLnBrk="1" hangingPunct="1"/>
            <a:r>
              <a:rPr lang="fr-FR" b="1" dirty="0">
                <a:latin typeface="Cambria" panose="02040503050406030204" pitchFamily="18" charset="0"/>
                <a:ea typeface="Cambria" panose="02040503050406030204" pitchFamily="18" charset="0"/>
              </a:rPr>
              <a:t>Mme. Kawtar SLIMANI 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(Deloitte)</a:t>
            </a:r>
            <a:endParaRPr lang="fr-FR" altLang="fr-FR" b="1" dirty="0">
              <a:latin typeface="Cambria" panose="02040503050406030204" pitchFamily="18" charset="0"/>
              <a:ea typeface="Cambria" panose="02040503050406030204" pitchFamily="18" charset="0"/>
              <a:sym typeface="Cambria" panose="02040503050406030204" pitchFamily="18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F4202F0-9D8D-E94B-8BB1-120872254345}"/>
              </a:ext>
            </a:extLst>
          </p:cNvPr>
          <p:cNvSpPr txBox="1"/>
          <p:nvPr/>
        </p:nvSpPr>
        <p:spPr>
          <a:xfrm>
            <a:off x="3722077" y="4701559"/>
            <a:ext cx="4747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fr-FR" sz="1800" b="1" dirty="0">
                <a:solidFill>
                  <a:srgbClr val="3F3F3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Soutenu le: 18 -07-2026</a:t>
            </a:r>
          </a:p>
        </p:txBody>
      </p:sp>
      <p:sp>
        <p:nvSpPr>
          <p:cNvPr id="4" name="Google Shape;2142;p41">
            <a:extLst>
              <a:ext uri="{FF2B5EF4-FFF2-40B4-BE49-F238E27FC236}">
                <a16:creationId xmlns:a16="http://schemas.microsoft.com/office/drawing/2014/main" id="{5811A26F-18B4-C8FA-2625-AD5EC6AE0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811" y="5137436"/>
            <a:ext cx="3419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rgbClr val="3F3F3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Devant les jurys :</a:t>
            </a:r>
            <a:endParaRPr lang="fr-FR" altLang="fr-FR" dirty="0"/>
          </a:p>
        </p:txBody>
      </p:sp>
      <p:sp>
        <p:nvSpPr>
          <p:cNvPr id="11" name="Google Shape;2151;p41">
            <a:extLst>
              <a:ext uri="{FF2B5EF4-FFF2-40B4-BE49-F238E27FC236}">
                <a16:creationId xmlns:a16="http://schemas.microsoft.com/office/drawing/2014/main" id="{42777134-6497-3F30-AC22-F68B945F73D8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656811" y="5578716"/>
            <a:ext cx="3016250" cy="460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2800">
              <a:solidFill>
                <a:srgbClr val="6699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2" name="Google Shape;2139;p41">
            <a:extLst>
              <a:ext uri="{FF2B5EF4-FFF2-40B4-BE49-F238E27FC236}">
                <a16:creationId xmlns:a16="http://schemas.microsoft.com/office/drawing/2014/main" id="{624373BA-8B01-9EF2-0EFA-39D668CCE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7208" y="5619105"/>
            <a:ext cx="5252915" cy="523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b="1" dirty="0">
                <a:latin typeface="Cambria" panose="02040503050406030204" pitchFamily="18" charset="0"/>
                <a:sym typeface="Cambria" panose="02040503050406030204" pitchFamily="18" charset="0"/>
              </a:rPr>
              <a:t>Mme. Ibtissame AOURAGHE</a:t>
            </a:r>
          </a:p>
          <a:p>
            <a:pPr eaLnBrk="1" hangingPunct="1"/>
            <a:r>
              <a:rPr lang="fr-FR" altLang="fr-FR" b="1" dirty="0">
                <a:latin typeface="Cambria" panose="02040503050406030204" pitchFamily="18" charset="0"/>
                <a:sym typeface="Cambria" panose="02040503050406030204" pitchFamily="18" charset="0"/>
              </a:rPr>
              <a:t>Mr. Said WAHID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2"/>
          <p:cNvGrpSpPr>
            <a:grpSpLocks/>
          </p:cNvGrpSpPr>
          <p:nvPr/>
        </p:nvGrpSpPr>
        <p:grpSpPr bwMode="auto">
          <a:xfrm>
            <a:off x="-330344" y="2155069"/>
            <a:ext cx="7475538" cy="504825"/>
            <a:chOff x="841108" y="1294358"/>
            <a:chExt cx="7475308" cy="508077"/>
          </a:xfrm>
        </p:grpSpPr>
        <p:sp>
          <p:nvSpPr>
            <p:cNvPr id="5165" name="Google Shape;117;p2"/>
            <p:cNvSpPr>
              <a:spLocks noChangeArrowheads="1"/>
            </p:cNvSpPr>
            <p:nvPr/>
          </p:nvSpPr>
          <p:spPr bwMode="auto">
            <a:xfrm rot="10800000" flipH="1">
              <a:off x="1921229" y="1294358"/>
              <a:ext cx="6274663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007E39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5166" name="Google Shape;118;p2"/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007E39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5167" name="Google Shape;119;p2"/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007E39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grpSp>
        <p:nvGrpSpPr>
          <p:cNvPr id="120" name="Google Shape;120;p2"/>
          <p:cNvGrpSpPr>
            <a:grpSpLocks/>
          </p:cNvGrpSpPr>
          <p:nvPr/>
        </p:nvGrpSpPr>
        <p:grpSpPr bwMode="auto">
          <a:xfrm>
            <a:off x="-330343" y="2727066"/>
            <a:ext cx="7475538" cy="520701"/>
            <a:chOff x="841108" y="1294358"/>
            <a:chExt cx="7475308" cy="508077"/>
          </a:xfrm>
        </p:grpSpPr>
        <p:sp>
          <p:nvSpPr>
            <p:cNvPr id="5162" name="Google Shape;121;p2"/>
            <p:cNvSpPr>
              <a:spLocks noChangeArrowheads="1"/>
            </p:cNvSpPr>
            <p:nvPr/>
          </p:nvSpPr>
          <p:spPr bwMode="auto">
            <a:xfrm rot="10800000" flipH="1">
              <a:off x="1921229" y="1294358"/>
              <a:ext cx="628418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007E39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5163" name="Google Shape;122;p2"/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007E39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5164" name="Google Shape;123;p2"/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 dirty="0">
                <a:solidFill>
                  <a:srgbClr val="007E39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5124" name="Google Shape;124;p2"/>
          <p:cNvSpPr>
            <a:spLocks noChangeArrowheads="1"/>
          </p:cNvSpPr>
          <p:nvPr/>
        </p:nvSpPr>
        <p:spPr bwMode="auto">
          <a:xfrm>
            <a:off x="1560513" y="1117600"/>
            <a:ext cx="9144000" cy="103188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125" name="Google Shape;125;p2"/>
          <p:cNvSpPr>
            <a:spLocks noChangeArrowheads="1"/>
          </p:cNvSpPr>
          <p:nvPr/>
        </p:nvSpPr>
        <p:spPr bwMode="auto">
          <a:xfrm>
            <a:off x="1871663" y="6075363"/>
            <a:ext cx="3746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8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IV</a:t>
            </a:r>
            <a:endParaRPr lang="fr-FR" altLang="fr-FR" dirty="0">
              <a:cs typeface="Calibri" panose="020F0502020204030204" pitchFamily="34" charset="0"/>
            </a:endParaRPr>
          </a:p>
        </p:txBody>
      </p:sp>
      <p:sp>
        <p:nvSpPr>
          <p:cNvPr id="126" name="Google Shape;126;p2"/>
          <p:cNvSpPr>
            <a:spLocks noChangeArrowheads="1"/>
          </p:cNvSpPr>
          <p:nvPr/>
        </p:nvSpPr>
        <p:spPr bwMode="auto">
          <a:xfrm>
            <a:off x="888185" y="2826581"/>
            <a:ext cx="6201507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 du projet et étude de l’existant</a:t>
            </a:r>
          </a:p>
        </p:txBody>
      </p:sp>
      <p:sp>
        <p:nvSpPr>
          <p:cNvPr id="127" name="Google Shape;127;p2"/>
          <p:cNvSpPr>
            <a:spLocks noChangeArrowheads="1"/>
          </p:cNvSpPr>
          <p:nvPr/>
        </p:nvSpPr>
        <p:spPr bwMode="auto">
          <a:xfrm>
            <a:off x="172894" y="2722712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grpSp>
        <p:nvGrpSpPr>
          <p:cNvPr id="128" name="Google Shape;128;p2"/>
          <p:cNvGrpSpPr>
            <a:grpSpLocks/>
          </p:cNvGrpSpPr>
          <p:nvPr/>
        </p:nvGrpSpPr>
        <p:grpSpPr bwMode="auto">
          <a:xfrm>
            <a:off x="-330344" y="3306043"/>
            <a:ext cx="7475538" cy="504825"/>
            <a:chOff x="841108" y="1294358"/>
            <a:chExt cx="7475308" cy="508077"/>
          </a:xfrm>
        </p:grpSpPr>
        <p:sp>
          <p:nvSpPr>
            <p:cNvPr id="5159" name="Google Shape;129;p2"/>
            <p:cNvSpPr>
              <a:spLocks noChangeArrowheads="1"/>
            </p:cNvSpPr>
            <p:nvPr/>
          </p:nvSpPr>
          <p:spPr bwMode="auto">
            <a:xfrm rot="10800000" flipH="1">
              <a:off x="1921229" y="1294358"/>
              <a:ext cx="6272465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007E39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5160" name="Google Shape;130;p2"/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007E39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5161" name="Google Shape;131;p2"/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007E39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32" name="Google Shape;132;p2"/>
          <p:cNvSpPr>
            <a:spLocks noChangeArrowheads="1"/>
          </p:cNvSpPr>
          <p:nvPr/>
        </p:nvSpPr>
        <p:spPr bwMode="auto">
          <a:xfrm>
            <a:off x="858693" y="3352081"/>
            <a:ext cx="5392283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Méthodologie utilisée &amp; planification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33" name="Google Shape;133;p2"/>
          <p:cNvSpPr>
            <a:spLocks noChangeArrowheads="1"/>
          </p:cNvSpPr>
          <p:nvPr/>
        </p:nvSpPr>
        <p:spPr bwMode="auto">
          <a:xfrm>
            <a:off x="172894" y="3306044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grpSp>
        <p:nvGrpSpPr>
          <p:cNvPr id="134" name="Google Shape;134;p2"/>
          <p:cNvGrpSpPr>
            <a:grpSpLocks/>
          </p:cNvGrpSpPr>
          <p:nvPr/>
        </p:nvGrpSpPr>
        <p:grpSpPr bwMode="auto">
          <a:xfrm>
            <a:off x="-330344" y="3904135"/>
            <a:ext cx="7475538" cy="503238"/>
            <a:chOff x="841108" y="1294359"/>
            <a:chExt cx="7475308" cy="508077"/>
          </a:xfrm>
        </p:grpSpPr>
        <p:sp>
          <p:nvSpPr>
            <p:cNvPr id="5156" name="Google Shape;135;p2"/>
            <p:cNvSpPr>
              <a:spLocks noChangeArrowheads="1"/>
            </p:cNvSpPr>
            <p:nvPr/>
          </p:nvSpPr>
          <p:spPr bwMode="auto">
            <a:xfrm rot="10800000" flipH="1">
              <a:off x="1921229" y="1294359"/>
              <a:ext cx="628418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18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5157" name="Google Shape;136;p2"/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3728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18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5158" name="Google Shape;137;p2"/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3728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18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38" name="Google Shape;138;p2"/>
          <p:cNvSpPr>
            <a:spLocks noChangeArrowheads="1"/>
          </p:cNvSpPr>
          <p:nvPr/>
        </p:nvSpPr>
        <p:spPr bwMode="auto">
          <a:xfrm>
            <a:off x="850756" y="3896556"/>
            <a:ext cx="5995865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Analyse et conception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39" name="Google Shape;139;p2"/>
          <p:cNvSpPr>
            <a:spLocks noChangeArrowheads="1"/>
          </p:cNvSpPr>
          <p:nvPr/>
        </p:nvSpPr>
        <p:spPr bwMode="auto">
          <a:xfrm>
            <a:off x="172894" y="3904135"/>
            <a:ext cx="504825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grpSp>
        <p:nvGrpSpPr>
          <p:cNvPr id="140" name="Google Shape;140;p2"/>
          <p:cNvGrpSpPr>
            <a:grpSpLocks/>
          </p:cNvGrpSpPr>
          <p:nvPr/>
        </p:nvGrpSpPr>
        <p:grpSpPr bwMode="auto">
          <a:xfrm>
            <a:off x="-330344" y="4495310"/>
            <a:ext cx="7475538" cy="503238"/>
            <a:chOff x="841108" y="1294359"/>
            <a:chExt cx="7475308" cy="508077"/>
          </a:xfrm>
        </p:grpSpPr>
        <p:sp>
          <p:nvSpPr>
            <p:cNvPr id="5153" name="Google Shape;141;p2"/>
            <p:cNvSpPr>
              <a:spLocks noChangeArrowheads="1"/>
            </p:cNvSpPr>
            <p:nvPr/>
          </p:nvSpPr>
          <p:spPr bwMode="auto">
            <a:xfrm rot="10800000" flipH="1">
              <a:off x="1921229" y="1294359"/>
              <a:ext cx="6272465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5154" name="Google Shape;142;p2"/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5155" name="Google Shape;143;p2"/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44" name="Google Shape;144;p2"/>
          <p:cNvSpPr>
            <a:spLocks noChangeArrowheads="1"/>
          </p:cNvSpPr>
          <p:nvPr/>
        </p:nvSpPr>
        <p:spPr bwMode="auto">
          <a:xfrm>
            <a:off x="858694" y="4549285"/>
            <a:ext cx="5534276" cy="646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 et mise en œuvre</a:t>
            </a:r>
          </a:p>
          <a:p>
            <a:pPr eaLnBrk="1" hangingPunct="1"/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45" name="Google Shape;145;p2"/>
          <p:cNvSpPr>
            <a:spLocks noChangeArrowheads="1"/>
          </p:cNvSpPr>
          <p:nvPr/>
        </p:nvSpPr>
        <p:spPr bwMode="auto">
          <a:xfrm>
            <a:off x="172894" y="4495310"/>
            <a:ext cx="504825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5137" name="Google Shape;146;p2"/>
          <p:cNvSpPr>
            <a:spLocks noChangeArrowheads="1"/>
          </p:cNvSpPr>
          <p:nvPr/>
        </p:nvSpPr>
        <p:spPr bwMode="auto">
          <a:xfrm>
            <a:off x="5732463" y="1789113"/>
            <a:ext cx="5003800" cy="10318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2800">
              <a:solidFill>
                <a:srgbClr val="36C41E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5138" name="Google Shape;147;p2"/>
          <p:cNvSpPr>
            <a:spLocks noChangeArrowheads="1"/>
          </p:cNvSpPr>
          <p:nvPr/>
        </p:nvSpPr>
        <p:spPr bwMode="auto">
          <a:xfrm flipH="1">
            <a:off x="8688388" y="976313"/>
            <a:ext cx="252095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42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PLAN</a:t>
            </a:r>
            <a:endParaRPr lang="fr-FR" altLang="fr-FR" b="1" dirty="0">
              <a:solidFill>
                <a:schemeClr val="tx1"/>
              </a:solidFill>
            </a:endParaRPr>
          </a:p>
        </p:txBody>
      </p:sp>
      <p:sp>
        <p:nvSpPr>
          <p:cNvPr id="148" name="Google Shape;148;p2"/>
          <p:cNvSpPr>
            <a:spLocks noChangeArrowheads="1"/>
          </p:cNvSpPr>
          <p:nvPr/>
        </p:nvSpPr>
        <p:spPr bwMode="auto">
          <a:xfrm>
            <a:off x="165702" y="2136554"/>
            <a:ext cx="51117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149" name="Google Shape;149;p2"/>
          <p:cNvSpPr>
            <a:spLocks noChangeArrowheads="1"/>
          </p:cNvSpPr>
          <p:nvPr/>
        </p:nvSpPr>
        <p:spPr bwMode="auto">
          <a:xfrm>
            <a:off x="858693" y="2261139"/>
            <a:ext cx="6058266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 Présentation de l’organisme d’accueil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5141" name="Google Shape;152;p2"/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sp>
        <p:nvSpPr>
          <p:cNvPr id="5142" name="Google Shape;159;p2"/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2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149" name="Google Shape;836;p4"/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151" name="Google Shape;944;p6"/>
          <p:cNvSpPr txBox="1">
            <a:spLocks/>
          </p:cNvSpPr>
          <p:nvPr/>
        </p:nvSpPr>
        <p:spPr bwMode="auto">
          <a:xfrm>
            <a:off x="10378282" y="6604074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2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152" name="Google Shape;945;p6"/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grpSp>
        <p:nvGrpSpPr>
          <p:cNvPr id="20" name="Google Shape;116;p2">
            <a:extLst>
              <a:ext uri="{FF2B5EF4-FFF2-40B4-BE49-F238E27FC236}">
                <a16:creationId xmlns:a16="http://schemas.microsoft.com/office/drawing/2014/main" id="{4CD20674-7F31-2315-5339-46433706C7A2}"/>
              </a:ext>
            </a:extLst>
          </p:cNvPr>
          <p:cNvGrpSpPr>
            <a:grpSpLocks/>
          </p:cNvGrpSpPr>
          <p:nvPr/>
        </p:nvGrpSpPr>
        <p:grpSpPr bwMode="auto">
          <a:xfrm>
            <a:off x="-330344" y="5136993"/>
            <a:ext cx="7475538" cy="504825"/>
            <a:chOff x="841108" y="1294358"/>
            <a:chExt cx="7475308" cy="508077"/>
          </a:xfrm>
        </p:grpSpPr>
        <p:sp>
          <p:nvSpPr>
            <p:cNvPr id="21" name="Google Shape;117;p2">
              <a:extLst>
                <a:ext uri="{FF2B5EF4-FFF2-40B4-BE49-F238E27FC236}">
                  <a16:creationId xmlns:a16="http://schemas.microsoft.com/office/drawing/2014/main" id="{2F2F2698-E9A3-E4B9-8E64-7C567EFBAE9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9" y="1294358"/>
              <a:ext cx="6274663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007E39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22" name="Google Shape;118;p2">
              <a:extLst>
                <a:ext uri="{FF2B5EF4-FFF2-40B4-BE49-F238E27FC236}">
                  <a16:creationId xmlns:a16="http://schemas.microsoft.com/office/drawing/2014/main" id="{550AC57D-2712-639F-5026-2982890C3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007E39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23" name="Google Shape;119;p2">
              <a:extLst>
                <a:ext uri="{FF2B5EF4-FFF2-40B4-BE49-F238E27FC236}">
                  <a16:creationId xmlns:a16="http://schemas.microsoft.com/office/drawing/2014/main" id="{F486CD3C-31B0-E666-B86E-0D57CACD56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007E39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24" name="Google Shape;148;p2">
            <a:extLst>
              <a:ext uri="{FF2B5EF4-FFF2-40B4-BE49-F238E27FC236}">
                <a16:creationId xmlns:a16="http://schemas.microsoft.com/office/drawing/2014/main" id="{CCE6629C-B3C6-2616-BD44-C8CB6059A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369" y="5136994"/>
            <a:ext cx="51117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 dirty="0"/>
          </a:p>
        </p:txBody>
      </p:sp>
      <p:sp>
        <p:nvSpPr>
          <p:cNvPr id="25" name="Google Shape;149;p2">
            <a:extLst>
              <a:ext uri="{FF2B5EF4-FFF2-40B4-BE49-F238E27FC236}">
                <a16:creationId xmlns:a16="http://schemas.microsoft.com/office/drawing/2014/main" id="{65904078-DA61-1CC9-418B-2D93D7D0A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169" y="5184619"/>
            <a:ext cx="6058266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Conclusion générale et perspectives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A72E221-F7C5-2F26-BF1E-61E3159AE120}"/>
              </a:ext>
            </a:extLst>
          </p:cNvPr>
          <p:cNvSpPr txBox="1"/>
          <p:nvPr/>
        </p:nvSpPr>
        <p:spPr>
          <a:xfrm>
            <a:off x="-1" y="6580188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5168" name="Image 5167" descr="Action Plan Icon line vector illustration 35642097 Vector Art at Vecteezy">
            <a:extLst>
              <a:ext uri="{FF2B5EF4-FFF2-40B4-BE49-F238E27FC236}">
                <a16:creationId xmlns:a16="http://schemas.microsoft.com/office/drawing/2014/main" id="{036AA166-9AF7-4C0C-B8F5-A7608680A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548" y="2119313"/>
            <a:ext cx="3657533" cy="3657533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918EED0B-AE7B-3AE1-204B-DA39992491A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797"/>
            <a:ext cx="3419475" cy="802919"/>
          </a:xfrm>
          <a:prstGeom prst="rect">
            <a:avLst/>
          </a:prstGeom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8262CE49-7AAF-D573-92CB-848788FD57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2771" y="110351"/>
            <a:ext cx="3806349" cy="8278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126" grpId="0"/>
      <p:bldP spid="127" grpId="0" animBg="1"/>
      <p:bldP spid="132" grpId="0"/>
      <p:bldP spid="133" grpId="0" animBg="1"/>
      <p:bldP spid="138" grpId="0"/>
      <p:bldP spid="139" grpId="0" animBg="1"/>
      <p:bldP spid="144" grpId="0"/>
      <p:bldP spid="145" grpId="0" animBg="1"/>
      <p:bldP spid="5137" grpId="0" animBg="1"/>
      <p:bldP spid="5138" grpId="0"/>
      <p:bldP spid="148" grpId="0" animBg="1"/>
      <p:bldP spid="149" grpId="0"/>
      <p:bldP spid="24" grpId="0" animBg="1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DE64A-BFF8-E9C9-DC4C-516AAA7D1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2" name="Google Shape;762;p3">
            <a:extLst>
              <a:ext uri="{FF2B5EF4-FFF2-40B4-BE49-F238E27FC236}">
                <a16:creationId xmlns:a16="http://schemas.microsoft.com/office/drawing/2014/main" id="{A7EE2059-930B-75CA-84D9-0DF66116C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sp>
        <p:nvSpPr>
          <p:cNvPr id="7188" name="Google Shape;819;p3">
            <a:extLst>
              <a:ext uri="{FF2B5EF4-FFF2-40B4-BE49-F238E27FC236}">
                <a16:creationId xmlns:a16="http://schemas.microsoft.com/office/drawing/2014/main" id="{C9A95DB0-5E2C-40DF-7C03-01F7E962FF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3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94" name="Google Shape;152;p2">
            <a:extLst>
              <a:ext uri="{FF2B5EF4-FFF2-40B4-BE49-F238E27FC236}">
                <a16:creationId xmlns:a16="http://schemas.microsoft.com/office/drawing/2014/main" id="{63BA96E9-4065-9DF6-6E1C-7FE7B2B1A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sp>
        <p:nvSpPr>
          <p:cNvPr id="7195" name="Google Shape;159;p2">
            <a:extLst>
              <a:ext uri="{FF2B5EF4-FFF2-40B4-BE49-F238E27FC236}">
                <a16:creationId xmlns:a16="http://schemas.microsoft.com/office/drawing/2014/main" id="{BE7E9291-2B4E-98CE-E1B5-5280B7787AB5}"/>
              </a:ext>
            </a:extLst>
          </p:cNvPr>
          <p:cNvSpPr txBox="1">
            <a:spLocks/>
          </p:cNvSpPr>
          <p:nvPr/>
        </p:nvSpPr>
        <p:spPr bwMode="auto">
          <a:xfrm>
            <a:off x="4554538" y="6594475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4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96" name="Google Shape;918;p6">
            <a:extLst>
              <a:ext uri="{FF2B5EF4-FFF2-40B4-BE49-F238E27FC236}">
                <a16:creationId xmlns:a16="http://schemas.microsoft.com/office/drawing/2014/main" id="{B9DB0E4E-1BF1-BBDB-887C-C5817BFC4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sp>
        <p:nvSpPr>
          <p:cNvPr id="7198" name="Google Shape;945;p6">
            <a:extLst>
              <a:ext uri="{FF2B5EF4-FFF2-40B4-BE49-F238E27FC236}">
                <a16:creationId xmlns:a16="http://schemas.microsoft.com/office/drawing/2014/main" id="{75D3CB4D-25EC-646B-1C96-54FA8BBED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2023-2024</a:t>
            </a:r>
            <a:endParaRPr lang="fr-FR" altLang="fr-FR" sz="1200" dirty="0"/>
          </a:p>
        </p:txBody>
      </p:sp>
      <p:sp>
        <p:nvSpPr>
          <p:cNvPr id="51" name="Google Shape;751;p3">
            <a:extLst>
              <a:ext uri="{FF2B5EF4-FFF2-40B4-BE49-F238E27FC236}">
                <a16:creationId xmlns:a16="http://schemas.microsoft.com/office/drawing/2014/main" id="{656FC0DA-BFCA-F177-EEF0-0C36E4FCC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5200" y="246063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 dirty="0"/>
          </a:p>
        </p:txBody>
      </p:sp>
      <p:sp>
        <p:nvSpPr>
          <p:cNvPr id="53" name="Google Shape;752;p3">
            <a:extLst>
              <a:ext uri="{FF2B5EF4-FFF2-40B4-BE49-F238E27FC236}">
                <a16:creationId xmlns:a16="http://schemas.microsoft.com/office/drawing/2014/main" id="{C393E50F-A33A-CEEC-BC10-F65434A10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7338" y="250825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 dirty="0"/>
          </a:p>
        </p:txBody>
      </p:sp>
      <p:sp>
        <p:nvSpPr>
          <p:cNvPr id="56" name="Google Shape;753;p3">
            <a:extLst>
              <a:ext uri="{FF2B5EF4-FFF2-40B4-BE49-F238E27FC236}">
                <a16:creationId xmlns:a16="http://schemas.microsoft.com/office/drawing/2014/main" id="{26D7BD50-30E8-1119-4A92-81C59E544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3600" y="238125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 dirty="0"/>
          </a:p>
        </p:txBody>
      </p:sp>
      <p:grpSp>
        <p:nvGrpSpPr>
          <p:cNvPr id="58" name="Google Shape;754;p3">
            <a:extLst>
              <a:ext uri="{FF2B5EF4-FFF2-40B4-BE49-F238E27FC236}">
                <a16:creationId xmlns:a16="http://schemas.microsoft.com/office/drawing/2014/main" id="{12A7FB9D-76F0-3BF0-AFCB-B57ED43B6D93}"/>
              </a:ext>
            </a:extLst>
          </p:cNvPr>
          <p:cNvGrpSpPr>
            <a:grpSpLocks/>
          </p:cNvGrpSpPr>
          <p:nvPr/>
        </p:nvGrpSpPr>
        <p:grpSpPr bwMode="auto">
          <a:xfrm>
            <a:off x="1511300" y="241300"/>
            <a:ext cx="7723188" cy="503238"/>
            <a:chOff x="841108" y="1294357"/>
            <a:chExt cx="7475309" cy="508077"/>
          </a:xfrm>
        </p:grpSpPr>
        <p:sp>
          <p:nvSpPr>
            <p:cNvPr id="60" name="Google Shape;755;p3">
              <a:extLst>
                <a:ext uri="{FF2B5EF4-FFF2-40B4-BE49-F238E27FC236}">
                  <a16:creationId xmlns:a16="http://schemas.microsoft.com/office/drawing/2014/main" id="{6C86EE95-F512-934C-6BD8-1D45F6B9774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833138" y="1294357"/>
              <a:ext cx="648327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62" name="Google Shape;756;p3">
              <a:extLst>
                <a:ext uri="{FF2B5EF4-FFF2-40B4-BE49-F238E27FC236}">
                  <a16:creationId xmlns:a16="http://schemas.microsoft.com/office/drawing/2014/main" id="{E8AB371D-4D6D-6659-7EB5-87D2B07F86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63" name="Google Shape;757;p3">
              <a:extLst>
                <a:ext uri="{FF2B5EF4-FFF2-40B4-BE49-F238E27FC236}">
                  <a16:creationId xmlns:a16="http://schemas.microsoft.com/office/drawing/2014/main" id="{4E01725F-5F76-2ED2-7F15-40D67D45A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64" name="Google Shape;758;p3">
            <a:extLst>
              <a:ext uri="{FF2B5EF4-FFF2-40B4-BE49-F238E27FC236}">
                <a16:creationId xmlns:a16="http://schemas.microsoft.com/office/drawing/2014/main" id="{2C9F0D01-B4DA-0414-1C53-4A4695241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65" name="Google Shape;759;p3">
            <a:extLst>
              <a:ext uri="{FF2B5EF4-FFF2-40B4-BE49-F238E27FC236}">
                <a16:creationId xmlns:a16="http://schemas.microsoft.com/office/drawing/2014/main" id="{4AC50EAA-D500-B6C9-0B3B-8758E6F20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4488" y="247650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 dirty="0"/>
          </a:p>
        </p:txBody>
      </p:sp>
      <p:sp>
        <p:nvSpPr>
          <p:cNvPr id="66" name="Google Shape;760;p3">
            <a:extLst>
              <a:ext uri="{FF2B5EF4-FFF2-40B4-BE49-F238E27FC236}">
                <a16:creationId xmlns:a16="http://schemas.microsoft.com/office/drawing/2014/main" id="{EF53DB83-AF06-C3B3-A0BB-D0AA95307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6350" y="295275"/>
            <a:ext cx="6503865" cy="400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20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 Présentation de l’organisme d’accueil</a:t>
            </a:r>
          </a:p>
        </p:txBody>
      </p:sp>
      <p:sp>
        <p:nvSpPr>
          <p:cNvPr id="67" name="Google Shape;816;p3">
            <a:extLst>
              <a:ext uri="{FF2B5EF4-FFF2-40B4-BE49-F238E27FC236}">
                <a16:creationId xmlns:a16="http://schemas.microsoft.com/office/drawing/2014/main" id="{170E982C-0C4E-A4F0-98FE-72B2A5254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0975" y="238125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 dirty="0"/>
          </a:p>
        </p:txBody>
      </p:sp>
      <p:sp>
        <p:nvSpPr>
          <p:cNvPr id="68" name="Google Shape;2137;p41">
            <a:extLst>
              <a:ext uri="{FF2B5EF4-FFF2-40B4-BE49-F238E27FC236}">
                <a16:creationId xmlns:a16="http://schemas.microsoft.com/office/drawing/2014/main" id="{540CC09E-079A-6AD2-9EE7-9194E11E2D60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630988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0" name="Google Shape;2156;p41">
            <a:extLst>
              <a:ext uri="{FF2B5EF4-FFF2-40B4-BE49-F238E27FC236}">
                <a16:creationId xmlns:a16="http://schemas.microsoft.com/office/drawing/2014/main" id="{84B48316-BEFB-62CC-7777-5EC653D13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7288" y="662499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dirty="0"/>
          </a:p>
        </p:txBody>
      </p:sp>
      <p:sp>
        <p:nvSpPr>
          <p:cNvPr id="71" name="Google Shape;159;p2">
            <a:extLst>
              <a:ext uri="{FF2B5EF4-FFF2-40B4-BE49-F238E27FC236}">
                <a16:creationId xmlns:a16="http://schemas.microsoft.com/office/drawing/2014/main" id="{B2CF1E44-EFF7-9789-A79F-E4DFA1A4B55C}"/>
              </a:ext>
            </a:extLst>
          </p:cNvPr>
          <p:cNvSpPr txBox="1">
            <a:spLocks/>
          </p:cNvSpPr>
          <p:nvPr/>
        </p:nvSpPr>
        <p:spPr bwMode="auto">
          <a:xfrm>
            <a:off x="10275888" y="6619875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3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7" name="Image 6" descr="Deloitte recrute recrute des Techniciens Support IT - Dreamjob.ma">
            <a:extLst>
              <a:ext uri="{FF2B5EF4-FFF2-40B4-BE49-F238E27FC236}">
                <a16:creationId xmlns:a16="http://schemas.microsoft.com/office/drawing/2014/main" id="{C66F9661-BF8B-6B5C-A7D6-B8B690122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26" y="1443493"/>
            <a:ext cx="4253530" cy="222601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51E09FC-82DF-8AB3-C83C-4904EEC6C8A5}"/>
              </a:ext>
            </a:extLst>
          </p:cNvPr>
          <p:cNvSpPr txBox="1"/>
          <p:nvPr/>
        </p:nvSpPr>
        <p:spPr>
          <a:xfrm>
            <a:off x="0" y="6622892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66436F9-39D0-D0C9-74B8-9386BC182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835" y="1480517"/>
            <a:ext cx="5125165" cy="488700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A13388C0-448E-E4C2-6401-1DEE75C10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033" y="3854095"/>
            <a:ext cx="6697010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49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DB8F4-C8EC-1ED5-DFCA-DCF7EE13F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83;p8">
            <a:extLst>
              <a:ext uri="{FF2B5EF4-FFF2-40B4-BE49-F238E27FC236}">
                <a16:creationId xmlns:a16="http://schemas.microsoft.com/office/drawing/2014/main" id="{180601E1-07C1-FA53-CF0D-8CDA9B4A7B52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2888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4" name="Google Shape;985;p8">
            <a:extLst>
              <a:ext uri="{FF2B5EF4-FFF2-40B4-BE49-F238E27FC236}">
                <a16:creationId xmlns:a16="http://schemas.microsoft.com/office/drawing/2014/main" id="{44530B48-EEF7-1B36-135D-8C4B53A83D14}"/>
              </a:ext>
            </a:extLst>
          </p:cNvPr>
          <p:cNvGrpSpPr>
            <a:grpSpLocks/>
          </p:cNvGrpSpPr>
          <p:nvPr/>
        </p:nvGrpSpPr>
        <p:grpSpPr bwMode="auto">
          <a:xfrm>
            <a:off x="2397125" y="207963"/>
            <a:ext cx="7024688" cy="504825"/>
            <a:chOff x="841108" y="1294357"/>
            <a:chExt cx="7475308" cy="508077"/>
          </a:xfrm>
        </p:grpSpPr>
        <p:sp>
          <p:nvSpPr>
            <p:cNvPr id="17434" name="Google Shape;986;p8">
              <a:extLst>
                <a:ext uri="{FF2B5EF4-FFF2-40B4-BE49-F238E27FC236}">
                  <a16:creationId xmlns:a16="http://schemas.microsoft.com/office/drawing/2014/main" id="{5268AA42-E27C-4D1E-E04B-0A898E2E3BE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579238" y="1294357"/>
              <a:ext cx="669394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17435" name="Google Shape;987;p8">
              <a:extLst>
                <a:ext uri="{FF2B5EF4-FFF2-40B4-BE49-F238E27FC236}">
                  <a16:creationId xmlns:a16="http://schemas.microsoft.com/office/drawing/2014/main" id="{8B43241B-B346-35BC-AB71-C07068E6C4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17436" name="Google Shape;988;p8">
              <a:extLst>
                <a:ext uri="{FF2B5EF4-FFF2-40B4-BE49-F238E27FC236}">
                  <a16:creationId xmlns:a16="http://schemas.microsoft.com/office/drawing/2014/main" id="{27FBA569-6851-3A74-9FD8-5EA2CD23F7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7413" name="Google Shape;989;p8">
            <a:extLst>
              <a:ext uri="{FF2B5EF4-FFF2-40B4-BE49-F238E27FC236}">
                <a16:creationId xmlns:a16="http://schemas.microsoft.com/office/drawing/2014/main" id="{4D5DD184-FFEA-D221-76C6-CEB548EB0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7" y="254000"/>
            <a:ext cx="5894631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 du projet et étude de l’existant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7414" name="Google Shape;990;p8">
            <a:extLst>
              <a:ext uri="{FF2B5EF4-FFF2-40B4-BE49-F238E27FC236}">
                <a16:creationId xmlns:a16="http://schemas.microsoft.com/office/drawing/2014/main" id="{325C5822-75C8-1867-7E51-D7B942F4E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263" y="201613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17415" name="Google Shape;991;p8">
            <a:extLst>
              <a:ext uri="{FF2B5EF4-FFF2-40B4-BE49-F238E27FC236}">
                <a16:creationId xmlns:a16="http://schemas.microsoft.com/office/drawing/2014/main" id="{E0CFCE91-6F12-0094-33CA-66C827C38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6638" y="198438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17416" name="Google Shape;992;p8">
            <a:extLst>
              <a:ext uri="{FF2B5EF4-FFF2-40B4-BE49-F238E27FC236}">
                <a16:creationId xmlns:a16="http://schemas.microsoft.com/office/drawing/2014/main" id="{0FF48617-175D-B4B5-A591-77105F9DF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2900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17417" name="Google Shape;993;p8">
            <a:extLst>
              <a:ext uri="{FF2B5EF4-FFF2-40B4-BE49-F238E27FC236}">
                <a16:creationId xmlns:a16="http://schemas.microsoft.com/office/drawing/2014/main" id="{B5ADCDA2-B761-4359-9FE6-87C66978A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204788"/>
            <a:ext cx="458787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17418" name="Google Shape;994;p8">
            <a:extLst>
              <a:ext uri="{FF2B5EF4-FFF2-40B4-BE49-F238E27FC236}">
                <a16:creationId xmlns:a16="http://schemas.microsoft.com/office/drawing/2014/main" id="{A134898C-EDF6-D721-A2C4-7FE4BA577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1613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17419" name="Google Shape;995;p8">
            <a:extLst>
              <a:ext uri="{FF2B5EF4-FFF2-40B4-BE49-F238E27FC236}">
                <a16:creationId xmlns:a16="http://schemas.microsoft.com/office/drawing/2014/main" id="{CF435BD0-E2D9-33E5-63AD-E32DE0E23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8213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17424" name="Google Shape;1001;p8">
            <a:extLst>
              <a:ext uri="{FF2B5EF4-FFF2-40B4-BE49-F238E27FC236}">
                <a16:creationId xmlns:a16="http://schemas.microsoft.com/office/drawing/2014/main" id="{32500078-79B6-38B8-C98B-E04BF806213F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3988423" y="849812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427" name="Google Shape;1005;p8">
            <a:extLst>
              <a:ext uri="{FF2B5EF4-FFF2-40B4-BE49-F238E27FC236}">
                <a16:creationId xmlns:a16="http://schemas.microsoft.com/office/drawing/2014/main" id="{4D1C8CF4-3508-E686-C355-43344699E06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431463" y="6589714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4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28" name="Google Shape;1006;p8">
            <a:extLst>
              <a:ext uri="{FF2B5EF4-FFF2-40B4-BE49-F238E27FC236}">
                <a16:creationId xmlns:a16="http://schemas.microsoft.com/office/drawing/2014/main" id="{03E32B74-4BB5-183A-4037-19767000A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6590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6" name="Google Shape;747;p3">
            <a:extLst>
              <a:ext uri="{FF2B5EF4-FFF2-40B4-BE49-F238E27FC236}">
                <a16:creationId xmlns:a16="http://schemas.microsoft.com/office/drawing/2014/main" id="{504B6007-0EC4-D678-8C80-408859B19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729" y="985838"/>
            <a:ext cx="1392238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Google Shape;763;p3">
            <a:extLst>
              <a:ext uri="{FF2B5EF4-FFF2-40B4-BE49-F238E27FC236}">
                <a16:creationId xmlns:a16="http://schemas.microsoft.com/office/drawing/2014/main" id="{25FFB3E1-F9CB-DF46-0FA1-F914150D4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729" y="1043870"/>
            <a:ext cx="1331912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18" name="Google Shape;817;p3">
            <a:extLst>
              <a:ext uri="{FF2B5EF4-FFF2-40B4-BE49-F238E27FC236}">
                <a16:creationId xmlns:a16="http://schemas.microsoft.com/office/drawing/2014/main" id="{3D259DE0-210B-B3DB-6B4B-11D8D1EF2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22" y="1015547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Problématique</a:t>
            </a:r>
            <a:endParaRPr lang="fr-FR" altLang="fr-FR" sz="1200" dirty="0"/>
          </a:p>
        </p:txBody>
      </p:sp>
      <p:sp>
        <p:nvSpPr>
          <p:cNvPr id="19" name="Google Shape;765;p3">
            <a:extLst>
              <a:ext uri="{FF2B5EF4-FFF2-40B4-BE49-F238E27FC236}">
                <a16:creationId xmlns:a16="http://schemas.microsoft.com/office/drawing/2014/main" id="{A65EE842-849D-C27E-C58F-D9612C57C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194" y="98589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" name="Google Shape;817;p3">
            <a:extLst>
              <a:ext uri="{FF2B5EF4-FFF2-40B4-BE49-F238E27FC236}">
                <a16:creationId xmlns:a16="http://schemas.microsoft.com/office/drawing/2014/main" id="{58500834-E9F8-420E-A0DF-816FE3FAD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543" y="1038626"/>
            <a:ext cx="1373188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Étude de l’existant</a:t>
            </a:r>
            <a:endParaRPr lang="fr-FR" altLang="fr-FR" sz="1200" dirty="0"/>
          </a:p>
        </p:txBody>
      </p:sp>
      <p:sp>
        <p:nvSpPr>
          <p:cNvPr id="21" name="Google Shape;765;p3">
            <a:extLst>
              <a:ext uri="{FF2B5EF4-FFF2-40B4-BE49-F238E27FC236}">
                <a16:creationId xmlns:a16="http://schemas.microsoft.com/office/drawing/2014/main" id="{3EF5C46B-60A2-C1C6-3D7D-E78899AEE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22" y="99258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9F4B04A-AAC7-EB53-2E46-8234AC840A17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48" name="Picture 2" descr="Medical oncology concept icon. Hospital virus therapy. Medication of tumor  disease. Cancer treatment idea thin line illustration. Vector isolated outl  Stock Vector Image &amp; Art - Alamy">
            <a:extLst>
              <a:ext uri="{FF2B5EF4-FFF2-40B4-BE49-F238E27FC236}">
                <a16:creationId xmlns:a16="http://schemas.microsoft.com/office/drawing/2014/main" id="{8991B32D-6B05-6B72-6ADE-F66AD29CF3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8" t="-1319" r="708" b="23657"/>
          <a:stretch/>
        </p:blipFill>
        <p:spPr bwMode="auto">
          <a:xfrm>
            <a:off x="7950933" y="1688190"/>
            <a:ext cx="1732821" cy="1500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2" descr="Pharmaceutique - Icônes médical gratuites">
            <a:extLst>
              <a:ext uri="{FF2B5EF4-FFF2-40B4-BE49-F238E27FC236}">
                <a16:creationId xmlns:a16="http://schemas.microsoft.com/office/drawing/2014/main" id="{0528AB5F-D56B-DE95-C0EA-A9321156F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222" y="1806615"/>
            <a:ext cx="847413" cy="84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World Icon">
            <a:extLst>
              <a:ext uri="{FF2B5EF4-FFF2-40B4-BE49-F238E27FC236}">
                <a16:creationId xmlns:a16="http://schemas.microsoft.com/office/drawing/2014/main" id="{4B44D82D-C8F7-E93A-8564-9D4E033CC2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517" t="9588" r="12753" b="20642"/>
          <a:stretch/>
        </p:blipFill>
        <p:spPr bwMode="auto">
          <a:xfrm>
            <a:off x="4788779" y="3376578"/>
            <a:ext cx="1388298" cy="1222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5381DC09-B6B3-724E-40FE-5425885E7BC6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7658"/>
          <a:stretch>
            <a:fillRect/>
          </a:stretch>
        </p:blipFill>
        <p:spPr>
          <a:xfrm>
            <a:off x="7951993" y="3440120"/>
            <a:ext cx="2004341" cy="880415"/>
          </a:xfrm>
          <a:prstGeom prst="rect">
            <a:avLst/>
          </a:prstGeom>
        </p:spPr>
      </p:pic>
      <p:sp>
        <p:nvSpPr>
          <p:cNvPr id="56" name="TextBox 6">
            <a:extLst>
              <a:ext uri="{FF2B5EF4-FFF2-40B4-BE49-F238E27FC236}">
                <a16:creationId xmlns:a16="http://schemas.microsoft.com/office/drawing/2014/main" id="{770EBA61-D81D-CAA7-FE88-0D8923BC4A62}"/>
              </a:ext>
            </a:extLst>
          </p:cNvPr>
          <p:cNvSpPr txBox="1"/>
          <p:nvPr/>
        </p:nvSpPr>
        <p:spPr>
          <a:xfrm>
            <a:off x="4687971" y="2719411"/>
            <a:ext cx="1831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Domaine pharmaceutique</a:t>
            </a:r>
          </a:p>
        </p:txBody>
      </p:sp>
      <p:sp>
        <p:nvSpPr>
          <p:cNvPr id="58" name="TextBox 6">
            <a:extLst>
              <a:ext uri="{FF2B5EF4-FFF2-40B4-BE49-F238E27FC236}">
                <a16:creationId xmlns:a16="http://schemas.microsoft.com/office/drawing/2014/main" id="{3610F63D-D85E-8AF8-E9A6-118790C39179}"/>
              </a:ext>
            </a:extLst>
          </p:cNvPr>
          <p:cNvSpPr txBox="1"/>
          <p:nvPr/>
        </p:nvSpPr>
        <p:spPr>
          <a:xfrm>
            <a:off x="7987364" y="4408238"/>
            <a:ext cx="18319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Chiffre d'affaires en 2024/2025</a:t>
            </a:r>
          </a:p>
        </p:txBody>
      </p:sp>
      <p:sp>
        <p:nvSpPr>
          <p:cNvPr id="59" name="TextBox 1">
            <a:extLst>
              <a:ext uri="{FF2B5EF4-FFF2-40B4-BE49-F238E27FC236}">
                <a16:creationId xmlns:a16="http://schemas.microsoft.com/office/drawing/2014/main" id="{F6294354-3B42-05FB-B800-6FB5916DDCEB}"/>
              </a:ext>
            </a:extLst>
          </p:cNvPr>
          <p:cNvSpPr txBox="1"/>
          <p:nvPr/>
        </p:nvSpPr>
        <p:spPr>
          <a:xfrm>
            <a:off x="4505612" y="4575215"/>
            <a:ext cx="1831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140 filiales</a:t>
            </a:r>
          </a:p>
        </p:txBody>
      </p:sp>
      <p:sp>
        <p:nvSpPr>
          <p:cNvPr id="5125" name="AutoShape 2" descr="Sales Order Vector Icon - [Free Download] - (SVG and PNG)">
            <a:extLst>
              <a:ext uri="{FF2B5EF4-FFF2-40B4-BE49-F238E27FC236}">
                <a16:creationId xmlns:a16="http://schemas.microsoft.com/office/drawing/2014/main" id="{9EC01F6C-01B1-1B65-D864-593195ACBF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5126" name="Image 5125">
            <a:extLst>
              <a:ext uri="{FF2B5EF4-FFF2-40B4-BE49-F238E27FC236}">
                <a16:creationId xmlns:a16="http://schemas.microsoft.com/office/drawing/2014/main" id="{52BB0B75-7414-1988-D2BF-EA5CC43ACEE6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55654" y="5192208"/>
            <a:ext cx="876010" cy="983067"/>
          </a:xfrm>
          <a:prstGeom prst="rect">
            <a:avLst/>
          </a:prstGeom>
        </p:spPr>
      </p:pic>
      <p:pic>
        <p:nvPicPr>
          <p:cNvPr id="5127" name="Image 5126">
            <a:extLst>
              <a:ext uri="{FF2B5EF4-FFF2-40B4-BE49-F238E27FC236}">
                <a16:creationId xmlns:a16="http://schemas.microsoft.com/office/drawing/2014/main" id="{657097C4-75DC-5AA0-07DC-56D9C672BE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261" y="2740127"/>
            <a:ext cx="2194018" cy="2194018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299D0F85-81B4-E009-D127-21A6753DCEDD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70446" y="5076810"/>
            <a:ext cx="1168817" cy="1168817"/>
          </a:xfrm>
          <a:prstGeom prst="rect">
            <a:avLst/>
          </a:prstGeom>
        </p:spPr>
      </p:pic>
      <p:pic>
        <p:nvPicPr>
          <p:cNvPr id="8" name="Graphique 7" descr="Flèche vers la droite contour">
            <a:extLst>
              <a:ext uri="{FF2B5EF4-FFF2-40B4-BE49-F238E27FC236}">
                <a16:creationId xmlns:a16="http://schemas.microsoft.com/office/drawing/2014/main" id="{D496E6F2-BB77-3C7A-1418-40040F4BC5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78239" y="3488968"/>
            <a:ext cx="914400" cy="914400"/>
          </a:xfrm>
          <a:prstGeom prst="rect">
            <a:avLst/>
          </a:prstGeom>
        </p:spPr>
      </p:pic>
      <p:pic>
        <p:nvPicPr>
          <p:cNvPr id="10" name="Graphique 9" descr="Flèche vers la droite contour">
            <a:extLst>
              <a:ext uri="{FF2B5EF4-FFF2-40B4-BE49-F238E27FC236}">
                <a16:creationId xmlns:a16="http://schemas.microsoft.com/office/drawing/2014/main" id="{23B98273-A427-405B-900E-66EA424776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78239" y="1912236"/>
            <a:ext cx="914400" cy="914400"/>
          </a:xfrm>
          <a:prstGeom prst="rect">
            <a:avLst/>
          </a:prstGeom>
        </p:spPr>
      </p:pic>
      <p:pic>
        <p:nvPicPr>
          <p:cNvPr id="11" name="Graphique 10" descr="Flèche vers la droite contour">
            <a:extLst>
              <a:ext uri="{FF2B5EF4-FFF2-40B4-BE49-F238E27FC236}">
                <a16:creationId xmlns:a16="http://schemas.microsoft.com/office/drawing/2014/main" id="{6565936C-10BB-1B29-23FB-D062AB8199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26294" y="5150444"/>
            <a:ext cx="914400" cy="914400"/>
          </a:xfrm>
          <a:prstGeom prst="rect">
            <a:avLst/>
          </a:prstGeom>
        </p:spPr>
      </p:pic>
      <p:pic>
        <p:nvPicPr>
          <p:cNvPr id="12" name="Graphique 11" descr="Flèche vers la droite contour">
            <a:extLst>
              <a:ext uri="{FF2B5EF4-FFF2-40B4-BE49-F238E27FC236}">
                <a16:creationId xmlns:a16="http://schemas.microsoft.com/office/drawing/2014/main" id="{000938DF-9612-1CA7-E09C-5C6D8D0E5A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8705858">
            <a:off x="2409041" y="2971799"/>
            <a:ext cx="2636622" cy="914400"/>
          </a:xfrm>
          <a:prstGeom prst="rect">
            <a:avLst/>
          </a:prstGeom>
        </p:spPr>
      </p:pic>
      <p:pic>
        <p:nvPicPr>
          <p:cNvPr id="13" name="Graphique 12" descr="Flèche vers la droite contour">
            <a:extLst>
              <a:ext uri="{FF2B5EF4-FFF2-40B4-BE49-F238E27FC236}">
                <a16:creationId xmlns:a16="http://schemas.microsoft.com/office/drawing/2014/main" id="{3D12EBEA-3698-4674-ACFB-2BB30AD94E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40123" y="3840909"/>
            <a:ext cx="1820771" cy="914400"/>
          </a:xfrm>
          <a:prstGeom prst="rect">
            <a:avLst/>
          </a:prstGeom>
        </p:spPr>
      </p:pic>
      <p:pic>
        <p:nvPicPr>
          <p:cNvPr id="14" name="Graphique 13" descr="Flèche vers la droite contour">
            <a:extLst>
              <a:ext uri="{FF2B5EF4-FFF2-40B4-BE49-F238E27FC236}">
                <a16:creationId xmlns:a16="http://schemas.microsoft.com/office/drawing/2014/main" id="{CC505E53-7334-892B-8DB5-0617046294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614326">
            <a:off x="2529419" y="4561947"/>
            <a:ext cx="2433001" cy="914400"/>
          </a:xfrm>
          <a:prstGeom prst="rect">
            <a:avLst/>
          </a:prstGeom>
        </p:spPr>
      </p:pic>
      <p:sp>
        <p:nvSpPr>
          <p:cNvPr id="3" name="Google Shape;765;p3">
            <a:extLst>
              <a:ext uri="{FF2B5EF4-FFF2-40B4-BE49-F238E27FC236}">
                <a16:creationId xmlns:a16="http://schemas.microsoft.com/office/drawing/2014/main" id="{F40B68AA-5FB4-00B9-5F0D-2E6ADCE31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364" y="992528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5" name="Google Shape;817;p3">
            <a:extLst>
              <a:ext uri="{FF2B5EF4-FFF2-40B4-BE49-F238E27FC236}">
                <a16:creationId xmlns:a16="http://schemas.microsoft.com/office/drawing/2014/main" id="{ADD8C4E3-96E4-2A76-158A-280A07F1D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076" y="1005842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Solution</a:t>
            </a:r>
            <a:endParaRPr lang="fr-FR" altLang="fr-FR" sz="12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C934320-18CB-1A9D-80EC-06A87E61B313}"/>
              </a:ext>
            </a:extLst>
          </p:cNvPr>
          <p:cNvSpPr txBox="1"/>
          <p:nvPr/>
        </p:nvSpPr>
        <p:spPr>
          <a:xfrm>
            <a:off x="5032329" y="6183720"/>
            <a:ext cx="1143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ORDER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0884F9B-5BB5-82EB-3B33-E1EF43BE40DA}"/>
              </a:ext>
            </a:extLst>
          </p:cNvPr>
          <p:cNvSpPr txBox="1"/>
          <p:nvPr/>
        </p:nvSpPr>
        <p:spPr>
          <a:xfrm>
            <a:off x="8389477" y="6206342"/>
            <a:ext cx="13795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Automatisation</a:t>
            </a:r>
          </a:p>
        </p:txBody>
      </p:sp>
    </p:spTree>
    <p:extLst>
      <p:ext uri="{BB962C8B-B14F-4D97-AF65-F5344CB8AC3E}">
        <p14:creationId xmlns:p14="http://schemas.microsoft.com/office/powerpoint/2010/main" val="3680314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79A13-2BD0-955F-1F74-1E13AEAF0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83;p8">
            <a:extLst>
              <a:ext uri="{FF2B5EF4-FFF2-40B4-BE49-F238E27FC236}">
                <a16:creationId xmlns:a16="http://schemas.microsoft.com/office/drawing/2014/main" id="{D8C19189-D623-03F7-4435-98A118EA35CE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2888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4" name="Google Shape;985;p8">
            <a:extLst>
              <a:ext uri="{FF2B5EF4-FFF2-40B4-BE49-F238E27FC236}">
                <a16:creationId xmlns:a16="http://schemas.microsoft.com/office/drawing/2014/main" id="{40EB59A5-1B9A-06DD-7CFE-0CBAF910671E}"/>
              </a:ext>
            </a:extLst>
          </p:cNvPr>
          <p:cNvGrpSpPr>
            <a:grpSpLocks/>
          </p:cNvGrpSpPr>
          <p:nvPr/>
        </p:nvGrpSpPr>
        <p:grpSpPr bwMode="auto">
          <a:xfrm>
            <a:off x="2397125" y="207963"/>
            <a:ext cx="7024688" cy="504825"/>
            <a:chOff x="841108" y="1294357"/>
            <a:chExt cx="7475308" cy="508077"/>
          </a:xfrm>
        </p:grpSpPr>
        <p:sp>
          <p:nvSpPr>
            <p:cNvPr id="17434" name="Google Shape;986;p8">
              <a:extLst>
                <a:ext uri="{FF2B5EF4-FFF2-40B4-BE49-F238E27FC236}">
                  <a16:creationId xmlns:a16="http://schemas.microsoft.com/office/drawing/2014/main" id="{F230F29A-1BC7-D512-5B67-1A17F3C255F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579238" y="1294357"/>
              <a:ext cx="669394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17435" name="Google Shape;987;p8">
              <a:extLst>
                <a:ext uri="{FF2B5EF4-FFF2-40B4-BE49-F238E27FC236}">
                  <a16:creationId xmlns:a16="http://schemas.microsoft.com/office/drawing/2014/main" id="{E2DA3289-EA63-B54B-D389-97EE2A01D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17436" name="Google Shape;988;p8">
              <a:extLst>
                <a:ext uri="{FF2B5EF4-FFF2-40B4-BE49-F238E27FC236}">
                  <a16:creationId xmlns:a16="http://schemas.microsoft.com/office/drawing/2014/main" id="{43B6B776-D79C-E0C1-AC6D-BDB947DBE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7413" name="Google Shape;989;p8">
            <a:extLst>
              <a:ext uri="{FF2B5EF4-FFF2-40B4-BE49-F238E27FC236}">
                <a16:creationId xmlns:a16="http://schemas.microsoft.com/office/drawing/2014/main" id="{5E601888-9535-2F09-73B7-03DA68CF9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7" y="254000"/>
            <a:ext cx="5894631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 du projet et étude de l’existant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7414" name="Google Shape;990;p8">
            <a:extLst>
              <a:ext uri="{FF2B5EF4-FFF2-40B4-BE49-F238E27FC236}">
                <a16:creationId xmlns:a16="http://schemas.microsoft.com/office/drawing/2014/main" id="{B48EBDE6-3DE1-E8F0-3193-7FFDC96AD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263" y="201613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17415" name="Google Shape;991;p8">
            <a:extLst>
              <a:ext uri="{FF2B5EF4-FFF2-40B4-BE49-F238E27FC236}">
                <a16:creationId xmlns:a16="http://schemas.microsoft.com/office/drawing/2014/main" id="{54D0E7CC-9719-906A-C8DE-5263AF39D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6638" y="198438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17416" name="Google Shape;992;p8">
            <a:extLst>
              <a:ext uri="{FF2B5EF4-FFF2-40B4-BE49-F238E27FC236}">
                <a16:creationId xmlns:a16="http://schemas.microsoft.com/office/drawing/2014/main" id="{B2CA721D-AAE5-D7E2-97F4-E93BCCF25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2900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17417" name="Google Shape;993;p8">
            <a:extLst>
              <a:ext uri="{FF2B5EF4-FFF2-40B4-BE49-F238E27FC236}">
                <a16:creationId xmlns:a16="http://schemas.microsoft.com/office/drawing/2014/main" id="{7F2AD4F1-BA0E-310B-8DA8-E757D180C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204788"/>
            <a:ext cx="458787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17418" name="Google Shape;994;p8">
            <a:extLst>
              <a:ext uri="{FF2B5EF4-FFF2-40B4-BE49-F238E27FC236}">
                <a16:creationId xmlns:a16="http://schemas.microsoft.com/office/drawing/2014/main" id="{8108E9B0-5E54-012E-7E1A-495C820B1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1613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17419" name="Google Shape;995;p8">
            <a:extLst>
              <a:ext uri="{FF2B5EF4-FFF2-40B4-BE49-F238E27FC236}">
                <a16:creationId xmlns:a16="http://schemas.microsoft.com/office/drawing/2014/main" id="{81FE0B18-365D-B5BE-6138-DE5C2BFE5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8213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17424" name="Google Shape;1001;p8">
            <a:extLst>
              <a:ext uri="{FF2B5EF4-FFF2-40B4-BE49-F238E27FC236}">
                <a16:creationId xmlns:a16="http://schemas.microsoft.com/office/drawing/2014/main" id="{5A787602-0CF6-CDD3-E77A-FB7B76E6E9EA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3988423" y="849812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427" name="Google Shape;1005;p8">
            <a:extLst>
              <a:ext uri="{FF2B5EF4-FFF2-40B4-BE49-F238E27FC236}">
                <a16:creationId xmlns:a16="http://schemas.microsoft.com/office/drawing/2014/main" id="{755476FB-8B40-DA5D-F37A-A2C5D2CB837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431463" y="6589714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4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28" name="Google Shape;1006;p8">
            <a:extLst>
              <a:ext uri="{FF2B5EF4-FFF2-40B4-BE49-F238E27FC236}">
                <a16:creationId xmlns:a16="http://schemas.microsoft.com/office/drawing/2014/main" id="{18F30B5E-B82B-FED3-7642-DB4C32F93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6590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6" name="Google Shape;747;p3">
            <a:extLst>
              <a:ext uri="{FF2B5EF4-FFF2-40B4-BE49-F238E27FC236}">
                <a16:creationId xmlns:a16="http://schemas.microsoft.com/office/drawing/2014/main" id="{D0475F95-D0BD-60B6-E8EC-2E758488D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729" y="985838"/>
            <a:ext cx="1392238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Google Shape;763;p3">
            <a:extLst>
              <a:ext uri="{FF2B5EF4-FFF2-40B4-BE49-F238E27FC236}">
                <a16:creationId xmlns:a16="http://schemas.microsoft.com/office/drawing/2014/main" id="{65CA5402-889F-C291-E5D2-A11B322FD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729" y="1043870"/>
            <a:ext cx="1331912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18" name="Google Shape;817;p3">
            <a:extLst>
              <a:ext uri="{FF2B5EF4-FFF2-40B4-BE49-F238E27FC236}">
                <a16:creationId xmlns:a16="http://schemas.microsoft.com/office/drawing/2014/main" id="{AC16CCA6-1308-F9E1-62FB-CBB51496F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22" y="1015547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Problématique</a:t>
            </a:r>
            <a:endParaRPr lang="fr-FR" altLang="fr-FR" sz="1200" dirty="0"/>
          </a:p>
        </p:txBody>
      </p:sp>
      <p:sp>
        <p:nvSpPr>
          <p:cNvPr id="19" name="Google Shape;765;p3">
            <a:extLst>
              <a:ext uri="{FF2B5EF4-FFF2-40B4-BE49-F238E27FC236}">
                <a16:creationId xmlns:a16="http://schemas.microsoft.com/office/drawing/2014/main" id="{83DB77A2-19E8-133F-AF7A-0FADC358E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194" y="98589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" name="Google Shape;817;p3">
            <a:extLst>
              <a:ext uri="{FF2B5EF4-FFF2-40B4-BE49-F238E27FC236}">
                <a16:creationId xmlns:a16="http://schemas.microsoft.com/office/drawing/2014/main" id="{C50D3F03-9595-6BEE-D483-CD5E98ED0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543" y="1038626"/>
            <a:ext cx="1373188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Étude de l’existant</a:t>
            </a:r>
            <a:endParaRPr lang="fr-FR" altLang="fr-FR" sz="1200" dirty="0"/>
          </a:p>
        </p:txBody>
      </p:sp>
      <p:sp>
        <p:nvSpPr>
          <p:cNvPr id="21" name="Google Shape;765;p3">
            <a:extLst>
              <a:ext uri="{FF2B5EF4-FFF2-40B4-BE49-F238E27FC236}">
                <a16:creationId xmlns:a16="http://schemas.microsoft.com/office/drawing/2014/main" id="{D4AB0AE8-6522-E81C-3E92-B01725A70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22" y="99258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578A48D-2D01-98B1-E1C1-5D919339A541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48" name="Picture 2" descr="Medical oncology concept icon. Hospital virus therapy. Medication of tumor  disease. Cancer treatment idea thin line illustration. Vector isolated outl  Stock Vector Image &amp; Art - Alamy">
            <a:extLst>
              <a:ext uri="{FF2B5EF4-FFF2-40B4-BE49-F238E27FC236}">
                <a16:creationId xmlns:a16="http://schemas.microsoft.com/office/drawing/2014/main" id="{F2EB3962-1341-8A1D-9874-9488AF9BF2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8" t="-1319" r="708" b="23657"/>
          <a:stretch/>
        </p:blipFill>
        <p:spPr bwMode="auto">
          <a:xfrm>
            <a:off x="7950933" y="1688190"/>
            <a:ext cx="1732821" cy="1500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2" descr="Pharmaceutique - Icônes médical gratuites">
            <a:extLst>
              <a:ext uri="{FF2B5EF4-FFF2-40B4-BE49-F238E27FC236}">
                <a16:creationId xmlns:a16="http://schemas.microsoft.com/office/drawing/2014/main" id="{67A92C2C-DC06-1FEB-0A7A-2AA69F4B5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222" y="1806615"/>
            <a:ext cx="847413" cy="84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World Icon">
            <a:extLst>
              <a:ext uri="{FF2B5EF4-FFF2-40B4-BE49-F238E27FC236}">
                <a16:creationId xmlns:a16="http://schemas.microsoft.com/office/drawing/2014/main" id="{FC9188FC-414C-5F5C-558D-5EA3A2DC63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517" t="9588" r="12753" b="20642"/>
          <a:stretch/>
        </p:blipFill>
        <p:spPr bwMode="auto">
          <a:xfrm>
            <a:off x="4788779" y="3376578"/>
            <a:ext cx="1388298" cy="1222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DF1745B6-24FC-FA8F-0CDB-5A78EB6AD51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7658"/>
          <a:stretch>
            <a:fillRect/>
          </a:stretch>
        </p:blipFill>
        <p:spPr>
          <a:xfrm>
            <a:off x="7951993" y="3440120"/>
            <a:ext cx="2004341" cy="880415"/>
          </a:xfrm>
          <a:prstGeom prst="rect">
            <a:avLst/>
          </a:prstGeom>
        </p:spPr>
      </p:pic>
      <p:sp>
        <p:nvSpPr>
          <p:cNvPr id="56" name="TextBox 6">
            <a:extLst>
              <a:ext uri="{FF2B5EF4-FFF2-40B4-BE49-F238E27FC236}">
                <a16:creationId xmlns:a16="http://schemas.microsoft.com/office/drawing/2014/main" id="{75C4B3E2-80BB-C9C8-F215-9A1C59D5BD87}"/>
              </a:ext>
            </a:extLst>
          </p:cNvPr>
          <p:cNvSpPr txBox="1"/>
          <p:nvPr/>
        </p:nvSpPr>
        <p:spPr>
          <a:xfrm>
            <a:off x="4687971" y="2719411"/>
            <a:ext cx="1831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Domaine pharmaceutique</a:t>
            </a:r>
          </a:p>
        </p:txBody>
      </p:sp>
      <p:sp>
        <p:nvSpPr>
          <p:cNvPr id="58" name="TextBox 6">
            <a:extLst>
              <a:ext uri="{FF2B5EF4-FFF2-40B4-BE49-F238E27FC236}">
                <a16:creationId xmlns:a16="http://schemas.microsoft.com/office/drawing/2014/main" id="{39844F51-CA2D-3D20-1610-8518FBA8B381}"/>
              </a:ext>
            </a:extLst>
          </p:cNvPr>
          <p:cNvSpPr txBox="1"/>
          <p:nvPr/>
        </p:nvSpPr>
        <p:spPr>
          <a:xfrm>
            <a:off x="7987364" y="4408238"/>
            <a:ext cx="18319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Chiffre d'affaires en 2024/2025</a:t>
            </a:r>
          </a:p>
        </p:txBody>
      </p:sp>
      <p:sp>
        <p:nvSpPr>
          <p:cNvPr id="59" name="TextBox 1">
            <a:extLst>
              <a:ext uri="{FF2B5EF4-FFF2-40B4-BE49-F238E27FC236}">
                <a16:creationId xmlns:a16="http://schemas.microsoft.com/office/drawing/2014/main" id="{46E6D9CC-3BF1-77C5-B16B-DFFFD0810FEC}"/>
              </a:ext>
            </a:extLst>
          </p:cNvPr>
          <p:cNvSpPr txBox="1"/>
          <p:nvPr/>
        </p:nvSpPr>
        <p:spPr>
          <a:xfrm>
            <a:off x="4505612" y="4575215"/>
            <a:ext cx="1831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140 filiales</a:t>
            </a:r>
          </a:p>
        </p:txBody>
      </p:sp>
      <p:sp>
        <p:nvSpPr>
          <p:cNvPr id="5125" name="AutoShape 2" descr="Sales Order Vector Icon - [Free Download] - (SVG and PNG)">
            <a:extLst>
              <a:ext uri="{FF2B5EF4-FFF2-40B4-BE49-F238E27FC236}">
                <a16:creationId xmlns:a16="http://schemas.microsoft.com/office/drawing/2014/main" id="{E421B5BA-D6AA-1413-B527-631571C3A7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5126" name="Image 5125">
            <a:extLst>
              <a:ext uri="{FF2B5EF4-FFF2-40B4-BE49-F238E27FC236}">
                <a16:creationId xmlns:a16="http://schemas.microsoft.com/office/drawing/2014/main" id="{E3950EF5-3120-DC78-66F8-DD3FE33D5CCD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55654" y="5192208"/>
            <a:ext cx="876010" cy="983067"/>
          </a:xfrm>
          <a:prstGeom prst="rect">
            <a:avLst/>
          </a:prstGeom>
        </p:spPr>
      </p:pic>
      <p:pic>
        <p:nvPicPr>
          <p:cNvPr id="5127" name="Image 5126">
            <a:extLst>
              <a:ext uri="{FF2B5EF4-FFF2-40B4-BE49-F238E27FC236}">
                <a16:creationId xmlns:a16="http://schemas.microsoft.com/office/drawing/2014/main" id="{1C0735B0-ADD3-C763-3571-F3D111A800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261" y="2740127"/>
            <a:ext cx="2194018" cy="2194018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8374311F-CDFE-A2CF-6C5B-B4C74F6CF4F3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70446" y="5076810"/>
            <a:ext cx="1168817" cy="1168817"/>
          </a:xfrm>
          <a:prstGeom prst="rect">
            <a:avLst/>
          </a:prstGeom>
        </p:spPr>
      </p:pic>
      <p:pic>
        <p:nvPicPr>
          <p:cNvPr id="8" name="Graphique 7" descr="Flèche vers la droite contour">
            <a:extLst>
              <a:ext uri="{FF2B5EF4-FFF2-40B4-BE49-F238E27FC236}">
                <a16:creationId xmlns:a16="http://schemas.microsoft.com/office/drawing/2014/main" id="{E9090D25-D6C5-CF85-3597-F805BED460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78239" y="3488968"/>
            <a:ext cx="914400" cy="914400"/>
          </a:xfrm>
          <a:prstGeom prst="rect">
            <a:avLst/>
          </a:prstGeom>
        </p:spPr>
      </p:pic>
      <p:pic>
        <p:nvPicPr>
          <p:cNvPr id="10" name="Graphique 9" descr="Flèche vers la droite contour">
            <a:extLst>
              <a:ext uri="{FF2B5EF4-FFF2-40B4-BE49-F238E27FC236}">
                <a16:creationId xmlns:a16="http://schemas.microsoft.com/office/drawing/2014/main" id="{A531A056-1E1F-F1FF-0F7C-B25ED42219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78239" y="1912236"/>
            <a:ext cx="914400" cy="914400"/>
          </a:xfrm>
          <a:prstGeom prst="rect">
            <a:avLst/>
          </a:prstGeom>
        </p:spPr>
      </p:pic>
      <p:pic>
        <p:nvPicPr>
          <p:cNvPr id="11" name="Graphique 10" descr="Flèche vers la droite contour">
            <a:extLst>
              <a:ext uri="{FF2B5EF4-FFF2-40B4-BE49-F238E27FC236}">
                <a16:creationId xmlns:a16="http://schemas.microsoft.com/office/drawing/2014/main" id="{0353E312-C955-B85A-C352-54334900E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26294" y="5150444"/>
            <a:ext cx="914400" cy="914400"/>
          </a:xfrm>
          <a:prstGeom prst="rect">
            <a:avLst/>
          </a:prstGeom>
        </p:spPr>
      </p:pic>
      <p:pic>
        <p:nvPicPr>
          <p:cNvPr id="12" name="Graphique 11" descr="Flèche vers la droite contour">
            <a:extLst>
              <a:ext uri="{FF2B5EF4-FFF2-40B4-BE49-F238E27FC236}">
                <a16:creationId xmlns:a16="http://schemas.microsoft.com/office/drawing/2014/main" id="{47B7F3EA-0CC3-6C86-BAD3-22914F69FD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8705858">
            <a:off x="2409041" y="2971799"/>
            <a:ext cx="2636622" cy="914400"/>
          </a:xfrm>
          <a:prstGeom prst="rect">
            <a:avLst/>
          </a:prstGeom>
        </p:spPr>
      </p:pic>
      <p:pic>
        <p:nvPicPr>
          <p:cNvPr id="13" name="Graphique 12" descr="Flèche vers la droite contour">
            <a:extLst>
              <a:ext uri="{FF2B5EF4-FFF2-40B4-BE49-F238E27FC236}">
                <a16:creationId xmlns:a16="http://schemas.microsoft.com/office/drawing/2014/main" id="{1B8E7D61-CCD9-BBB9-1236-B6390F30E6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40123" y="3840909"/>
            <a:ext cx="1820771" cy="914400"/>
          </a:xfrm>
          <a:prstGeom prst="rect">
            <a:avLst/>
          </a:prstGeom>
        </p:spPr>
      </p:pic>
      <p:pic>
        <p:nvPicPr>
          <p:cNvPr id="14" name="Graphique 13" descr="Flèche vers la droite contour">
            <a:extLst>
              <a:ext uri="{FF2B5EF4-FFF2-40B4-BE49-F238E27FC236}">
                <a16:creationId xmlns:a16="http://schemas.microsoft.com/office/drawing/2014/main" id="{F0D882F2-F3B5-9B51-2149-18777A7B0B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614326">
            <a:off x="2529419" y="4561947"/>
            <a:ext cx="2433001" cy="914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46547E-1533-7E22-7C96-7439E5A708E5}"/>
              </a:ext>
            </a:extLst>
          </p:cNvPr>
          <p:cNvSpPr/>
          <p:nvPr/>
        </p:nvSpPr>
        <p:spPr>
          <a:xfrm>
            <a:off x="4660894" y="1573206"/>
            <a:ext cx="5493047" cy="1719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Google Shape;765;p3">
            <a:extLst>
              <a:ext uri="{FF2B5EF4-FFF2-40B4-BE49-F238E27FC236}">
                <a16:creationId xmlns:a16="http://schemas.microsoft.com/office/drawing/2014/main" id="{F107400D-F716-2034-FE8B-1FA4D5596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364" y="992528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5" name="Google Shape;817;p3">
            <a:extLst>
              <a:ext uri="{FF2B5EF4-FFF2-40B4-BE49-F238E27FC236}">
                <a16:creationId xmlns:a16="http://schemas.microsoft.com/office/drawing/2014/main" id="{C1A3F531-1CB1-0DAB-444F-2B6FD9D5C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076" y="1005842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Solution</a:t>
            </a:r>
            <a:endParaRPr lang="fr-FR" altLang="fr-FR" sz="12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207D907-1FD8-F39E-44F5-DFEA0ACA1816}"/>
              </a:ext>
            </a:extLst>
          </p:cNvPr>
          <p:cNvSpPr txBox="1"/>
          <p:nvPr/>
        </p:nvSpPr>
        <p:spPr>
          <a:xfrm>
            <a:off x="5032329" y="6183720"/>
            <a:ext cx="1143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ORDER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14716AB-7D59-4240-028B-2C4F95E7BAC9}"/>
              </a:ext>
            </a:extLst>
          </p:cNvPr>
          <p:cNvSpPr txBox="1"/>
          <p:nvPr/>
        </p:nvSpPr>
        <p:spPr>
          <a:xfrm>
            <a:off x="8389477" y="6206342"/>
            <a:ext cx="13795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Automatisation</a:t>
            </a:r>
          </a:p>
        </p:txBody>
      </p:sp>
    </p:spTree>
    <p:extLst>
      <p:ext uri="{BB962C8B-B14F-4D97-AF65-F5344CB8AC3E}">
        <p14:creationId xmlns:p14="http://schemas.microsoft.com/office/powerpoint/2010/main" val="2878663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7CB25-CC28-88D3-E7CD-4422ADEAB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83;p8">
            <a:extLst>
              <a:ext uri="{FF2B5EF4-FFF2-40B4-BE49-F238E27FC236}">
                <a16:creationId xmlns:a16="http://schemas.microsoft.com/office/drawing/2014/main" id="{9962719F-4921-143A-12CF-06EB92E4651C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2888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4" name="Google Shape;985;p8">
            <a:extLst>
              <a:ext uri="{FF2B5EF4-FFF2-40B4-BE49-F238E27FC236}">
                <a16:creationId xmlns:a16="http://schemas.microsoft.com/office/drawing/2014/main" id="{0AFA89D2-6099-5615-CD48-4B162161140C}"/>
              </a:ext>
            </a:extLst>
          </p:cNvPr>
          <p:cNvGrpSpPr>
            <a:grpSpLocks/>
          </p:cNvGrpSpPr>
          <p:nvPr/>
        </p:nvGrpSpPr>
        <p:grpSpPr bwMode="auto">
          <a:xfrm>
            <a:off x="2397125" y="207963"/>
            <a:ext cx="7024688" cy="504825"/>
            <a:chOff x="841108" y="1294357"/>
            <a:chExt cx="7475308" cy="508077"/>
          </a:xfrm>
        </p:grpSpPr>
        <p:sp>
          <p:nvSpPr>
            <p:cNvPr id="17434" name="Google Shape;986;p8">
              <a:extLst>
                <a:ext uri="{FF2B5EF4-FFF2-40B4-BE49-F238E27FC236}">
                  <a16:creationId xmlns:a16="http://schemas.microsoft.com/office/drawing/2014/main" id="{9FD20397-F9ED-0976-FFA8-471867D3486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579238" y="1294357"/>
              <a:ext cx="669394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17435" name="Google Shape;987;p8">
              <a:extLst>
                <a:ext uri="{FF2B5EF4-FFF2-40B4-BE49-F238E27FC236}">
                  <a16:creationId xmlns:a16="http://schemas.microsoft.com/office/drawing/2014/main" id="{BF135702-29BA-978E-7BEE-0A8840D2AF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17436" name="Google Shape;988;p8">
              <a:extLst>
                <a:ext uri="{FF2B5EF4-FFF2-40B4-BE49-F238E27FC236}">
                  <a16:creationId xmlns:a16="http://schemas.microsoft.com/office/drawing/2014/main" id="{5CA3D6FD-278E-C21E-0283-D7B5901AA9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7413" name="Google Shape;989;p8">
            <a:extLst>
              <a:ext uri="{FF2B5EF4-FFF2-40B4-BE49-F238E27FC236}">
                <a16:creationId xmlns:a16="http://schemas.microsoft.com/office/drawing/2014/main" id="{AB7DDC45-EDB1-61AC-039E-519CE35A2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7" y="254000"/>
            <a:ext cx="5894631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 du projet et étude de l’existant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7414" name="Google Shape;990;p8">
            <a:extLst>
              <a:ext uri="{FF2B5EF4-FFF2-40B4-BE49-F238E27FC236}">
                <a16:creationId xmlns:a16="http://schemas.microsoft.com/office/drawing/2014/main" id="{335EF1A4-D449-4D10-E012-80E487767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263" y="201613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17415" name="Google Shape;991;p8">
            <a:extLst>
              <a:ext uri="{FF2B5EF4-FFF2-40B4-BE49-F238E27FC236}">
                <a16:creationId xmlns:a16="http://schemas.microsoft.com/office/drawing/2014/main" id="{D11C9AF8-5AF7-567E-4094-F6E4DDE67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6638" y="198438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17416" name="Google Shape;992;p8">
            <a:extLst>
              <a:ext uri="{FF2B5EF4-FFF2-40B4-BE49-F238E27FC236}">
                <a16:creationId xmlns:a16="http://schemas.microsoft.com/office/drawing/2014/main" id="{9854015E-754C-A422-382D-2DDF42951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2900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17417" name="Google Shape;993;p8">
            <a:extLst>
              <a:ext uri="{FF2B5EF4-FFF2-40B4-BE49-F238E27FC236}">
                <a16:creationId xmlns:a16="http://schemas.microsoft.com/office/drawing/2014/main" id="{E86210D0-CC07-1CE7-7043-C6DDA53C4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204788"/>
            <a:ext cx="458787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17418" name="Google Shape;994;p8">
            <a:extLst>
              <a:ext uri="{FF2B5EF4-FFF2-40B4-BE49-F238E27FC236}">
                <a16:creationId xmlns:a16="http://schemas.microsoft.com/office/drawing/2014/main" id="{C22EA90D-460A-2F6E-229A-A206DCD94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1613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17419" name="Google Shape;995;p8">
            <a:extLst>
              <a:ext uri="{FF2B5EF4-FFF2-40B4-BE49-F238E27FC236}">
                <a16:creationId xmlns:a16="http://schemas.microsoft.com/office/drawing/2014/main" id="{474C0C27-C4CE-DA17-97A1-C92A18104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8213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17424" name="Google Shape;1001;p8">
            <a:extLst>
              <a:ext uri="{FF2B5EF4-FFF2-40B4-BE49-F238E27FC236}">
                <a16:creationId xmlns:a16="http://schemas.microsoft.com/office/drawing/2014/main" id="{F8F347A1-4CA7-B350-F01D-657DEB460AC4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3988423" y="849812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427" name="Google Shape;1005;p8">
            <a:extLst>
              <a:ext uri="{FF2B5EF4-FFF2-40B4-BE49-F238E27FC236}">
                <a16:creationId xmlns:a16="http://schemas.microsoft.com/office/drawing/2014/main" id="{BF721268-B6CD-319B-1546-55829510CA8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431463" y="6589714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4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28" name="Google Shape;1006;p8">
            <a:extLst>
              <a:ext uri="{FF2B5EF4-FFF2-40B4-BE49-F238E27FC236}">
                <a16:creationId xmlns:a16="http://schemas.microsoft.com/office/drawing/2014/main" id="{5E2CE884-19DC-6374-5DA5-EB7461D9C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6590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6" name="Google Shape;747;p3">
            <a:extLst>
              <a:ext uri="{FF2B5EF4-FFF2-40B4-BE49-F238E27FC236}">
                <a16:creationId xmlns:a16="http://schemas.microsoft.com/office/drawing/2014/main" id="{CD3036EF-C7C8-D7EC-F697-DC0681BF5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729" y="985838"/>
            <a:ext cx="1392238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Google Shape;763;p3">
            <a:extLst>
              <a:ext uri="{FF2B5EF4-FFF2-40B4-BE49-F238E27FC236}">
                <a16:creationId xmlns:a16="http://schemas.microsoft.com/office/drawing/2014/main" id="{063CC0C6-C3EE-52EF-6BB9-DB9067DA0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729" y="1043870"/>
            <a:ext cx="1331912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18" name="Google Shape;817;p3">
            <a:extLst>
              <a:ext uri="{FF2B5EF4-FFF2-40B4-BE49-F238E27FC236}">
                <a16:creationId xmlns:a16="http://schemas.microsoft.com/office/drawing/2014/main" id="{2AFE3BDA-51CB-5B06-8A11-E5EE8F161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22" y="1015547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Problématique</a:t>
            </a:r>
            <a:endParaRPr lang="fr-FR" altLang="fr-FR" sz="1200" dirty="0"/>
          </a:p>
        </p:txBody>
      </p:sp>
      <p:sp>
        <p:nvSpPr>
          <p:cNvPr id="19" name="Google Shape;765;p3">
            <a:extLst>
              <a:ext uri="{FF2B5EF4-FFF2-40B4-BE49-F238E27FC236}">
                <a16:creationId xmlns:a16="http://schemas.microsoft.com/office/drawing/2014/main" id="{62858876-C727-2468-E4CA-4AF5DE384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194" y="98589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" name="Google Shape;817;p3">
            <a:extLst>
              <a:ext uri="{FF2B5EF4-FFF2-40B4-BE49-F238E27FC236}">
                <a16:creationId xmlns:a16="http://schemas.microsoft.com/office/drawing/2014/main" id="{9BB56E7C-046A-972E-85DD-CE39BF04F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543" y="1038626"/>
            <a:ext cx="1373188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Étude de l’existant</a:t>
            </a:r>
            <a:endParaRPr lang="fr-FR" altLang="fr-FR" sz="1200" dirty="0"/>
          </a:p>
        </p:txBody>
      </p:sp>
      <p:sp>
        <p:nvSpPr>
          <p:cNvPr id="21" name="Google Shape;765;p3">
            <a:extLst>
              <a:ext uri="{FF2B5EF4-FFF2-40B4-BE49-F238E27FC236}">
                <a16:creationId xmlns:a16="http://schemas.microsoft.com/office/drawing/2014/main" id="{FE07F1DE-A61D-DCA0-2CDF-558B616BF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22" y="99258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8B4F2EF-4C82-4119-9624-359B19E36924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48" name="Picture 2" descr="Medical oncology concept icon. Hospital virus therapy. Medication of tumor  disease. Cancer treatment idea thin line illustration. Vector isolated outl  Stock Vector Image &amp; Art - Alamy">
            <a:extLst>
              <a:ext uri="{FF2B5EF4-FFF2-40B4-BE49-F238E27FC236}">
                <a16:creationId xmlns:a16="http://schemas.microsoft.com/office/drawing/2014/main" id="{C5F8826A-E907-6DB1-4D6D-EF86163389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8" t="-1319" r="708" b="23657"/>
          <a:stretch/>
        </p:blipFill>
        <p:spPr bwMode="auto">
          <a:xfrm>
            <a:off x="7950933" y="1688190"/>
            <a:ext cx="1732821" cy="1500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2" descr="Pharmaceutique - Icônes médical gratuites">
            <a:extLst>
              <a:ext uri="{FF2B5EF4-FFF2-40B4-BE49-F238E27FC236}">
                <a16:creationId xmlns:a16="http://schemas.microsoft.com/office/drawing/2014/main" id="{C1126798-910B-D09C-8DFF-087C9C92C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222" y="1806615"/>
            <a:ext cx="847413" cy="84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World Icon">
            <a:extLst>
              <a:ext uri="{FF2B5EF4-FFF2-40B4-BE49-F238E27FC236}">
                <a16:creationId xmlns:a16="http://schemas.microsoft.com/office/drawing/2014/main" id="{7DB4549F-54B7-3EF4-123C-5840C14092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517" t="9588" r="12753" b="20642"/>
          <a:stretch/>
        </p:blipFill>
        <p:spPr bwMode="auto">
          <a:xfrm>
            <a:off x="4788779" y="3376578"/>
            <a:ext cx="1388298" cy="1222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D9B1BD58-AB3B-F225-6D92-FDFEB41D9CA8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7658"/>
          <a:stretch>
            <a:fillRect/>
          </a:stretch>
        </p:blipFill>
        <p:spPr>
          <a:xfrm>
            <a:off x="7951993" y="3440120"/>
            <a:ext cx="2004341" cy="880415"/>
          </a:xfrm>
          <a:prstGeom prst="rect">
            <a:avLst/>
          </a:prstGeom>
        </p:spPr>
      </p:pic>
      <p:sp>
        <p:nvSpPr>
          <p:cNvPr id="56" name="TextBox 6">
            <a:extLst>
              <a:ext uri="{FF2B5EF4-FFF2-40B4-BE49-F238E27FC236}">
                <a16:creationId xmlns:a16="http://schemas.microsoft.com/office/drawing/2014/main" id="{51EB344F-3ADF-941B-03AF-B4F3EB368FBF}"/>
              </a:ext>
            </a:extLst>
          </p:cNvPr>
          <p:cNvSpPr txBox="1"/>
          <p:nvPr/>
        </p:nvSpPr>
        <p:spPr>
          <a:xfrm>
            <a:off x="4687971" y="2719411"/>
            <a:ext cx="1831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Domaine pharmaceutique</a:t>
            </a:r>
          </a:p>
        </p:txBody>
      </p:sp>
      <p:sp>
        <p:nvSpPr>
          <p:cNvPr id="58" name="TextBox 6">
            <a:extLst>
              <a:ext uri="{FF2B5EF4-FFF2-40B4-BE49-F238E27FC236}">
                <a16:creationId xmlns:a16="http://schemas.microsoft.com/office/drawing/2014/main" id="{A8225476-92AC-59F0-94EB-50673F522BDD}"/>
              </a:ext>
            </a:extLst>
          </p:cNvPr>
          <p:cNvSpPr txBox="1"/>
          <p:nvPr/>
        </p:nvSpPr>
        <p:spPr>
          <a:xfrm>
            <a:off x="7987364" y="4408238"/>
            <a:ext cx="18319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Chiffre d'affaires en 2024/2025</a:t>
            </a:r>
          </a:p>
        </p:txBody>
      </p:sp>
      <p:sp>
        <p:nvSpPr>
          <p:cNvPr id="59" name="TextBox 1">
            <a:extLst>
              <a:ext uri="{FF2B5EF4-FFF2-40B4-BE49-F238E27FC236}">
                <a16:creationId xmlns:a16="http://schemas.microsoft.com/office/drawing/2014/main" id="{887527EC-CC28-8BD7-1D95-A9F84D6F6352}"/>
              </a:ext>
            </a:extLst>
          </p:cNvPr>
          <p:cNvSpPr txBox="1"/>
          <p:nvPr/>
        </p:nvSpPr>
        <p:spPr>
          <a:xfrm>
            <a:off x="4505612" y="4575215"/>
            <a:ext cx="1831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140 filiales</a:t>
            </a:r>
          </a:p>
        </p:txBody>
      </p:sp>
      <p:sp>
        <p:nvSpPr>
          <p:cNvPr id="5125" name="AutoShape 2" descr="Sales Order Vector Icon - [Free Download] - (SVG and PNG)">
            <a:extLst>
              <a:ext uri="{FF2B5EF4-FFF2-40B4-BE49-F238E27FC236}">
                <a16:creationId xmlns:a16="http://schemas.microsoft.com/office/drawing/2014/main" id="{F6B11F86-8B19-0CEC-9F59-3AEA36B997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5126" name="Image 5125">
            <a:extLst>
              <a:ext uri="{FF2B5EF4-FFF2-40B4-BE49-F238E27FC236}">
                <a16:creationId xmlns:a16="http://schemas.microsoft.com/office/drawing/2014/main" id="{276DA150-2C09-3FE8-73B3-26B22F6F99AB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55654" y="5192208"/>
            <a:ext cx="876010" cy="983067"/>
          </a:xfrm>
          <a:prstGeom prst="rect">
            <a:avLst/>
          </a:prstGeom>
        </p:spPr>
      </p:pic>
      <p:pic>
        <p:nvPicPr>
          <p:cNvPr id="5127" name="Image 5126">
            <a:extLst>
              <a:ext uri="{FF2B5EF4-FFF2-40B4-BE49-F238E27FC236}">
                <a16:creationId xmlns:a16="http://schemas.microsoft.com/office/drawing/2014/main" id="{3EDE7576-BF9F-43E3-4E2B-5580C71040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261" y="2740127"/>
            <a:ext cx="2194018" cy="2194018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6EA68C5E-FC5F-276A-4598-7AA9D071F1EC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70446" y="5076810"/>
            <a:ext cx="1168817" cy="1168817"/>
          </a:xfrm>
          <a:prstGeom prst="rect">
            <a:avLst/>
          </a:prstGeom>
        </p:spPr>
      </p:pic>
      <p:pic>
        <p:nvPicPr>
          <p:cNvPr id="8" name="Graphique 7" descr="Flèche vers la droite contour">
            <a:extLst>
              <a:ext uri="{FF2B5EF4-FFF2-40B4-BE49-F238E27FC236}">
                <a16:creationId xmlns:a16="http://schemas.microsoft.com/office/drawing/2014/main" id="{FF1031DD-535F-9E77-476F-A45C85B682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78239" y="3488968"/>
            <a:ext cx="914400" cy="914400"/>
          </a:xfrm>
          <a:prstGeom prst="rect">
            <a:avLst/>
          </a:prstGeom>
        </p:spPr>
      </p:pic>
      <p:pic>
        <p:nvPicPr>
          <p:cNvPr id="10" name="Graphique 9" descr="Flèche vers la droite contour">
            <a:extLst>
              <a:ext uri="{FF2B5EF4-FFF2-40B4-BE49-F238E27FC236}">
                <a16:creationId xmlns:a16="http://schemas.microsoft.com/office/drawing/2014/main" id="{685DC2B0-D29B-A1FF-EC24-5B0CC69CBB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78239" y="1912236"/>
            <a:ext cx="914400" cy="914400"/>
          </a:xfrm>
          <a:prstGeom prst="rect">
            <a:avLst/>
          </a:prstGeom>
        </p:spPr>
      </p:pic>
      <p:pic>
        <p:nvPicPr>
          <p:cNvPr id="11" name="Graphique 10" descr="Flèche vers la droite contour">
            <a:extLst>
              <a:ext uri="{FF2B5EF4-FFF2-40B4-BE49-F238E27FC236}">
                <a16:creationId xmlns:a16="http://schemas.microsoft.com/office/drawing/2014/main" id="{9440B1AB-3E34-A84E-10A9-C653A00193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26294" y="5150444"/>
            <a:ext cx="914400" cy="914400"/>
          </a:xfrm>
          <a:prstGeom prst="rect">
            <a:avLst/>
          </a:prstGeom>
        </p:spPr>
      </p:pic>
      <p:pic>
        <p:nvPicPr>
          <p:cNvPr id="12" name="Graphique 11" descr="Flèche vers la droite contour">
            <a:extLst>
              <a:ext uri="{FF2B5EF4-FFF2-40B4-BE49-F238E27FC236}">
                <a16:creationId xmlns:a16="http://schemas.microsoft.com/office/drawing/2014/main" id="{3BCC22C2-ACAE-4B50-DC3F-1D5F1E2912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8705858">
            <a:off x="2409041" y="2971799"/>
            <a:ext cx="2636622" cy="914400"/>
          </a:xfrm>
          <a:prstGeom prst="rect">
            <a:avLst/>
          </a:prstGeom>
        </p:spPr>
      </p:pic>
      <p:pic>
        <p:nvPicPr>
          <p:cNvPr id="13" name="Graphique 12" descr="Flèche vers la droite contour">
            <a:extLst>
              <a:ext uri="{FF2B5EF4-FFF2-40B4-BE49-F238E27FC236}">
                <a16:creationId xmlns:a16="http://schemas.microsoft.com/office/drawing/2014/main" id="{1D1D4EC6-7510-7ABA-AB89-DD52C2F14E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40123" y="3840909"/>
            <a:ext cx="1820771" cy="914400"/>
          </a:xfrm>
          <a:prstGeom prst="rect">
            <a:avLst/>
          </a:prstGeom>
        </p:spPr>
      </p:pic>
      <p:pic>
        <p:nvPicPr>
          <p:cNvPr id="14" name="Graphique 13" descr="Flèche vers la droite contour">
            <a:extLst>
              <a:ext uri="{FF2B5EF4-FFF2-40B4-BE49-F238E27FC236}">
                <a16:creationId xmlns:a16="http://schemas.microsoft.com/office/drawing/2014/main" id="{451E5DCA-EA8F-21FA-5449-AB4E794C3F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614326">
            <a:off x="2529419" y="4561947"/>
            <a:ext cx="2433001" cy="914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919336A-5C9C-9BC3-7EA1-65F3F6B7706B}"/>
              </a:ext>
            </a:extLst>
          </p:cNvPr>
          <p:cNvSpPr/>
          <p:nvPr/>
        </p:nvSpPr>
        <p:spPr>
          <a:xfrm>
            <a:off x="4722641" y="3288577"/>
            <a:ext cx="5493047" cy="1719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Google Shape;765;p3">
            <a:extLst>
              <a:ext uri="{FF2B5EF4-FFF2-40B4-BE49-F238E27FC236}">
                <a16:creationId xmlns:a16="http://schemas.microsoft.com/office/drawing/2014/main" id="{C0A1E71A-E3B3-AE30-9C56-83062702F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364" y="992528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5" name="Google Shape;817;p3">
            <a:extLst>
              <a:ext uri="{FF2B5EF4-FFF2-40B4-BE49-F238E27FC236}">
                <a16:creationId xmlns:a16="http://schemas.microsoft.com/office/drawing/2014/main" id="{BA5204F9-236C-D4A6-594E-1F8A03363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076" y="1005842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Solution</a:t>
            </a:r>
            <a:endParaRPr lang="fr-FR" altLang="fr-FR" sz="12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C643447-3353-C725-D08C-FE9A16E0863A}"/>
              </a:ext>
            </a:extLst>
          </p:cNvPr>
          <p:cNvSpPr txBox="1"/>
          <p:nvPr/>
        </p:nvSpPr>
        <p:spPr>
          <a:xfrm>
            <a:off x="5032329" y="6183720"/>
            <a:ext cx="1143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ORDER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116FE66-4858-5665-DFC0-5497AFBEEB69}"/>
              </a:ext>
            </a:extLst>
          </p:cNvPr>
          <p:cNvSpPr txBox="1"/>
          <p:nvPr/>
        </p:nvSpPr>
        <p:spPr>
          <a:xfrm>
            <a:off x="8389477" y="6206342"/>
            <a:ext cx="13795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Automatisation</a:t>
            </a:r>
          </a:p>
        </p:txBody>
      </p:sp>
    </p:spTree>
    <p:extLst>
      <p:ext uri="{BB962C8B-B14F-4D97-AF65-F5344CB8AC3E}">
        <p14:creationId xmlns:p14="http://schemas.microsoft.com/office/powerpoint/2010/main" val="3057016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B6A8F-B4ED-6FF6-A45B-90BA6DD37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83;p8">
            <a:extLst>
              <a:ext uri="{FF2B5EF4-FFF2-40B4-BE49-F238E27FC236}">
                <a16:creationId xmlns:a16="http://schemas.microsoft.com/office/drawing/2014/main" id="{98D5FEE5-546E-79FB-87C6-F04459A85C47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2888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4" name="Google Shape;985;p8">
            <a:extLst>
              <a:ext uri="{FF2B5EF4-FFF2-40B4-BE49-F238E27FC236}">
                <a16:creationId xmlns:a16="http://schemas.microsoft.com/office/drawing/2014/main" id="{A8736D9F-1F75-6E62-FFBE-88D29D02B90D}"/>
              </a:ext>
            </a:extLst>
          </p:cNvPr>
          <p:cNvGrpSpPr>
            <a:grpSpLocks/>
          </p:cNvGrpSpPr>
          <p:nvPr/>
        </p:nvGrpSpPr>
        <p:grpSpPr bwMode="auto">
          <a:xfrm>
            <a:off x="2397125" y="207963"/>
            <a:ext cx="7024688" cy="504825"/>
            <a:chOff x="841108" y="1294357"/>
            <a:chExt cx="7475308" cy="508077"/>
          </a:xfrm>
        </p:grpSpPr>
        <p:sp>
          <p:nvSpPr>
            <p:cNvPr id="17434" name="Google Shape;986;p8">
              <a:extLst>
                <a:ext uri="{FF2B5EF4-FFF2-40B4-BE49-F238E27FC236}">
                  <a16:creationId xmlns:a16="http://schemas.microsoft.com/office/drawing/2014/main" id="{0DCB02BA-05E3-0D33-7572-A1265BB8D1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579238" y="1294357"/>
              <a:ext cx="669394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17435" name="Google Shape;987;p8">
              <a:extLst>
                <a:ext uri="{FF2B5EF4-FFF2-40B4-BE49-F238E27FC236}">
                  <a16:creationId xmlns:a16="http://schemas.microsoft.com/office/drawing/2014/main" id="{FF2807C4-38E5-0C91-7EC2-209B055B0C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17436" name="Google Shape;988;p8">
              <a:extLst>
                <a:ext uri="{FF2B5EF4-FFF2-40B4-BE49-F238E27FC236}">
                  <a16:creationId xmlns:a16="http://schemas.microsoft.com/office/drawing/2014/main" id="{436D6C5C-8BE5-B8E6-3A03-AF4E7AACA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7413" name="Google Shape;989;p8">
            <a:extLst>
              <a:ext uri="{FF2B5EF4-FFF2-40B4-BE49-F238E27FC236}">
                <a16:creationId xmlns:a16="http://schemas.microsoft.com/office/drawing/2014/main" id="{A42D764C-C839-0A2C-6AFE-5AFC15EE1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7" y="254000"/>
            <a:ext cx="5894631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 du projet et étude de l’existant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7414" name="Google Shape;990;p8">
            <a:extLst>
              <a:ext uri="{FF2B5EF4-FFF2-40B4-BE49-F238E27FC236}">
                <a16:creationId xmlns:a16="http://schemas.microsoft.com/office/drawing/2014/main" id="{EF13BE1D-2BD4-C1D7-4D26-46C5FA62C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263" y="201613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17415" name="Google Shape;991;p8">
            <a:extLst>
              <a:ext uri="{FF2B5EF4-FFF2-40B4-BE49-F238E27FC236}">
                <a16:creationId xmlns:a16="http://schemas.microsoft.com/office/drawing/2014/main" id="{3100894B-DF3D-A009-5AC8-7968C62C0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6638" y="198438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17416" name="Google Shape;992;p8">
            <a:extLst>
              <a:ext uri="{FF2B5EF4-FFF2-40B4-BE49-F238E27FC236}">
                <a16:creationId xmlns:a16="http://schemas.microsoft.com/office/drawing/2014/main" id="{1DBFCCC7-D11F-874A-6D00-E54852EB9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2900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17417" name="Google Shape;993;p8">
            <a:extLst>
              <a:ext uri="{FF2B5EF4-FFF2-40B4-BE49-F238E27FC236}">
                <a16:creationId xmlns:a16="http://schemas.microsoft.com/office/drawing/2014/main" id="{CAF6B676-1567-2197-94ED-C663781AE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204788"/>
            <a:ext cx="458787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17418" name="Google Shape;994;p8">
            <a:extLst>
              <a:ext uri="{FF2B5EF4-FFF2-40B4-BE49-F238E27FC236}">
                <a16:creationId xmlns:a16="http://schemas.microsoft.com/office/drawing/2014/main" id="{C2B5AF66-C458-1A82-5BA7-A7E31849C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1613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17419" name="Google Shape;995;p8">
            <a:extLst>
              <a:ext uri="{FF2B5EF4-FFF2-40B4-BE49-F238E27FC236}">
                <a16:creationId xmlns:a16="http://schemas.microsoft.com/office/drawing/2014/main" id="{7CBF16F0-07AD-CF12-4D50-D716D949D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8213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17424" name="Google Shape;1001;p8">
            <a:extLst>
              <a:ext uri="{FF2B5EF4-FFF2-40B4-BE49-F238E27FC236}">
                <a16:creationId xmlns:a16="http://schemas.microsoft.com/office/drawing/2014/main" id="{3AA46C58-DA12-FEEE-54C7-A0A06F22613E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3988423" y="849812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427" name="Google Shape;1005;p8">
            <a:extLst>
              <a:ext uri="{FF2B5EF4-FFF2-40B4-BE49-F238E27FC236}">
                <a16:creationId xmlns:a16="http://schemas.microsoft.com/office/drawing/2014/main" id="{3E75C1B8-060E-F9A0-98D2-24C81A1BA0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431463" y="6589714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4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28" name="Google Shape;1006;p8">
            <a:extLst>
              <a:ext uri="{FF2B5EF4-FFF2-40B4-BE49-F238E27FC236}">
                <a16:creationId xmlns:a16="http://schemas.microsoft.com/office/drawing/2014/main" id="{6F691FC3-5306-2335-0DA6-4BABC4AF3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6590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6" name="Google Shape;747;p3">
            <a:extLst>
              <a:ext uri="{FF2B5EF4-FFF2-40B4-BE49-F238E27FC236}">
                <a16:creationId xmlns:a16="http://schemas.microsoft.com/office/drawing/2014/main" id="{F52A555E-3E6B-9668-F2DD-2E28871BD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729" y="985838"/>
            <a:ext cx="1392238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Google Shape;763;p3">
            <a:extLst>
              <a:ext uri="{FF2B5EF4-FFF2-40B4-BE49-F238E27FC236}">
                <a16:creationId xmlns:a16="http://schemas.microsoft.com/office/drawing/2014/main" id="{E72C9BDD-3F49-4016-35E3-A4D8B3F15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729" y="1043870"/>
            <a:ext cx="1331912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18" name="Google Shape;817;p3">
            <a:extLst>
              <a:ext uri="{FF2B5EF4-FFF2-40B4-BE49-F238E27FC236}">
                <a16:creationId xmlns:a16="http://schemas.microsoft.com/office/drawing/2014/main" id="{F32752D8-8D5F-A203-0C21-2A0506EAF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22" y="1015547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Problématique</a:t>
            </a:r>
            <a:endParaRPr lang="fr-FR" altLang="fr-FR" sz="1200" dirty="0"/>
          </a:p>
        </p:txBody>
      </p:sp>
      <p:sp>
        <p:nvSpPr>
          <p:cNvPr id="19" name="Google Shape;765;p3">
            <a:extLst>
              <a:ext uri="{FF2B5EF4-FFF2-40B4-BE49-F238E27FC236}">
                <a16:creationId xmlns:a16="http://schemas.microsoft.com/office/drawing/2014/main" id="{B40F10BB-25E7-5236-0B80-4A1645730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194" y="98589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" name="Google Shape;817;p3">
            <a:extLst>
              <a:ext uri="{FF2B5EF4-FFF2-40B4-BE49-F238E27FC236}">
                <a16:creationId xmlns:a16="http://schemas.microsoft.com/office/drawing/2014/main" id="{5D955B8A-9B21-E5D3-1857-D68D36A90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543" y="1038626"/>
            <a:ext cx="1373188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Étude de l’existant</a:t>
            </a:r>
            <a:endParaRPr lang="fr-FR" altLang="fr-FR" sz="1200" dirty="0"/>
          </a:p>
        </p:txBody>
      </p:sp>
      <p:sp>
        <p:nvSpPr>
          <p:cNvPr id="21" name="Google Shape;765;p3">
            <a:extLst>
              <a:ext uri="{FF2B5EF4-FFF2-40B4-BE49-F238E27FC236}">
                <a16:creationId xmlns:a16="http://schemas.microsoft.com/office/drawing/2014/main" id="{C79B2FE1-0400-EEC0-D99F-0E61DDB3C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22" y="99258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B81FCAE-F5CC-1FE4-B9DE-7871CE981A11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48" name="Picture 2" descr="Medical oncology concept icon. Hospital virus therapy. Medication of tumor  disease. Cancer treatment idea thin line illustration. Vector isolated outl  Stock Vector Image &amp; Art - Alamy">
            <a:extLst>
              <a:ext uri="{FF2B5EF4-FFF2-40B4-BE49-F238E27FC236}">
                <a16:creationId xmlns:a16="http://schemas.microsoft.com/office/drawing/2014/main" id="{D89287F3-9416-E886-ED99-B33FC54645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8" t="-1319" r="708" b="23657"/>
          <a:stretch/>
        </p:blipFill>
        <p:spPr bwMode="auto">
          <a:xfrm>
            <a:off x="7950933" y="1688190"/>
            <a:ext cx="1732821" cy="1500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2" descr="Pharmaceutique - Icônes médical gratuites">
            <a:extLst>
              <a:ext uri="{FF2B5EF4-FFF2-40B4-BE49-F238E27FC236}">
                <a16:creationId xmlns:a16="http://schemas.microsoft.com/office/drawing/2014/main" id="{6BFBD100-BC5D-3076-9827-53D7B7963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222" y="1806615"/>
            <a:ext cx="847413" cy="84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World Icon">
            <a:extLst>
              <a:ext uri="{FF2B5EF4-FFF2-40B4-BE49-F238E27FC236}">
                <a16:creationId xmlns:a16="http://schemas.microsoft.com/office/drawing/2014/main" id="{73FB67C6-CAE9-F6B4-78E8-EF531CD526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517" t="9588" r="12753" b="20642"/>
          <a:stretch/>
        </p:blipFill>
        <p:spPr bwMode="auto">
          <a:xfrm>
            <a:off x="4788779" y="3376578"/>
            <a:ext cx="1388298" cy="1222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B43FCA6E-80B0-6153-D08A-1FCFB191E953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b="17658"/>
          <a:stretch>
            <a:fillRect/>
          </a:stretch>
        </p:blipFill>
        <p:spPr>
          <a:xfrm>
            <a:off x="7951993" y="3440120"/>
            <a:ext cx="2004341" cy="880415"/>
          </a:xfrm>
          <a:prstGeom prst="rect">
            <a:avLst/>
          </a:prstGeom>
        </p:spPr>
      </p:pic>
      <p:sp>
        <p:nvSpPr>
          <p:cNvPr id="56" name="TextBox 6">
            <a:extLst>
              <a:ext uri="{FF2B5EF4-FFF2-40B4-BE49-F238E27FC236}">
                <a16:creationId xmlns:a16="http://schemas.microsoft.com/office/drawing/2014/main" id="{BC507F90-29E9-9DC8-9F9C-48767C0F68AF}"/>
              </a:ext>
            </a:extLst>
          </p:cNvPr>
          <p:cNvSpPr txBox="1"/>
          <p:nvPr/>
        </p:nvSpPr>
        <p:spPr>
          <a:xfrm>
            <a:off x="4687971" y="2719411"/>
            <a:ext cx="1831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Domaine pharmaceutique</a:t>
            </a:r>
          </a:p>
        </p:txBody>
      </p:sp>
      <p:sp>
        <p:nvSpPr>
          <p:cNvPr id="58" name="TextBox 6">
            <a:extLst>
              <a:ext uri="{FF2B5EF4-FFF2-40B4-BE49-F238E27FC236}">
                <a16:creationId xmlns:a16="http://schemas.microsoft.com/office/drawing/2014/main" id="{BB699D08-8AF6-3E4C-5B2F-C6B79A43C706}"/>
              </a:ext>
            </a:extLst>
          </p:cNvPr>
          <p:cNvSpPr txBox="1"/>
          <p:nvPr/>
        </p:nvSpPr>
        <p:spPr>
          <a:xfrm>
            <a:off x="7987364" y="4408238"/>
            <a:ext cx="18319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Chiffre d'affaires en 2024/2025</a:t>
            </a:r>
          </a:p>
        </p:txBody>
      </p:sp>
      <p:sp>
        <p:nvSpPr>
          <p:cNvPr id="59" name="TextBox 1">
            <a:extLst>
              <a:ext uri="{FF2B5EF4-FFF2-40B4-BE49-F238E27FC236}">
                <a16:creationId xmlns:a16="http://schemas.microsoft.com/office/drawing/2014/main" id="{4EEA707F-D9A7-FF5F-0CD9-329063189624}"/>
              </a:ext>
            </a:extLst>
          </p:cNvPr>
          <p:cNvSpPr txBox="1"/>
          <p:nvPr/>
        </p:nvSpPr>
        <p:spPr>
          <a:xfrm>
            <a:off x="4505612" y="4575215"/>
            <a:ext cx="1831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140 filiales</a:t>
            </a:r>
          </a:p>
        </p:txBody>
      </p:sp>
      <p:sp>
        <p:nvSpPr>
          <p:cNvPr id="5125" name="AutoShape 2" descr="Sales Order Vector Icon - [Free Download] - (SVG and PNG)">
            <a:extLst>
              <a:ext uri="{FF2B5EF4-FFF2-40B4-BE49-F238E27FC236}">
                <a16:creationId xmlns:a16="http://schemas.microsoft.com/office/drawing/2014/main" id="{BA8C1342-A180-81A9-62AC-1B0F94EED2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5126" name="Image 5125">
            <a:extLst>
              <a:ext uri="{FF2B5EF4-FFF2-40B4-BE49-F238E27FC236}">
                <a16:creationId xmlns:a16="http://schemas.microsoft.com/office/drawing/2014/main" id="{D58501AD-2972-B4BE-91AB-0BFA74D16995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55654" y="5192208"/>
            <a:ext cx="876010" cy="983067"/>
          </a:xfrm>
          <a:prstGeom prst="rect">
            <a:avLst/>
          </a:prstGeom>
        </p:spPr>
      </p:pic>
      <p:pic>
        <p:nvPicPr>
          <p:cNvPr id="5127" name="Image 5126">
            <a:extLst>
              <a:ext uri="{FF2B5EF4-FFF2-40B4-BE49-F238E27FC236}">
                <a16:creationId xmlns:a16="http://schemas.microsoft.com/office/drawing/2014/main" id="{2C1E8099-22E6-7980-DFAD-10018D5006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261" y="2740127"/>
            <a:ext cx="2194018" cy="2194018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197CB984-D6BB-63BA-F5AA-7B3EDE4611A0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70446" y="5076810"/>
            <a:ext cx="1168817" cy="1168817"/>
          </a:xfrm>
          <a:prstGeom prst="rect">
            <a:avLst/>
          </a:prstGeom>
        </p:spPr>
      </p:pic>
      <p:pic>
        <p:nvPicPr>
          <p:cNvPr id="8" name="Graphique 7" descr="Flèche vers la droite contour">
            <a:extLst>
              <a:ext uri="{FF2B5EF4-FFF2-40B4-BE49-F238E27FC236}">
                <a16:creationId xmlns:a16="http://schemas.microsoft.com/office/drawing/2014/main" id="{E87D4EB8-9BD0-C284-87FE-4FD678F56A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78239" y="3488968"/>
            <a:ext cx="914400" cy="914400"/>
          </a:xfrm>
          <a:prstGeom prst="rect">
            <a:avLst/>
          </a:prstGeom>
        </p:spPr>
      </p:pic>
      <p:pic>
        <p:nvPicPr>
          <p:cNvPr id="10" name="Graphique 9" descr="Flèche vers la droite contour">
            <a:extLst>
              <a:ext uri="{FF2B5EF4-FFF2-40B4-BE49-F238E27FC236}">
                <a16:creationId xmlns:a16="http://schemas.microsoft.com/office/drawing/2014/main" id="{425EB245-D758-D9D6-9670-52E74EAD5E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78239" y="1912236"/>
            <a:ext cx="914400" cy="914400"/>
          </a:xfrm>
          <a:prstGeom prst="rect">
            <a:avLst/>
          </a:prstGeom>
        </p:spPr>
      </p:pic>
      <p:pic>
        <p:nvPicPr>
          <p:cNvPr id="11" name="Graphique 10" descr="Flèche vers la droite contour">
            <a:extLst>
              <a:ext uri="{FF2B5EF4-FFF2-40B4-BE49-F238E27FC236}">
                <a16:creationId xmlns:a16="http://schemas.microsoft.com/office/drawing/2014/main" id="{7613955B-3B6C-A687-E4CA-FA889A48B9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26294" y="5150444"/>
            <a:ext cx="914400" cy="914400"/>
          </a:xfrm>
          <a:prstGeom prst="rect">
            <a:avLst/>
          </a:prstGeom>
        </p:spPr>
      </p:pic>
      <p:pic>
        <p:nvPicPr>
          <p:cNvPr id="12" name="Graphique 11" descr="Flèche vers la droite contour">
            <a:extLst>
              <a:ext uri="{FF2B5EF4-FFF2-40B4-BE49-F238E27FC236}">
                <a16:creationId xmlns:a16="http://schemas.microsoft.com/office/drawing/2014/main" id="{69448DF5-DC95-7709-E805-FB3EB6B2FA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8705858">
            <a:off x="2409041" y="2971799"/>
            <a:ext cx="2636622" cy="914400"/>
          </a:xfrm>
          <a:prstGeom prst="rect">
            <a:avLst/>
          </a:prstGeom>
        </p:spPr>
      </p:pic>
      <p:pic>
        <p:nvPicPr>
          <p:cNvPr id="13" name="Graphique 12" descr="Flèche vers la droite contour">
            <a:extLst>
              <a:ext uri="{FF2B5EF4-FFF2-40B4-BE49-F238E27FC236}">
                <a16:creationId xmlns:a16="http://schemas.microsoft.com/office/drawing/2014/main" id="{2D017F10-A9D9-BE2F-B9DD-A60C7AD319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40123" y="3840909"/>
            <a:ext cx="1820771" cy="914400"/>
          </a:xfrm>
          <a:prstGeom prst="rect">
            <a:avLst/>
          </a:prstGeom>
        </p:spPr>
      </p:pic>
      <p:pic>
        <p:nvPicPr>
          <p:cNvPr id="14" name="Graphique 13" descr="Flèche vers la droite contour">
            <a:extLst>
              <a:ext uri="{FF2B5EF4-FFF2-40B4-BE49-F238E27FC236}">
                <a16:creationId xmlns:a16="http://schemas.microsoft.com/office/drawing/2014/main" id="{0A0BBD43-EA0E-59FB-77EA-D58E937C8E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614326">
            <a:off x="2529419" y="4561947"/>
            <a:ext cx="2433001" cy="914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0E7E7FE-6523-2320-82DB-949FF99A81DF}"/>
              </a:ext>
            </a:extLst>
          </p:cNvPr>
          <p:cNvSpPr/>
          <p:nvPr/>
        </p:nvSpPr>
        <p:spPr>
          <a:xfrm>
            <a:off x="4763096" y="5007710"/>
            <a:ext cx="5005919" cy="1493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Google Shape;765;p3">
            <a:extLst>
              <a:ext uri="{FF2B5EF4-FFF2-40B4-BE49-F238E27FC236}">
                <a16:creationId xmlns:a16="http://schemas.microsoft.com/office/drawing/2014/main" id="{6680A5B7-D0D9-05BB-520B-FBFD99057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364" y="992528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5" name="Google Shape;817;p3">
            <a:extLst>
              <a:ext uri="{FF2B5EF4-FFF2-40B4-BE49-F238E27FC236}">
                <a16:creationId xmlns:a16="http://schemas.microsoft.com/office/drawing/2014/main" id="{5BC6A639-F270-9480-0839-B5076843B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076" y="1005842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Solution</a:t>
            </a:r>
            <a:endParaRPr lang="fr-FR" altLang="fr-FR" sz="12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3D4EA9F-B8B2-D89A-86C8-1356736AF5E1}"/>
              </a:ext>
            </a:extLst>
          </p:cNvPr>
          <p:cNvSpPr txBox="1"/>
          <p:nvPr/>
        </p:nvSpPr>
        <p:spPr>
          <a:xfrm>
            <a:off x="5032329" y="6183720"/>
            <a:ext cx="1143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ORDER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3425BEB-C8ED-CA24-B43B-6B9CEDE20612}"/>
              </a:ext>
            </a:extLst>
          </p:cNvPr>
          <p:cNvSpPr txBox="1"/>
          <p:nvPr/>
        </p:nvSpPr>
        <p:spPr>
          <a:xfrm>
            <a:off x="8389477" y="6206342"/>
            <a:ext cx="13795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Automatisation</a:t>
            </a:r>
          </a:p>
        </p:txBody>
      </p:sp>
    </p:spTree>
    <p:extLst>
      <p:ext uri="{BB962C8B-B14F-4D97-AF65-F5344CB8AC3E}">
        <p14:creationId xmlns:p14="http://schemas.microsoft.com/office/powerpoint/2010/main" val="2289811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4A3B9-BE05-251C-C8E2-591E14930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83;p8">
            <a:extLst>
              <a:ext uri="{FF2B5EF4-FFF2-40B4-BE49-F238E27FC236}">
                <a16:creationId xmlns:a16="http://schemas.microsoft.com/office/drawing/2014/main" id="{E54614C1-91D1-59CC-C363-E4C957149DBC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2888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4" name="Google Shape;985;p8">
            <a:extLst>
              <a:ext uri="{FF2B5EF4-FFF2-40B4-BE49-F238E27FC236}">
                <a16:creationId xmlns:a16="http://schemas.microsoft.com/office/drawing/2014/main" id="{5EDBFEF4-3399-55BD-703B-03700BEAC222}"/>
              </a:ext>
            </a:extLst>
          </p:cNvPr>
          <p:cNvGrpSpPr>
            <a:grpSpLocks/>
          </p:cNvGrpSpPr>
          <p:nvPr/>
        </p:nvGrpSpPr>
        <p:grpSpPr bwMode="auto">
          <a:xfrm>
            <a:off x="2397125" y="207963"/>
            <a:ext cx="7024688" cy="504825"/>
            <a:chOff x="841108" y="1294357"/>
            <a:chExt cx="7475308" cy="508077"/>
          </a:xfrm>
        </p:grpSpPr>
        <p:sp>
          <p:nvSpPr>
            <p:cNvPr id="17434" name="Google Shape;986;p8">
              <a:extLst>
                <a:ext uri="{FF2B5EF4-FFF2-40B4-BE49-F238E27FC236}">
                  <a16:creationId xmlns:a16="http://schemas.microsoft.com/office/drawing/2014/main" id="{85CB0CDB-F9A7-FBB4-845A-B704A786CBC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579238" y="1294357"/>
              <a:ext cx="669394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17435" name="Google Shape;987;p8">
              <a:extLst>
                <a:ext uri="{FF2B5EF4-FFF2-40B4-BE49-F238E27FC236}">
                  <a16:creationId xmlns:a16="http://schemas.microsoft.com/office/drawing/2014/main" id="{84D21469-873B-185C-2715-8E23EC2E95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17436" name="Google Shape;988;p8">
              <a:extLst>
                <a:ext uri="{FF2B5EF4-FFF2-40B4-BE49-F238E27FC236}">
                  <a16:creationId xmlns:a16="http://schemas.microsoft.com/office/drawing/2014/main" id="{E49B5156-BB93-7E3F-5C50-AD0F8678D9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7413" name="Google Shape;989;p8">
            <a:extLst>
              <a:ext uri="{FF2B5EF4-FFF2-40B4-BE49-F238E27FC236}">
                <a16:creationId xmlns:a16="http://schemas.microsoft.com/office/drawing/2014/main" id="{1E4540D7-79E0-39DE-4FBB-CC4D18C8E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7" y="254000"/>
            <a:ext cx="5894631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 du projet et étude de l’existant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7414" name="Google Shape;990;p8">
            <a:extLst>
              <a:ext uri="{FF2B5EF4-FFF2-40B4-BE49-F238E27FC236}">
                <a16:creationId xmlns:a16="http://schemas.microsoft.com/office/drawing/2014/main" id="{DCA89F87-00C2-4393-DDEA-7755BAA8F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263" y="201613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17415" name="Google Shape;991;p8">
            <a:extLst>
              <a:ext uri="{FF2B5EF4-FFF2-40B4-BE49-F238E27FC236}">
                <a16:creationId xmlns:a16="http://schemas.microsoft.com/office/drawing/2014/main" id="{2AC9216C-74F0-B19C-752C-4C380F0A0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6638" y="198438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17416" name="Google Shape;992;p8">
            <a:extLst>
              <a:ext uri="{FF2B5EF4-FFF2-40B4-BE49-F238E27FC236}">
                <a16:creationId xmlns:a16="http://schemas.microsoft.com/office/drawing/2014/main" id="{814D3754-B46B-968E-E000-BF3F73315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2900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17417" name="Google Shape;993;p8">
            <a:extLst>
              <a:ext uri="{FF2B5EF4-FFF2-40B4-BE49-F238E27FC236}">
                <a16:creationId xmlns:a16="http://schemas.microsoft.com/office/drawing/2014/main" id="{F3E9F84D-CEBE-27C8-4268-E47619C3F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204788"/>
            <a:ext cx="458787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17418" name="Google Shape;994;p8">
            <a:extLst>
              <a:ext uri="{FF2B5EF4-FFF2-40B4-BE49-F238E27FC236}">
                <a16:creationId xmlns:a16="http://schemas.microsoft.com/office/drawing/2014/main" id="{96BA7E44-D2BE-44B0-E9B8-4DD842B6D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1613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17419" name="Google Shape;995;p8">
            <a:extLst>
              <a:ext uri="{FF2B5EF4-FFF2-40B4-BE49-F238E27FC236}">
                <a16:creationId xmlns:a16="http://schemas.microsoft.com/office/drawing/2014/main" id="{97875EBF-7B76-DAFF-ADD6-4484AD6C9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8213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17424" name="Google Shape;1001;p8">
            <a:extLst>
              <a:ext uri="{FF2B5EF4-FFF2-40B4-BE49-F238E27FC236}">
                <a16:creationId xmlns:a16="http://schemas.microsoft.com/office/drawing/2014/main" id="{328C48F6-95C5-8DA4-EC79-C59F91E546A3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3988423" y="849812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427" name="Google Shape;1005;p8">
            <a:extLst>
              <a:ext uri="{FF2B5EF4-FFF2-40B4-BE49-F238E27FC236}">
                <a16:creationId xmlns:a16="http://schemas.microsoft.com/office/drawing/2014/main" id="{F32EDF5F-FD9C-6809-81F5-123EBA22F1A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431463" y="6589714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5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28" name="Google Shape;1006;p8">
            <a:extLst>
              <a:ext uri="{FF2B5EF4-FFF2-40B4-BE49-F238E27FC236}">
                <a16:creationId xmlns:a16="http://schemas.microsoft.com/office/drawing/2014/main" id="{E0C867CB-9CCB-FE13-0D45-7CF181076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6590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6" name="Google Shape;747;p3">
            <a:extLst>
              <a:ext uri="{FF2B5EF4-FFF2-40B4-BE49-F238E27FC236}">
                <a16:creationId xmlns:a16="http://schemas.microsoft.com/office/drawing/2014/main" id="{B888DDBA-E54F-6D94-98A0-74AFC9D2B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729" y="985838"/>
            <a:ext cx="1392238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Google Shape;763;p3">
            <a:extLst>
              <a:ext uri="{FF2B5EF4-FFF2-40B4-BE49-F238E27FC236}">
                <a16:creationId xmlns:a16="http://schemas.microsoft.com/office/drawing/2014/main" id="{339BD2F9-D9DB-B1FB-D504-AACD4E440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729" y="1043870"/>
            <a:ext cx="1331912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18" name="Google Shape;817;p3">
            <a:extLst>
              <a:ext uri="{FF2B5EF4-FFF2-40B4-BE49-F238E27FC236}">
                <a16:creationId xmlns:a16="http://schemas.microsoft.com/office/drawing/2014/main" id="{13281559-4CE5-9B81-69D8-40B2D35E7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22" y="1015547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Problématique</a:t>
            </a:r>
            <a:endParaRPr lang="fr-FR" altLang="fr-FR" sz="1200" dirty="0"/>
          </a:p>
        </p:txBody>
      </p:sp>
      <p:sp>
        <p:nvSpPr>
          <p:cNvPr id="19" name="Google Shape;765;p3">
            <a:extLst>
              <a:ext uri="{FF2B5EF4-FFF2-40B4-BE49-F238E27FC236}">
                <a16:creationId xmlns:a16="http://schemas.microsoft.com/office/drawing/2014/main" id="{5B513B03-D7D2-5004-9135-4EBF8BB9F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194" y="98589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" name="Google Shape;817;p3">
            <a:extLst>
              <a:ext uri="{FF2B5EF4-FFF2-40B4-BE49-F238E27FC236}">
                <a16:creationId xmlns:a16="http://schemas.microsoft.com/office/drawing/2014/main" id="{559579C8-139F-01A6-50ED-AE3AD42A8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543" y="1038626"/>
            <a:ext cx="1373188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Étude de l’existant</a:t>
            </a:r>
            <a:endParaRPr lang="fr-FR" altLang="fr-FR" sz="1200" dirty="0"/>
          </a:p>
        </p:txBody>
      </p:sp>
      <p:sp>
        <p:nvSpPr>
          <p:cNvPr id="21" name="Google Shape;765;p3">
            <a:extLst>
              <a:ext uri="{FF2B5EF4-FFF2-40B4-BE49-F238E27FC236}">
                <a16:creationId xmlns:a16="http://schemas.microsoft.com/office/drawing/2014/main" id="{FEF18A4A-6C39-14F1-5E70-F2865AC7F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22" y="99258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2F85C16-348A-5340-3314-4792B6747876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5125" name="AutoShape 2" descr="Sales Order Vector Icon - [Free Download] - (SVG and PNG)">
            <a:extLst>
              <a:ext uri="{FF2B5EF4-FFF2-40B4-BE49-F238E27FC236}">
                <a16:creationId xmlns:a16="http://schemas.microsoft.com/office/drawing/2014/main" id="{C6441D03-45B1-3CD5-FB02-8E2B5E479D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9AFD9AB-27E6-B2DA-8BAE-7ED5A4072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628" y="1654937"/>
            <a:ext cx="8421648" cy="1926463"/>
          </a:xfrm>
          <a:prstGeom prst="rect">
            <a:avLst/>
          </a:prstGeom>
        </p:spPr>
      </p:pic>
      <p:sp>
        <p:nvSpPr>
          <p:cNvPr id="8" name="Google Shape;765;p3">
            <a:extLst>
              <a:ext uri="{FF2B5EF4-FFF2-40B4-BE49-F238E27FC236}">
                <a16:creationId xmlns:a16="http://schemas.microsoft.com/office/drawing/2014/main" id="{2DE1D8F1-25B1-9548-4856-A7916A108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364" y="992528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Google Shape;817;p3">
            <a:extLst>
              <a:ext uri="{FF2B5EF4-FFF2-40B4-BE49-F238E27FC236}">
                <a16:creationId xmlns:a16="http://schemas.microsoft.com/office/drawing/2014/main" id="{635A3803-F879-087C-BFC1-4BB8F1540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076" y="1005842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Solution</a:t>
            </a:r>
            <a:endParaRPr lang="fr-FR" altLang="fr-FR" sz="12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2447FE2-9B87-E6E9-C364-4D2581AD9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144" y="3884303"/>
            <a:ext cx="8629711" cy="234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018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E8FFD-CC06-F242-586A-16C31AEC3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83;p8">
            <a:extLst>
              <a:ext uri="{FF2B5EF4-FFF2-40B4-BE49-F238E27FC236}">
                <a16:creationId xmlns:a16="http://schemas.microsoft.com/office/drawing/2014/main" id="{CC8AFB87-4D9F-1BEE-B051-2D1B12FD21CD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2888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4" name="Google Shape;985;p8">
            <a:extLst>
              <a:ext uri="{FF2B5EF4-FFF2-40B4-BE49-F238E27FC236}">
                <a16:creationId xmlns:a16="http://schemas.microsoft.com/office/drawing/2014/main" id="{2B92A8EF-B37D-380E-6C14-078FEA7AFD26}"/>
              </a:ext>
            </a:extLst>
          </p:cNvPr>
          <p:cNvGrpSpPr>
            <a:grpSpLocks/>
          </p:cNvGrpSpPr>
          <p:nvPr/>
        </p:nvGrpSpPr>
        <p:grpSpPr bwMode="auto">
          <a:xfrm>
            <a:off x="2397125" y="207963"/>
            <a:ext cx="7024688" cy="504825"/>
            <a:chOff x="841108" y="1294357"/>
            <a:chExt cx="7475308" cy="508077"/>
          </a:xfrm>
        </p:grpSpPr>
        <p:sp>
          <p:nvSpPr>
            <p:cNvPr id="17434" name="Google Shape;986;p8">
              <a:extLst>
                <a:ext uri="{FF2B5EF4-FFF2-40B4-BE49-F238E27FC236}">
                  <a16:creationId xmlns:a16="http://schemas.microsoft.com/office/drawing/2014/main" id="{8CA91A95-4487-7DDF-A8CF-3A0F820D0DA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579238" y="1294357"/>
              <a:ext cx="669394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17435" name="Google Shape;987;p8">
              <a:extLst>
                <a:ext uri="{FF2B5EF4-FFF2-40B4-BE49-F238E27FC236}">
                  <a16:creationId xmlns:a16="http://schemas.microsoft.com/office/drawing/2014/main" id="{69F7F287-2D0F-C388-418B-D2E54198E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17436" name="Google Shape;988;p8">
              <a:extLst>
                <a:ext uri="{FF2B5EF4-FFF2-40B4-BE49-F238E27FC236}">
                  <a16:creationId xmlns:a16="http://schemas.microsoft.com/office/drawing/2014/main" id="{3C67A34D-B2EC-477F-C207-D58FA9BF5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7413" name="Google Shape;989;p8">
            <a:extLst>
              <a:ext uri="{FF2B5EF4-FFF2-40B4-BE49-F238E27FC236}">
                <a16:creationId xmlns:a16="http://schemas.microsoft.com/office/drawing/2014/main" id="{C5B50ABC-5680-ABD9-0B5F-20FC7259A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7" y="254000"/>
            <a:ext cx="5894631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 du projet et étude de l’existant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7414" name="Google Shape;990;p8">
            <a:extLst>
              <a:ext uri="{FF2B5EF4-FFF2-40B4-BE49-F238E27FC236}">
                <a16:creationId xmlns:a16="http://schemas.microsoft.com/office/drawing/2014/main" id="{CFED2C28-1FF6-42AF-00E0-D02FA40A9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263" y="201613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17415" name="Google Shape;991;p8">
            <a:extLst>
              <a:ext uri="{FF2B5EF4-FFF2-40B4-BE49-F238E27FC236}">
                <a16:creationId xmlns:a16="http://schemas.microsoft.com/office/drawing/2014/main" id="{F08E30BF-9677-9DDA-BF73-AA4EC1568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6638" y="198438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17416" name="Google Shape;992;p8">
            <a:extLst>
              <a:ext uri="{FF2B5EF4-FFF2-40B4-BE49-F238E27FC236}">
                <a16:creationId xmlns:a16="http://schemas.microsoft.com/office/drawing/2014/main" id="{03C4D0EC-7406-DB1F-5331-B232F8BDD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2900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17417" name="Google Shape;993;p8">
            <a:extLst>
              <a:ext uri="{FF2B5EF4-FFF2-40B4-BE49-F238E27FC236}">
                <a16:creationId xmlns:a16="http://schemas.microsoft.com/office/drawing/2014/main" id="{65DB72FB-6D3B-8757-48E0-072C197BD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204788"/>
            <a:ext cx="458787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17418" name="Google Shape;994;p8">
            <a:extLst>
              <a:ext uri="{FF2B5EF4-FFF2-40B4-BE49-F238E27FC236}">
                <a16:creationId xmlns:a16="http://schemas.microsoft.com/office/drawing/2014/main" id="{C42FD75F-1C5F-2CA8-71C2-416015246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1613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17419" name="Google Shape;995;p8">
            <a:extLst>
              <a:ext uri="{FF2B5EF4-FFF2-40B4-BE49-F238E27FC236}">
                <a16:creationId xmlns:a16="http://schemas.microsoft.com/office/drawing/2014/main" id="{6F4054FD-F075-90BF-9D96-B54E4EE39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8213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17424" name="Google Shape;1001;p8">
            <a:extLst>
              <a:ext uri="{FF2B5EF4-FFF2-40B4-BE49-F238E27FC236}">
                <a16:creationId xmlns:a16="http://schemas.microsoft.com/office/drawing/2014/main" id="{8ABE195D-769A-15FE-2C1F-27D5D3B75BB4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3988423" y="849812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427" name="Google Shape;1005;p8">
            <a:extLst>
              <a:ext uri="{FF2B5EF4-FFF2-40B4-BE49-F238E27FC236}">
                <a16:creationId xmlns:a16="http://schemas.microsoft.com/office/drawing/2014/main" id="{96465816-C6E6-2570-1E7B-F29411F20FF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431463" y="6589714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5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28" name="Google Shape;1006;p8">
            <a:extLst>
              <a:ext uri="{FF2B5EF4-FFF2-40B4-BE49-F238E27FC236}">
                <a16:creationId xmlns:a16="http://schemas.microsoft.com/office/drawing/2014/main" id="{45DD6DF4-74D6-5E5A-0B06-36E246CEA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6590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6" name="Google Shape;747;p3">
            <a:extLst>
              <a:ext uri="{FF2B5EF4-FFF2-40B4-BE49-F238E27FC236}">
                <a16:creationId xmlns:a16="http://schemas.microsoft.com/office/drawing/2014/main" id="{55EEBC83-9EBD-8B5E-C0A3-4555DE902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729" y="985838"/>
            <a:ext cx="1392238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Google Shape;763;p3">
            <a:extLst>
              <a:ext uri="{FF2B5EF4-FFF2-40B4-BE49-F238E27FC236}">
                <a16:creationId xmlns:a16="http://schemas.microsoft.com/office/drawing/2014/main" id="{FA55550B-B046-3CD7-6004-D44195087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729" y="1043870"/>
            <a:ext cx="1331912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18" name="Google Shape;817;p3">
            <a:extLst>
              <a:ext uri="{FF2B5EF4-FFF2-40B4-BE49-F238E27FC236}">
                <a16:creationId xmlns:a16="http://schemas.microsoft.com/office/drawing/2014/main" id="{7BEB7050-A520-600E-FEC9-50551E8AE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22" y="1015547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Problématique</a:t>
            </a:r>
            <a:endParaRPr lang="fr-FR" altLang="fr-FR" sz="1200" dirty="0"/>
          </a:p>
        </p:txBody>
      </p:sp>
      <p:sp>
        <p:nvSpPr>
          <p:cNvPr id="19" name="Google Shape;765;p3">
            <a:extLst>
              <a:ext uri="{FF2B5EF4-FFF2-40B4-BE49-F238E27FC236}">
                <a16:creationId xmlns:a16="http://schemas.microsoft.com/office/drawing/2014/main" id="{540D7446-394F-0629-E537-D0677BA69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194" y="98589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" name="Google Shape;817;p3">
            <a:extLst>
              <a:ext uri="{FF2B5EF4-FFF2-40B4-BE49-F238E27FC236}">
                <a16:creationId xmlns:a16="http://schemas.microsoft.com/office/drawing/2014/main" id="{12BE22B9-723A-B0EB-2F90-D375B3314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543" y="1038626"/>
            <a:ext cx="1373188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Étude de l’existant</a:t>
            </a:r>
            <a:endParaRPr lang="fr-FR" altLang="fr-FR" sz="1200" dirty="0"/>
          </a:p>
        </p:txBody>
      </p:sp>
      <p:sp>
        <p:nvSpPr>
          <p:cNvPr id="21" name="Google Shape;765;p3">
            <a:extLst>
              <a:ext uri="{FF2B5EF4-FFF2-40B4-BE49-F238E27FC236}">
                <a16:creationId xmlns:a16="http://schemas.microsoft.com/office/drawing/2014/main" id="{2080F7D6-DEA9-015B-1193-5C7DB5276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22" y="99258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4652116-F39C-7E45-B786-7914DA9836ED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5125" name="AutoShape 2" descr="Sales Order Vector Icon - [Free Download] - (SVG and PNG)">
            <a:extLst>
              <a:ext uri="{FF2B5EF4-FFF2-40B4-BE49-F238E27FC236}">
                <a16:creationId xmlns:a16="http://schemas.microsoft.com/office/drawing/2014/main" id="{6370FFF2-7608-2357-4073-DA720A08FC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61FF0A4-B4BF-5CA7-E824-408FF0742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628" y="1654937"/>
            <a:ext cx="8421648" cy="1926463"/>
          </a:xfrm>
          <a:prstGeom prst="rect">
            <a:avLst/>
          </a:prstGeom>
        </p:spPr>
      </p:pic>
      <p:sp>
        <p:nvSpPr>
          <p:cNvPr id="8" name="Google Shape;765;p3">
            <a:extLst>
              <a:ext uri="{FF2B5EF4-FFF2-40B4-BE49-F238E27FC236}">
                <a16:creationId xmlns:a16="http://schemas.microsoft.com/office/drawing/2014/main" id="{5F8BE754-5C10-A6F2-B03F-0A8A7A8CB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364" y="992528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Google Shape;817;p3">
            <a:extLst>
              <a:ext uri="{FF2B5EF4-FFF2-40B4-BE49-F238E27FC236}">
                <a16:creationId xmlns:a16="http://schemas.microsoft.com/office/drawing/2014/main" id="{0946CAA5-157D-C378-430E-D7C0D7121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076" y="1005842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Solution</a:t>
            </a:r>
            <a:endParaRPr lang="fr-FR" altLang="fr-FR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DC44A0-0E4A-AAB8-083C-5EBD411E4E5D}"/>
              </a:ext>
            </a:extLst>
          </p:cNvPr>
          <p:cNvSpPr/>
          <p:nvPr/>
        </p:nvSpPr>
        <p:spPr>
          <a:xfrm>
            <a:off x="1618624" y="1591241"/>
            <a:ext cx="8954749" cy="21686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6F14515-E50F-FA6B-4ACA-43C08FA78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144" y="3884303"/>
            <a:ext cx="8629711" cy="234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7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E28F5-5052-35ED-67DB-607CFBD31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83;p8">
            <a:extLst>
              <a:ext uri="{FF2B5EF4-FFF2-40B4-BE49-F238E27FC236}">
                <a16:creationId xmlns:a16="http://schemas.microsoft.com/office/drawing/2014/main" id="{B0058D6E-ABD8-3B45-A0AF-B8E86F04D2D5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2888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4" name="Google Shape;985;p8">
            <a:extLst>
              <a:ext uri="{FF2B5EF4-FFF2-40B4-BE49-F238E27FC236}">
                <a16:creationId xmlns:a16="http://schemas.microsoft.com/office/drawing/2014/main" id="{94BD0254-4791-8394-73BE-3338246BDFAA}"/>
              </a:ext>
            </a:extLst>
          </p:cNvPr>
          <p:cNvGrpSpPr>
            <a:grpSpLocks/>
          </p:cNvGrpSpPr>
          <p:nvPr/>
        </p:nvGrpSpPr>
        <p:grpSpPr bwMode="auto">
          <a:xfrm>
            <a:off x="2397125" y="207963"/>
            <a:ext cx="7024688" cy="504825"/>
            <a:chOff x="841108" y="1294357"/>
            <a:chExt cx="7475308" cy="508077"/>
          </a:xfrm>
        </p:grpSpPr>
        <p:sp>
          <p:nvSpPr>
            <p:cNvPr id="17434" name="Google Shape;986;p8">
              <a:extLst>
                <a:ext uri="{FF2B5EF4-FFF2-40B4-BE49-F238E27FC236}">
                  <a16:creationId xmlns:a16="http://schemas.microsoft.com/office/drawing/2014/main" id="{2445BC65-8AC4-236E-FCCD-6EA453A19E1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579238" y="1294357"/>
              <a:ext cx="669394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17435" name="Google Shape;987;p8">
              <a:extLst>
                <a:ext uri="{FF2B5EF4-FFF2-40B4-BE49-F238E27FC236}">
                  <a16:creationId xmlns:a16="http://schemas.microsoft.com/office/drawing/2014/main" id="{DD651E71-75D3-46F7-AD9B-D120B1A6A9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17436" name="Google Shape;988;p8">
              <a:extLst>
                <a:ext uri="{FF2B5EF4-FFF2-40B4-BE49-F238E27FC236}">
                  <a16:creationId xmlns:a16="http://schemas.microsoft.com/office/drawing/2014/main" id="{B0D1B1A5-E361-99C5-0492-D70F4EAC6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7413" name="Google Shape;989;p8">
            <a:extLst>
              <a:ext uri="{FF2B5EF4-FFF2-40B4-BE49-F238E27FC236}">
                <a16:creationId xmlns:a16="http://schemas.microsoft.com/office/drawing/2014/main" id="{5A8CC20E-48F9-8C1C-D2FE-88E7A656F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7" y="254000"/>
            <a:ext cx="5894631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 du projet et étude de l’existant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7414" name="Google Shape;990;p8">
            <a:extLst>
              <a:ext uri="{FF2B5EF4-FFF2-40B4-BE49-F238E27FC236}">
                <a16:creationId xmlns:a16="http://schemas.microsoft.com/office/drawing/2014/main" id="{F23D0440-6E00-7485-C59D-D8307EBDB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263" y="201613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17415" name="Google Shape;991;p8">
            <a:extLst>
              <a:ext uri="{FF2B5EF4-FFF2-40B4-BE49-F238E27FC236}">
                <a16:creationId xmlns:a16="http://schemas.microsoft.com/office/drawing/2014/main" id="{B2CBE42E-023E-0FBB-C9CF-BF7C650E1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6638" y="198438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17416" name="Google Shape;992;p8">
            <a:extLst>
              <a:ext uri="{FF2B5EF4-FFF2-40B4-BE49-F238E27FC236}">
                <a16:creationId xmlns:a16="http://schemas.microsoft.com/office/drawing/2014/main" id="{DD0B6E15-D82C-3C71-2BC1-732BA0693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2900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17417" name="Google Shape;993;p8">
            <a:extLst>
              <a:ext uri="{FF2B5EF4-FFF2-40B4-BE49-F238E27FC236}">
                <a16:creationId xmlns:a16="http://schemas.microsoft.com/office/drawing/2014/main" id="{0F45C508-73F0-CF0A-84EA-A0774818D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204788"/>
            <a:ext cx="458787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17418" name="Google Shape;994;p8">
            <a:extLst>
              <a:ext uri="{FF2B5EF4-FFF2-40B4-BE49-F238E27FC236}">
                <a16:creationId xmlns:a16="http://schemas.microsoft.com/office/drawing/2014/main" id="{54F39B41-7B85-3EE2-62E5-52CB138F4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1613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17419" name="Google Shape;995;p8">
            <a:extLst>
              <a:ext uri="{FF2B5EF4-FFF2-40B4-BE49-F238E27FC236}">
                <a16:creationId xmlns:a16="http://schemas.microsoft.com/office/drawing/2014/main" id="{48F9AAB4-BA5E-EB6C-2769-4B30A374F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8213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17424" name="Google Shape;1001;p8">
            <a:extLst>
              <a:ext uri="{FF2B5EF4-FFF2-40B4-BE49-F238E27FC236}">
                <a16:creationId xmlns:a16="http://schemas.microsoft.com/office/drawing/2014/main" id="{819FE1D9-CC15-67EE-B13F-B4011FB2559B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3988423" y="849812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427" name="Google Shape;1005;p8">
            <a:extLst>
              <a:ext uri="{FF2B5EF4-FFF2-40B4-BE49-F238E27FC236}">
                <a16:creationId xmlns:a16="http://schemas.microsoft.com/office/drawing/2014/main" id="{769E5A97-310B-42A9-E384-65AA617E7B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431463" y="6589714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5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28" name="Google Shape;1006;p8">
            <a:extLst>
              <a:ext uri="{FF2B5EF4-FFF2-40B4-BE49-F238E27FC236}">
                <a16:creationId xmlns:a16="http://schemas.microsoft.com/office/drawing/2014/main" id="{E5592C7B-E89E-F02F-388D-463682261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6590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6" name="Google Shape;747;p3">
            <a:extLst>
              <a:ext uri="{FF2B5EF4-FFF2-40B4-BE49-F238E27FC236}">
                <a16:creationId xmlns:a16="http://schemas.microsoft.com/office/drawing/2014/main" id="{8E4DF888-D842-F6E0-3617-6C416B5BF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729" y="985838"/>
            <a:ext cx="1392238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Google Shape;763;p3">
            <a:extLst>
              <a:ext uri="{FF2B5EF4-FFF2-40B4-BE49-F238E27FC236}">
                <a16:creationId xmlns:a16="http://schemas.microsoft.com/office/drawing/2014/main" id="{204DB599-87BF-0BE0-76EC-2EEB9F501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729" y="1043870"/>
            <a:ext cx="1331912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18" name="Google Shape;817;p3">
            <a:extLst>
              <a:ext uri="{FF2B5EF4-FFF2-40B4-BE49-F238E27FC236}">
                <a16:creationId xmlns:a16="http://schemas.microsoft.com/office/drawing/2014/main" id="{AC1E1B50-DBEF-6111-A59E-5672C64F8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22" y="1015547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Problématique</a:t>
            </a:r>
            <a:endParaRPr lang="fr-FR" altLang="fr-FR" sz="1200" dirty="0"/>
          </a:p>
        </p:txBody>
      </p:sp>
      <p:sp>
        <p:nvSpPr>
          <p:cNvPr id="19" name="Google Shape;765;p3">
            <a:extLst>
              <a:ext uri="{FF2B5EF4-FFF2-40B4-BE49-F238E27FC236}">
                <a16:creationId xmlns:a16="http://schemas.microsoft.com/office/drawing/2014/main" id="{9F09E194-B788-876A-8CD5-47D194E4E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194" y="98589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" name="Google Shape;817;p3">
            <a:extLst>
              <a:ext uri="{FF2B5EF4-FFF2-40B4-BE49-F238E27FC236}">
                <a16:creationId xmlns:a16="http://schemas.microsoft.com/office/drawing/2014/main" id="{53FBA43B-F606-04A9-7277-FC41B6327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543" y="1038626"/>
            <a:ext cx="1373188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Étude de l’existant</a:t>
            </a:r>
            <a:endParaRPr lang="fr-FR" altLang="fr-FR" sz="1200" dirty="0"/>
          </a:p>
        </p:txBody>
      </p:sp>
      <p:sp>
        <p:nvSpPr>
          <p:cNvPr id="21" name="Google Shape;765;p3">
            <a:extLst>
              <a:ext uri="{FF2B5EF4-FFF2-40B4-BE49-F238E27FC236}">
                <a16:creationId xmlns:a16="http://schemas.microsoft.com/office/drawing/2014/main" id="{C626BC2B-E49E-BEFD-0CA7-CE8B26605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22" y="99258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400BA8B-D08E-255B-0672-DD35C9111002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5125" name="AutoShape 2" descr="Sales Order Vector Icon - [Free Download] - (SVG and PNG)">
            <a:extLst>
              <a:ext uri="{FF2B5EF4-FFF2-40B4-BE49-F238E27FC236}">
                <a16:creationId xmlns:a16="http://schemas.microsoft.com/office/drawing/2014/main" id="{C5F5868C-355A-CCB2-4CF4-73DA377FDE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DAA0D9F-E615-1920-678F-3026ACD94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628" y="1654937"/>
            <a:ext cx="8421648" cy="1926463"/>
          </a:xfrm>
          <a:prstGeom prst="rect">
            <a:avLst/>
          </a:prstGeom>
        </p:spPr>
      </p:pic>
      <p:sp>
        <p:nvSpPr>
          <p:cNvPr id="8" name="Google Shape;765;p3">
            <a:extLst>
              <a:ext uri="{FF2B5EF4-FFF2-40B4-BE49-F238E27FC236}">
                <a16:creationId xmlns:a16="http://schemas.microsoft.com/office/drawing/2014/main" id="{38086522-7CF3-1D79-F232-C58B11809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364" y="992528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Google Shape;817;p3">
            <a:extLst>
              <a:ext uri="{FF2B5EF4-FFF2-40B4-BE49-F238E27FC236}">
                <a16:creationId xmlns:a16="http://schemas.microsoft.com/office/drawing/2014/main" id="{AB576781-A4A9-9D38-6495-4DDAB379C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076" y="1005842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Solution</a:t>
            </a:r>
            <a:endParaRPr lang="fr-FR" altLang="fr-FR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952653-3EB2-F775-0A81-F0F0B6F666BF}"/>
              </a:ext>
            </a:extLst>
          </p:cNvPr>
          <p:cNvSpPr/>
          <p:nvPr/>
        </p:nvSpPr>
        <p:spPr>
          <a:xfrm>
            <a:off x="1618626" y="3713164"/>
            <a:ext cx="8954749" cy="26876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6FEE4E6-0AA8-B871-BE20-551977B15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144" y="3884303"/>
            <a:ext cx="8629711" cy="234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29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2019F-850E-BF7C-B0E3-731AF82FF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83;p8">
            <a:extLst>
              <a:ext uri="{FF2B5EF4-FFF2-40B4-BE49-F238E27FC236}">
                <a16:creationId xmlns:a16="http://schemas.microsoft.com/office/drawing/2014/main" id="{BEE7822F-2FB8-325F-E5CC-C0EBBBD51C01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2888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4" name="Google Shape;985;p8">
            <a:extLst>
              <a:ext uri="{FF2B5EF4-FFF2-40B4-BE49-F238E27FC236}">
                <a16:creationId xmlns:a16="http://schemas.microsoft.com/office/drawing/2014/main" id="{D7189B0E-3202-19A8-211E-B4801D3DAEC7}"/>
              </a:ext>
            </a:extLst>
          </p:cNvPr>
          <p:cNvGrpSpPr>
            <a:grpSpLocks/>
          </p:cNvGrpSpPr>
          <p:nvPr/>
        </p:nvGrpSpPr>
        <p:grpSpPr bwMode="auto">
          <a:xfrm>
            <a:off x="2397125" y="207963"/>
            <a:ext cx="7024688" cy="504825"/>
            <a:chOff x="841108" y="1294357"/>
            <a:chExt cx="7475308" cy="508077"/>
          </a:xfrm>
        </p:grpSpPr>
        <p:sp>
          <p:nvSpPr>
            <p:cNvPr id="17434" name="Google Shape;986;p8">
              <a:extLst>
                <a:ext uri="{FF2B5EF4-FFF2-40B4-BE49-F238E27FC236}">
                  <a16:creationId xmlns:a16="http://schemas.microsoft.com/office/drawing/2014/main" id="{9CE2EBE9-CFE3-0F99-4F3A-716899DEC58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579238" y="1294357"/>
              <a:ext cx="669394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17435" name="Google Shape;987;p8">
              <a:extLst>
                <a:ext uri="{FF2B5EF4-FFF2-40B4-BE49-F238E27FC236}">
                  <a16:creationId xmlns:a16="http://schemas.microsoft.com/office/drawing/2014/main" id="{3BF3FF95-E849-C4BB-9F37-7818E42C15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17436" name="Google Shape;988;p8">
              <a:extLst>
                <a:ext uri="{FF2B5EF4-FFF2-40B4-BE49-F238E27FC236}">
                  <a16:creationId xmlns:a16="http://schemas.microsoft.com/office/drawing/2014/main" id="{524D1AD0-BCE9-AD55-448C-11556489FA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7413" name="Google Shape;989;p8">
            <a:extLst>
              <a:ext uri="{FF2B5EF4-FFF2-40B4-BE49-F238E27FC236}">
                <a16:creationId xmlns:a16="http://schemas.microsoft.com/office/drawing/2014/main" id="{2CAFADA5-6628-3C30-DF5B-31BEEFE11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7" y="254000"/>
            <a:ext cx="5894631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 du projet et étude de l’existant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7414" name="Google Shape;990;p8">
            <a:extLst>
              <a:ext uri="{FF2B5EF4-FFF2-40B4-BE49-F238E27FC236}">
                <a16:creationId xmlns:a16="http://schemas.microsoft.com/office/drawing/2014/main" id="{CD51E3ED-1367-9B05-F6F3-A95198ED8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263" y="201613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17415" name="Google Shape;991;p8">
            <a:extLst>
              <a:ext uri="{FF2B5EF4-FFF2-40B4-BE49-F238E27FC236}">
                <a16:creationId xmlns:a16="http://schemas.microsoft.com/office/drawing/2014/main" id="{DF6305FB-FC39-3B70-B91C-7F604DD70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6638" y="198438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17416" name="Google Shape;992;p8">
            <a:extLst>
              <a:ext uri="{FF2B5EF4-FFF2-40B4-BE49-F238E27FC236}">
                <a16:creationId xmlns:a16="http://schemas.microsoft.com/office/drawing/2014/main" id="{6CD02962-12D1-56CF-EE02-51118B195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2900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17417" name="Google Shape;993;p8">
            <a:extLst>
              <a:ext uri="{FF2B5EF4-FFF2-40B4-BE49-F238E27FC236}">
                <a16:creationId xmlns:a16="http://schemas.microsoft.com/office/drawing/2014/main" id="{FBAEA69C-E43D-447C-8E80-78D9948F3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204788"/>
            <a:ext cx="458787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17418" name="Google Shape;994;p8">
            <a:extLst>
              <a:ext uri="{FF2B5EF4-FFF2-40B4-BE49-F238E27FC236}">
                <a16:creationId xmlns:a16="http://schemas.microsoft.com/office/drawing/2014/main" id="{97619AB6-8B91-C247-A9FB-5F9ABEEB5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1613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17419" name="Google Shape;995;p8">
            <a:extLst>
              <a:ext uri="{FF2B5EF4-FFF2-40B4-BE49-F238E27FC236}">
                <a16:creationId xmlns:a16="http://schemas.microsoft.com/office/drawing/2014/main" id="{0ACA4A35-A148-8A1F-2A28-EB64A4ECA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8213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17424" name="Google Shape;1001;p8">
            <a:extLst>
              <a:ext uri="{FF2B5EF4-FFF2-40B4-BE49-F238E27FC236}">
                <a16:creationId xmlns:a16="http://schemas.microsoft.com/office/drawing/2014/main" id="{ECFDDB4D-9E30-081B-DB13-3CAF0A5A5EAD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3988423" y="849812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427" name="Google Shape;1005;p8">
            <a:extLst>
              <a:ext uri="{FF2B5EF4-FFF2-40B4-BE49-F238E27FC236}">
                <a16:creationId xmlns:a16="http://schemas.microsoft.com/office/drawing/2014/main" id="{16478363-5BC6-B93D-7F8E-5422233B94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431463" y="6589714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5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28" name="Google Shape;1006;p8">
            <a:extLst>
              <a:ext uri="{FF2B5EF4-FFF2-40B4-BE49-F238E27FC236}">
                <a16:creationId xmlns:a16="http://schemas.microsoft.com/office/drawing/2014/main" id="{23A8C6E0-E530-81A6-EAB9-304FC6CFB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6590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6" name="Google Shape;747;p3">
            <a:extLst>
              <a:ext uri="{FF2B5EF4-FFF2-40B4-BE49-F238E27FC236}">
                <a16:creationId xmlns:a16="http://schemas.microsoft.com/office/drawing/2014/main" id="{566CC400-9581-2EED-2B43-5FD96F0D7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729" y="985838"/>
            <a:ext cx="1392238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Google Shape;763;p3">
            <a:extLst>
              <a:ext uri="{FF2B5EF4-FFF2-40B4-BE49-F238E27FC236}">
                <a16:creationId xmlns:a16="http://schemas.microsoft.com/office/drawing/2014/main" id="{3199B413-29C8-108B-4DE6-B678CEEF6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729" y="1043870"/>
            <a:ext cx="1331912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18" name="Google Shape;817;p3">
            <a:extLst>
              <a:ext uri="{FF2B5EF4-FFF2-40B4-BE49-F238E27FC236}">
                <a16:creationId xmlns:a16="http://schemas.microsoft.com/office/drawing/2014/main" id="{540A9D45-6C57-A4A2-70EC-C858B23C9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22" y="1015547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Problématique</a:t>
            </a:r>
            <a:endParaRPr lang="fr-FR" altLang="fr-FR" sz="1200" dirty="0"/>
          </a:p>
        </p:txBody>
      </p:sp>
      <p:sp>
        <p:nvSpPr>
          <p:cNvPr id="19" name="Google Shape;765;p3">
            <a:extLst>
              <a:ext uri="{FF2B5EF4-FFF2-40B4-BE49-F238E27FC236}">
                <a16:creationId xmlns:a16="http://schemas.microsoft.com/office/drawing/2014/main" id="{39857773-3AEB-DD48-B065-42384C01C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194" y="98589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" name="Google Shape;817;p3">
            <a:extLst>
              <a:ext uri="{FF2B5EF4-FFF2-40B4-BE49-F238E27FC236}">
                <a16:creationId xmlns:a16="http://schemas.microsoft.com/office/drawing/2014/main" id="{C6DF185E-2722-BC25-C6BE-8C60A0E6C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543" y="1038626"/>
            <a:ext cx="1373188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Étude de l’existant</a:t>
            </a:r>
            <a:endParaRPr lang="fr-FR" altLang="fr-FR" sz="1200" dirty="0"/>
          </a:p>
        </p:txBody>
      </p:sp>
      <p:sp>
        <p:nvSpPr>
          <p:cNvPr id="21" name="Google Shape;765;p3">
            <a:extLst>
              <a:ext uri="{FF2B5EF4-FFF2-40B4-BE49-F238E27FC236}">
                <a16:creationId xmlns:a16="http://schemas.microsoft.com/office/drawing/2014/main" id="{05E39B3C-6F45-1986-B95C-CF4F2BE65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22" y="99258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B0ED926E-E689-41DA-4D7F-CDA40225E7CE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5125" name="AutoShape 2" descr="Sales Order Vector Icon - [Free Download] - (SVG and PNG)">
            <a:extLst>
              <a:ext uri="{FF2B5EF4-FFF2-40B4-BE49-F238E27FC236}">
                <a16:creationId xmlns:a16="http://schemas.microsoft.com/office/drawing/2014/main" id="{AA2BAA04-4B94-E273-766B-2C523FAC0A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334B2AF-88F9-537C-4514-AB5312DE7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628" y="1654937"/>
            <a:ext cx="8421648" cy="1926463"/>
          </a:xfrm>
          <a:prstGeom prst="rect">
            <a:avLst/>
          </a:prstGeom>
        </p:spPr>
      </p:pic>
      <p:sp>
        <p:nvSpPr>
          <p:cNvPr id="8" name="Google Shape;765;p3">
            <a:extLst>
              <a:ext uri="{FF2B5EF4-FFF2-40B4-BE49-F238E27FC236}">
                <a16:creationId xmlns:a16="http://schemas.microsoft.com/office/drawing/2014/main" id="{822A3313-5261-7019-E8CD-BA9BB3173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364" y="992528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Google Shape;817;p3">
            <a:extLst>
              <a:ext uri="{FF2B5EF4-FFF2-40B4-BE49-F238E27FC236}">
                <a16:creationId xmlns:a16="http://schemas.microsoft.com/office/drawing/2014/main" id="{7D02B56A-AE7B-741E-88F8-071400F7A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076" y="1005842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Solution</a:t>
            </a:r>
            <a:endParaRPr lang="fr-FR" altLang="fr-FR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C3505E-D3CD-A597-C416-275D187853B2}"/>
              </a:ext>
            </a:extLst>
          </p:cNvPr>
          <p:cNvSpPr/>
          <p:nvPr/>
        </p:nvSpPr>
        <p:spPr>
          <a:xfrm>
            <a:off x="1618626" y="3713164"/>
            <a:ext cx="8954749" cy="26876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4F1C724-8D2D-4EAE-11A3-AF983C5E5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144" y="3884303"/>
            <a:ext cx="8629711" cy="234535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C77C521-80E4-E12C-E203-4B6FC03724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1305" y="5552094"/>
            <a:ext cx="2469094" cy="6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243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3C436-C4CC-EF77-12E7-74F11B38E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83;p8">
            <a:extLst>
              <a:ext uri="{FF2B5EF4-FFF2-40B4-BE49-F238E27FC236}">
                <a16:creationId xmlns:a16="http://schemas.microsoft.com/office/drawing/2014/main" id="{785CCC75-BF06-266F-D8BA-13109C403DAB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2888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4" name="Google Shape;985;p8">
            <a:extLst>
              <a:ext uri="{FF2B5EF4-FFF2-40B4-BE49-F238E27FC236}">
                <a16:creationId xmlns:a16="http://schemas.microsoft.com/office/drawing/2014/main" id="{3255D564-0319-B40F-A4EE-D8C8EE05885A}"/>
              </a:ext>
            </a:extLst>
          </p:cNvPr>
          <p:cNvGrpSpPr>
            <a:grpSpLocks/>
          </p:cNvGrpSpPr>
          <p:nvPr/>
        </p:nvGrpSpPr>
        <p:grpSpPr bwMode="auto">
          <a:xfrm>
            <a:off x="2397125" y="207963"/>
            <a:ext cx="7024688" cy="504825"/>
            <a:chOff x="841108" y="1294357"/>
            <a:chExt cx="7475308" cy="508077"/>
          </a:xfrm>
        </p:grpSpPr>
        <p:sp>
          <p:nvSpPr>
            <p:cNvPr id="17434" name="Google Shape;986;p8">
              <a:extLst>
                <a:ext uri="{FF2B5EF4-FFF2-40B4-BE49-F238E27FC236}">
                  <a16:creationId xmlns:a16="http://schemas.microsoft.com/office/drawing/2014/main" id="{F8F6871B-F413-15F0-2522-4193A0CACDA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579238" y="1294357"/>
              <a:ext cx="669394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17435" name="Google Shape;987;p8">
              <a:extLst>
                <a:ext uri="{FF2B5EF4-FFF2-40B4-BE49-F238E27FC236}">
                  <a16:creationId xmlns:a16="http://schemas.microsoft.com/office/drawing/2014/main" id="{8CCC8D17-F509-A082-4703-30C1E3371B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17436" name="Google Shape;988;p8">
              <a:extLst>
                <a:ext uri="{FF2B5EF4-FFF2-40B4-BE49-F238E27FC236}">
                  <a16:creationId xmlns:a16="http://schemas.microsoft.com/office/drawing/2014/main" id="{BCD8025F-6E82-7BC6-1055-2C26AA6A46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7413" name="Google Shape;989;p8">
            <a:extLst>
              <a:ext uri="{FF2B5EF4-FFF2-40B4-BE49-F238E27FC236}">
                <a16:creationId xmlns:a16="http://schemas.microsoft.com/office/drawing/2014/main" id="{79AF7206-422D-B60D-2892-DBF3D9E82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7" y="254000"/>
            <a:ext cx="5894631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 du projet et étude de l’existant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7414" name="Google Shape;990;p8">
            <a:extLst>
              <a:ext uri="{FF2B5EF4-FFF2-40B4-BE49-F238E27FC236}">
                <a16:creationId xmlns:a16="http://schemas.microsoft.com/office/drawing/2014/main" id="{951DC961-0B9E-3378-413F-7DB4ECC8C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263" y="201613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17415" name="Google Shape;991;p8">
            <a:extLst>
              <a:ext uri="{FF2B5EF4-FFF2-40B4-BE49-F238E27FC236}">
                <a16:creationId xmlns:a16="http://schemas.microsoft.com/office/drawing/2014/main" id="{7163E30A-1265-51FD-4CE7-151323EDB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6638" y="198438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17416" name="Google Shape;992;p8">
            <a:extLst>
              <a:ext uri="{FF2B5EF4-FFF2-40B4-BE49-F238E27FC236}">
                <a16:creationId xmlns:a16="http://schemas.microsoft.com/office/drawing/2014/main" id="{BDEB689D-4A31-511B-C814-62A9C6E2C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2900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17417" name="Google Shape;993;p8">
            <a:extLst>
              <a:ext uri="{FF2B5EF4-FFF2-40B4-BE49-F238E27FC236}">
                <a16:creationId xmlns:a16="http://schemas.microsoft.com/office/drawing/2014/main" id="{5518C984-B391-498E-1A36-C06C7075F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204788"/>
            <a:ext cx="458787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17418" name="Google Shape;994;p8">
            <a:extLst>
              <a:ext uri="{FF2B5EF4-FFF2-40B4-BE49-F238E27FC236}">
                <a16:creationId xmlns:a16="http://schemas.microsoft.com/office/drawing/2014/main" id="{F16EC37E-626B-7173-A4D6-5F5E08C51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1613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17419" name="Google Shape;995;p8">
            <a:extLst>
              <a:ext uri="{FF2B5EF4-FFF2-40B4-BE49-F238E27FC236}">
                <a16:creationId xmlns:a16="http://schemas.microsoft.com/office/drawing/2014/main" id="{AF8F0529-D25C-03CA-9496-F2B361672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8213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17424" name="Google Shape;1001;p8">
            <a:extLst>
              <a:ext uri="{FF2B5EF4-FFF2-40B4-BE49-F238E27FC236}">
                <a16:creationId xmlns:a16="http://schemas.microsoft.com/office/drawing/2014/main" id="{36D73B76-1B0D-9F73-0338-A0477A9273D6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3988423" y="849812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427" name="Google Shape;1005;p8">
            <a:extLst>
              <a:ext uri="{FF2B5EF4-FFF2-40B4-BE49-F238E27FC236}">
                <a16:creationId xmlns:a16="http://schemas.microsoft.com/office/drawing/2014/main" id="{218A2AF3-1D9A-5680-1D95-0663D25F8D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431463" y="6589714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5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28" name="Google Shape;1006;p8">
            <a:extLst>
              <a:ext uri="{FF2B5EF4-FFF2-40B4-BE49-F238E27FC236}">
                <a16:creationId xmlns:a16="http://schemas.microsoft.com/office/drawing/2014/main" id="{17FC72F0-B138-0E40-5F7F-97F03D1A7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6590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6" name="Google Shape;747;p3">
            <a:extLst>
              <a:ext uri="{FF2B5EF4-FFF2-40B4-BE49-F238E27FC236}">
                <a16:creationId xmlns:a16="http://schemas.microsoft.com/office/drawing/2014/main" id="{80407BCA-6971-3D7A-6139-2FDEC6602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729" y="985838"/>
            <a:ext cx="1392238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Google Shape;763;p3">
            <a:extLst>
              <a:ext uri="{FF2B5EF4-FFF2-40B4-BE49-F238E27FC236}">
                <a16:creationId xmlns:a16="http://schemas.microsoft.com/office/drawing/2014/main" id="{1F76B416-F6B9-1BE9-C931-1C3DBDEEA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729" y="1043870"/>
            <a:ext cx="1331912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18" name="Google Shape;817;p3">
            <a:extLst>
              <a:ext uri="{FF2B5EF4-FFF2-40B4-BE49-F238E27FC236}">
                <a16:creationId xmlns:a16="http://schemas.microsoft.com/office/drawing/2014/main" id="{5551EF4D-68EE-9F04-B580-0BD4DBFE2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22" y="1015547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Problématique</a:t>
            </a:r>
            <a:endParaRPr lang="fr-FR" altLang="fr-FR" sz="1200" dirty="0"/>
          </a:p>
        </p:txBody>
      </p:sp>
      <p:sp>
        <p:nvSpPr>
          <p:cNvPr id="19" name="Google Shape;765;p3">
            <a:extLst>
              <a:ext uri="{FF2B5EF4-FFF2-40B4-BE49-F238E27FC236}">
                <a16:creationId xmlns:a16="http://schemas.microsoft.com/office/drawing/2014/main" id="{3F9482B4-C3D7-6D8A-4F12-03E098354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194" y="98589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" name="Google Shape;817;p3">
            <a:extLst>
              <a:ext uri="{FF2B5EF4-FFF2-40B4-BE49-F238E27FC236}">
                <a16:creationId xmlns:a16="http://schemas.microsoft.com/office/drawing/2014/main" id="{735CFC5E-A15F-C3D2-9AAD-CD9DAF69B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543" y="1038626"/>
            <a:ext cx="1373188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Étude de l’existant</a:t>
            </a:r>
            <a:endParaRPr lang="fr-FR" altLang="fr-FR" sz="1200" dirty="0"/>
          </a:p>
        </p:txBody>
      </p:sp>
      <p:sp>
        <p:nvSpPr>
          <p:cNvPr id="21" name="Google Shape;765;p3">
            <a:extLst>
              <a:ext uri="{FF2B5EF4-FFF2-40B4-BE49-F238E27FC236}">
                <a16:creationId xmlns:a16="http://schemas.microsoft.com/office/drawing/2014/main" id="{54A98375-2D2C-920B-4B01-ED5637F13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22" y="99258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CDCE1DB-5B8C-241E-BC65-9B5BC3E3CF20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5125" name="AutoShape 2" descr="Sales Order Vector Icon - [Free Download] - (SVG and PNG)">
            <a:extLst>
              <a:ext uri="{FF2B5EF4-FFF2-40B4-BE49-F238E27FC236}">
                <a16:creationId xmlns:a16="http://schemas.microsoft.com/office/drawing/2014/main" id="{F29ED0C4-8E29-894D-34F0-20A0B47B2A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746B11F-A0EE-8431-049E-5D8E3AAF9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628" y="1654937"/>
            <a:ext cx="8421648" cy="1926463"/>
          </a:xfrm>
          <a:prstGeom prst="rect">
            <a:avLst/>
          </a:prstGeom>
        </p:spPr>
      </p:pic>
      <p:sp>
        <p:nvSpPr>
          <p:cNvPr id="8" name="Google Shape;765;p3">
            <a:extLst>
              <a:ext uri="{FF2B5EF4-FFF2-40B4-BE49-F238E27FC236}">
                <a16:creationId xmlns:a16="http://schemas.microsoft.com/office/drawing/2014/main" id="{89279215-9998-FB7D-A2CE-5F5B13B9E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364" y="992528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Google Shape;817;p3">
            <a:extLst>
              <a:ext uri="{FF2B5EF4-FFF2-40B4-BE49-F238E27FC236}">
                <a16:creationId xmlns:a16="http://schemas.microsoft.com/office/drawing/2014/main" id="{26B87F44-40AA-D763-90B9-B8A2DD430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076" y="1005842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Solution</a:t>
            </a:r>
            <a:endParaRPr lang="fr-FR" altLang="fr-FR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E12FB2-7EFA-AE97-F6A6-1E66D380FB48}"/>
              </a:ext>
            </a:extLst>
          </p:cNvPr>
          <p:cNvSpPr/>
          <p:nvPr/>
        </p:nvSpPr>
        <p:spPr>
          <a:xfrm>
            <a:off x="1618626" y="3713164"/>
            <a:ext cx="8954749" cy="26876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F810B63-33C0-DA81-704A-FCC42AE73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144" y="3884303"/>
            <a:ext cx="8629711" cy="234535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7BEAAA3-1913-773D-29A5-20C79F46DA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967" y="5516661"/>
            <a:ext cx="2469094" cy="6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219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9ED3D-8347-D61E-2587-1363293F6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83;p8">
            <a:extLst>
              <a:ext uri="{FF2B5EF4-FFF2-40B4-BE49-F238E27FC236}">
                <a16:creationId xmlns:a16="http://schemas.microsoft.com/office/drawing/2014/main" id="{46B8BEBA-9C2D-86D4-73B9-6324309D2D79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2888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4" name="Google Shape;985;p8">
            <a:extLst>
              <a:ext uri="{FF2B5EF4-FFF2-40B4-BE49-F238E27FC236}">
                <a16:creationId xmlns:a16="http://schemas.microsoft.com/office/drawing/2014/main" id="{1730B9AA-0331-F2E4-3B4B-3C12507B4AD8}"/>
              </a:ext>
            </a:extLst>
          </p:cNvPr>
          <p:cNvGrpSpPr>
            <a:grpSpLocks/>
          </p:cNvGrpSpPr>
          <p:nvPr/>
        </p:nvGrpSpPr>
        <p:grpSpPr bwMode="auto">
          <a:xfrm>
            <a:off x="2397125" y="207963"/>
            <a:ext cx="7024688" cy="504825"/>
            <a:chOff x="841108" y="1294357"/>
            <a:chExt cx="7475308" cy="508077"/>
          </a:xfrm>
        </p:grpSpPr>
        <p:sp>
          <p:nvSpPr>
            <p:cNvPr id="17434" name="Google Shape;986;p8">
              <a:extLst>
                <a:ext uri="{FF2B5EF4-FFF2-40B4-BE49-F238E27FC236}">
                  <a16:creationId xmlns:a16="http://schemas.microsoft.com/office/drawing/2014/main" id="{D55FFC72-05C0-5569-8249-1187998D65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579238" y="1294357"/>
              <a:ext cx="669394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17435" name="Google Shape;987;p8">
              <a:extLst>
                <a:ext uri="{FF2B5EF4-FFF2-40B4-BE49-F238E27FC236}">
                  <a16:creationId xmlns:a16="http://schemas.microsoft.com/office/drawing/2014/main" id="{FF4255B4-8DCF-8667-DF58-FACAA2CFEA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17436" name="Google Shape;988;p8">
              <a:extLst>
                <a:ext uri="{FF2B5EF4-FFF2-40B4-BE49-F238E27FC236}">
                  <a16:creationId xmlns:a16="http://schemas.microsoft.com/office/drawing/2014/main" id="{23829C1C-B533-524E-A358-F4A7A0253C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7413" name="Google Shape;989;p8">
            <a:extLst>
              <a:ext uri="{FF2B5EF4-FFF2-40B4-BE49-F238E27FC236}">
                <a16:creationId xmlns:a16="http://schemas.microsoft.com/office/drawing/2014/main" id="{EDEBA8FF-E444-260C-B072-69BD7E5DF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7" y="254000"/>
            <a:ext cx="5894631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 du projet et étude de l’existant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7414" name="Google Shape;990;p8">
            <a:extLst>
              <a:ext uri="{FF2B5EF4-FFF2-40B4-BE49-F238E27FC236}">
                <a16:creationId xmlns:a16="http://schemas.microsoft.com/office/drawing/2014/main" id="{78C7E8D4-1332-B6B5-289E-A14B60F66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263" y="201613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17415" name="Google Shape;991;p8">
            <a:extLst>
              <a:ext uri="{FF2B5EF4-FFF2-40B4-BE49-F238E27FC236}">
                <a16:creationId xmlns:a16="http://schemas.microsoft.com/office/drawing/2014/main" id="{9FE95A52-06E9-454C-1C83-6CED400BA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6638" y="198438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17416" name="Google Shape;992;p8">
            <a:extLst>
              <a:ext uri="{FF2B5EF4-FFF2-40B4-BE49-F238E27FC236}">
                <a16:creationId xmlns:a16="http://schemas.microsoft.com/office/drawing/2014/main" id="{650FBE13-BAAA-B080-9A23-4115352AA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2900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17417" name="Google Shape;993;p8">
            <a:extLst>
              <a:ext uri="{FF2B5EF4-FFF2-40B4-BE49-F238E27FC236}">
                <a16:creationId xmlns:a16="http://schemas.microsoft.com/office/drawing/2014/main" id="{837E859E-78CC-A967-2F31-D5ADAF42E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204788"/>
            <a:ext cx="458787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17418" name="Google Shape;994;p8">
            <a:extLst>
              <a:ext uri="{FF2B5EF4-FFF2-40B4-BE49-F238E27FC236}">
                <a16:creationId xmlns:a16="http://schemas.microsoft.com/office/drawing/2014/main" id="{A98E0590-4657-BAA4-FCEE-5F5374196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1613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17419" name="Google Shape;995;p8">
            <a:extLst>
              <a:ext uri="{FF2B5EF4-FFF2-40B4-BE49-F238E27FC236}">
                <a16:creationId xmlns:a16="http://schemas.microsoft.com/office/drawing/2014/main" id="{BD35DCB2-BA13-C6A7-40D8-779390AD8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8213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17424" name="Google Shape;1001;p8">
            <a:extLst>
              <a:ext uri="{FF2B5EF4-FFF2-40B4-BE49-F238E27FC236}">
                <a16:creationId xmlns:a16="http://schemas.microsoft.com/office/drawing/2014/main" id="{F800F217-5956-294B-2021-C64F7B49BBDE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3988423" y="849812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427" name="Google Shape;1005;p8">
            <a:extLst>
              <a:ext uri="{FF2B5EF4-FFF2-40B4-BE49-F238E27FC236}">
                <a16:creationId xmlns:a16="http://schemas.microsoft.com/office/drawing/2014/main" id="{752DEF2E-45E2-98AB-5EC0-EBEAFF8677C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431463" y="6589714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5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28" name="Google Shape;1006;p8">
            <a:extLst>
              <a:ext uri="{FF2B5EF4-FFF2-40B4-BE49-F238E27FC236}">
                <a16:creationId xmlns:a16="http://schemas.microsoft.com/office/drawing/2014/main" id="{9D6A4C61-0681-995E-0A96-5D6CF7097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6590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6" name="Google Shape;747;p3">
            <a:extLst>
              <a:ext uri="{FF2B5EF4-FFF2-40B4-BE49-F238E27FC236}">
                <a16:creationId xmlns:a16="http://schemas.microsoft.com/office/drawing/2014/main" id="{FD578DBA-F685-47C9-B6BF-04442B737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729" y="985838"/>
            <a:ext cx="1392238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Google Shape;763;p3">
            <a:extLst>
              <a:ext uri="{FF2B5EF4-FFF2-40B4-BE49-F238E27FC236}">
                <a16:creationId xmlns:a16="http://schemas.microsoft.com/office/drawing/2014/main" id="{5FCF75FE-2C5E-BF9E-75EF-D51F86D5E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729" y="1043870"/>
            <a:ext cx="1331912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18" name="Google Shape;817;p3">
            <a:extLst>
              <a:ext uri="{FF2B5EF4-FFF2-40B4-BE49-F238E27FC236}">
                <a16:creationId xmlns:a16="http://schemas.microsoft.com/office/drawing/2014/main" id="{B206ACFD-1454-83C1-1DEA-C2218DB4C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22" y="1015547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Problématique</a:t>
            </a:r>
            <a:endParaRPr lang="fr-FR" altLang="fr-FR" sz="1200" dirty="0"/>
          </a:p>
        </p:txBody>
      </p:sp>
      <p:sp>
        <p:nvSpPr>
          <p:cNvPr id="19" name="Google Shape;765;p3">
            <a:extLst>
              <a:ext uri="{FF2B5EF4-FFF2-40B4-BE49-F238E27FC236}">
                <a16:creationId xmlns:a16="http://schemas.microsoft.com/office/drawing/2014/main" id="{7ED04260-96AB-2681-A936-2E04F6B29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194" y="98589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" name="Google Shape;817;p3">
            <a:extLst>
              <a:ext uri="{FF2B5EF4-FFF2-40B4-BE49-F238E27FC236}">
                <a16:creationId xmlns:a16="http://schemas.microsoft.com/office/drawing/2014/main" id="{DA270A4D-7070-A0BD-C3EC-757B1E504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543" y="1038626"/>
            <a:ext cx="1373188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Étude de l’existant</a:t>
            </a:r>
            <a:endParaRPr lang="fr-FR" altLang="fr-FR" sz="1200" dirty="0"/>
          </a:p>
        </p:txBody>
      </p:sp>
      <p:sp>
        <p:nvSpPr>
          <p:cNvPr id="21" name="Google Shape;765;p3">
            <a:extLst>
              <a:ext uri="{FF2B5EF4-FFF2-40B4-BE49-F238E27FC236}">
                <a16:creationId xmlns:a16="http://schemas.microsoft.com/office/drawing/2014/main" id="{C3B40147-57E5-6A86-907D-4D7C1E345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22" y="99258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4155FFE-0A01-B412-1C5B-729E8F7F69C5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5125" name="AutoShape 2" descr="Sales Order Vector Icon - [Free Download] - (SVG and PNG)">
            <a:extLst>
              <a:ext uri="{FF2B5EF4-FFF2-40B4-BE49-F238E27FC236}">
                <a16:creationId xmlns:a16="http://schemas.microsoft.com/office/drawing/2014/main" id="{A743D518-EF53-ACC4-C616-FD09C9E180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A02D7E2-5311-4672-010E-D40FC54D7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628" y="1654937"/>
            <a:ext cx="8421648" cy="1926463"/>
          </a:xfrm>
          <a:prstGeom prst="rect">
            <a:avLst/>
          </a:prstGeom>
        </p:spPr>
      </p:pic>
      <p:sp>
        <p:nvSpPr>
          <p:cNvPr id="8" name="Google Shape;765;p3">
            <a:extLst>
              <a:ext uri="{FF2B5EF4-FFF2-40B4-BE49-F238E27FC236}">
                <a16:creationId xmlns:a16="http://schemas.microsoft.com/office/drawing/2014/main" id="{94C2ADD1-ED7B-02C9-80A0-3C7992C70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364" y="992528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Google Shape;817;p3">
            <a:extLst>
              <a:ext uri="{FF2B5EF4-FFF2-40B4-BE49-F238E27FC236}">
                <a16:creationId xmlns:a16="http://schemas.microsoft.com/office/drawing/2014/main" id="{D63EA2D1-23E7-D1A1-1679-C51613C9F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076" y="1005842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Solution</a:t>
            </a:r>
            <a:endParaRPr lang="fr-FR" altLang="fr-FR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8EA516-6A11-FAE2-B183-6867717CF1FA}"/>
              </a:ext>
            </a:extLst>
          </p:cNvPr>
          <p:cNvSpPr/>
          <p:nvPr/>
        </p:nvSpPr>
        <p:spPr>
          <a:xfrm>
            <a:off x="1618626" y="3713164"/>
            <a:ext cx="8954749" cy="26876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FF1985E-D009-3B69-442B-72D89E3DC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144" y="3884303"/>
            <a:ext cx="8629711" cy="234535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3381249-AFF5-6F56-0FEA-39340E409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4119" y="5450370"/>
            <a:ext cx="2554931" cy="67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075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A5247-2A88-0728-5649-7261377DA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83;p8">
            <a:extLst>
              <a:ext uri="{FF2B5EF4-FFF2-40B4-BE49-F238E27FC236}">
                <a16:creationId xmlns:a16="http://schemas.microsoft.com/office/drawing/2014/main" id="{FF35B613-A7E9-C1A0-2B7D-522FDC2AB148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2888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4" name="Google Shape;985;p8">
            <a:extLst>
              <a:ext uri="{FF2B5EF4-FFF2-40B4-BE49-F238E27FC236}">
                <a16:creationId xmlns:a16="http://schemas.microsoft.com/office/drawing/2014/main" id="{72B46B9E-51CA-7308-50E4-FA1D23315D96}"/>
              </a:ext>
            </a:extLst>
          </p:cNvPr>
          <p:cNvGrpSpPr>
            <a:grpSpLocks/>
          </p:cNvGrpSpPr>
          <p:nvPr/>
        </p:nvGrpSpPr>
        <p:grpSpPr bwMode="auto">
          <a:xfrm>
            <a:off x="2397125" y="207963"/>
            <a:ext cx="7024688" cy="504825"/>
            <a:chOff x="841108" y="1294357"/>
            <a:chExt cx="7475308" cy="508077"/>
          </a:xfrm>
        </p:grpSpPr>
        <p:sp>
          <p:nvSpPr>
            <p:cNvPr id="17434" name="Google Shape;986;p8">
              <a:extLst>
                <a:ext uri="{FF2B5EF4-FFF2-40B4-BE49-F238E27FC236}">
                  <a16:creationId xmlns:a16="http://schemas.microsoft.com/office/drawing/2014/main" id="{89C4A040-F781-9752-5A74-FF7F76D09D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579238" y="1294357"/>
              <a:ext cx="669394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17435" name="Google Shape;987;p8">
              <a:extLst>
                <a:ext uri="{FF2B5EF4-FFF2-40B4-BE49-F238E27FC236}">
                  <a16:creationId xmlns:a16="http://schemas.microsoft.com/office/drawing/2014/main" id="{B02AE9EF-ABF7-5DAF-3A9A-01923161AB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17436" name="Google Shape;988;p8">
              <a:extLst>
                <a:ext uri="{FF2B5EF4-FFF2-40B4-BE49-F238E27FC236}">
                  <a16:creationId xmlns:a16="http://schemas.microsoft.com/office/drawing/2014/main" id="{C46AB9A9-13B4-96D6-ECAA-127824EBB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7413" name="Google Shape;989;p8">
            <a:extLst>
              <a:ext uri="{FF2B5EF4-FFF2-40B4-BE49-F238E27FC236}">
                <a16:creationId xmlns:a16="http://schemas.microsoft.com/office/drawing/2014/main" id="{A8CA2789-22F6-FAE3-849B-4FBF41E84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7" y="254000"/>
            <a:ext cx="5894631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 du projet et étude de l’existant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7414" name="Google Shape;990;p8">
            <a:extLst>
              <a:ext uri="{FF2B5EF4-FFF2-40B4-BE49-F238E27FC236}">
                <a16:creationId xmlns:a16="http://schemas.microsoft.com/office/drawing/2014/main" id="{223AF1D8-22E5-9542-0BFD-D63698829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263" y="201613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17415" name="Google Shape;991;p8">
            <a:extLst>
              <a:ext uri="{FF2B5EF4-FFF2-40B4-BE49-F238E27FC236}">
                <a16:creationId xmlns:a16="http://schemas.microsoft.com/office/drawing/2014/main" id="{34348191-6079-0235-151E-E578ED2AF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6638" y="198438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17416" name="Google Shape;992;p8">
            <a:extLst>
              <a:ext uri="{FF2B5EF4-FFF2-40B4-BE49-F238E27FC236}">
                <a16:creationId xmlns:a16="http://schemas.microsoft.com/office/drawing/2014/main" id="{D8D73290-1EB8-74F2-626B-7C079A588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2900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17417" name="Google Shape;993;p8">
            <a:extLst>
              <a:ext uri="{FF2B5EF4-FFF2-40B4-BE49-F238E27FC236}">
                <a16:creationId xmlns:a16="http://schemas.microsoft.com/office/drawing/2014/main" id="{261F5634-280D-A5B9-71F8-0C674677C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204788"/>
            <a:ext cx="458787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17418" name="Google Shape;994;p8">
            <a:extLst>
              <a:ext uri="{FF2B5EF4-FFF2-40B4-BE49-F238E27FC236}">
                <a16:creationId xmlns:a16="http://schemas.microsoft.com/office/drawing/2014/main" id="{31661F54-5D00-14EA-B9FD-A64F7214A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1613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17419" name="Google Shape;995;p8">
            <a:extLst>
              <a:ext uri="{FF2B5EF4-FFF2-40B4-BE49-F238E27FC236}">
                <a16:creationId xmlns:a16="http://schemas.microsoft.com/office/drawing/2014/main" id="{D3472FCC-ABA8-70A9-9BE3-BF9B4D204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8213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17424" name="Google Shape;1001;p8">
            <a:extLst>
              <a:ext uri="{FF2B5EF4-FFF2-40B4-BE49-F238E27FC236}">
                <a16:creationId xmlns:a16="http://schemas.microsoft.com/office/drawing/2014/main" id="{0D129971-D7EF-AFEC-5AF3-6BCABC5D04D7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3988423" y="849812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427" name="Google Shape;1005;p8">
            <a:extLst>
              <a:ext uri="{FF2B5EF4-FFF2-40B4-BE49-F238E27FC236}">
                <a16:creationId xmlns:a16="http://schemas.microsoft.com/office/drawing/2014/main" id="{2EC5D05F-4DF0-65C5-D79C-DE4B93C5974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431463" y="6589714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6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28" name="Google Shape;1006;p8">
            <a:extLst>
              <a:ext uri="{FF2B5EF4-FFF2-40B4-BE49-F238E27FC236}">
                <a16:creationId xmlns:a16="http://schemas.microsoft.com/office/drawing/2014/main" id="{296B507C-8EA0-94F0-2A47-F2C1E780F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6590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6" name="Google Shape;747;p3">
            <a:extLst>
              <a:ext uri="{FF2B5EF4-FFF2-40B4-BE49-F238E27FC236}">
                <a16:creationId xmlns:a16="http://schemas.microsoft.com/office/drawing/2014/main" id="{E2C3BDF0-D247-464E-C2AB-896139FA4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729" y="985838"/>
            <a:ext cx="1392238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Google Shape;763;p3">
            <a:extLst>
              <a:ext uri="{FF2B5EF4-FFF2-40B4-BE49-F238E27FC236}">
                <a16:creationId xmlns:a16="http://schemas.microsoft.com/office/drawing/2014/main" id="{F6061453-4741-7D40-CEC5-E8D64E9EA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729" y="1043870"/>
            <a:ext cx="1331912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18" name="Google Shape;817;p3">
            <a:extLst>
              <a:ext uri="{FF2B5EF4-FFF2-40B4-BE49-F238E27FC236}">
                <a16:creationId xmlns:a16="http://schemas.microsoft.com/office/drawing/2014/main" id="{D1A59DAB-E237-2C32-01A5-B81B23C40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22" y="1015547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Problématique</a:t>
            </a:r>
            <a:endParaRPr lang="fr-FR" altLang="fr-FR" sz="1200" dirty="0"/>
          </a:p>
        </p:txBody>
      </p:sp>
      <p:sp>
        <p:nvSpPr>
          <p:cNvPr id="19" name="Google Shape;765;p3">
            <a:extLst>
              <a:ext uri="{FF2B5EF4-FFF2-40B4-BE49-F238E27FC236}">
                <a16:creationId xmlns:a16="http://schemas.microsoft.com/office/drawing/2014/main" id="{A055430A-74AD-8E00-BF00-A4BD234B3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194" y="98589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" name="Google Shape;817;p3">
            <a:extLst>
              <a:ext uri="{FF2B5EF4-FFF2-40B4-BE49-F238E27FC236}">
                <a16:creationId xmlns:a16="http://schemas.microsoft.com/office/drawing/2014/main" id="{FA3D25E7-264E-483D-2F59-7ACE32C6E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543" y="1038626"/>
            <a:ext cx="1373188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Étude de l’existant</a:t>
            </a:r>
            <a:endParaRPr lang="fr-FR" altLang="fr-FR" sz="1200" dirty="0"/>
          </a:p>
        </p:txBody>
      </p:sp>
      <p:sp>
        <p:nvSpPr>
          <p:cNvPr id="21" name="Google Shape;765;p3">
            <a:extLst>
              <a:ext uri="{FF2B5EF4-FFF2-40B4-BE49-F238E27FC236}">
                <a16:creationId xmlns:a16="http://schemas.microsoft.com/office/drawing/2014/main" id="{6635B096-D160-80E6-F34D-5BCC17906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22" y="99258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B00057E-F273-B43F-6AA7-D96BC23461E5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CDC39BD-A2B7-97C2-AC1C-3817D1742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757808"/>
            <a:ext cx="7679795" cy="348615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E1A19B0-6225-5CBE-1001-B42AA75C2269}"/>
              </a:ext>
            </a:extLst>
          </p:cNvPr>
          <p:cNvSpPr txBox="1"/>
          <p:nvPr/>
        </p:nvSpPr>
        <p:spPr>
          <a:xfrm>
            <a:off x="3016773" y="2018561"/>
            <a:ext cx="63224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SAP : </a:t>
            </a:r>
            <a:r>
              <a:rPr lang="en-US" sz="1600" b="1" dirty="0"/>
              <a:t>Systems Applications and Products in Data Processing</a:t>
            </a:r>
            <a:endParaRPr lang="fr-FR" sz="1600" b="1" dirty="0"/>
          </a:p>
        </p:txBody>
      </p:sp>
      <p:sp>
        <p:nvSpPr>
          <p:cNvPr id="3" name="Google Shape;765;p3">
            <a:extLst>
              <a:ext uri="{FF2B5EF4-FFF2-40B4-BE49-F238E27FC236}">
                <a16:creationId xmlns:a16="http://schemas.microsoft.com/office/drawing/2014/main" id="{B26A0E03-5492-46AC-3C84-ECEEE6E25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364" y="992528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5" name="Google Shape;817;p3">
            <a:extLst>
              <a:ext uri="{FF2B5EF4-FFF2-40B4-BE49-F238E27FC236}">
                <a16:creationId xmlns:a16="http://schemas.microsoft.com/office/drawing/2014/main" id="{25193D87-33D9-6B08-36C8-C1BAB57FF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076" y="1005842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Solution</a:t>
            </a:r>
            <a:endParaRPr lang="fr-FR" altLang="fr-FR" sz="1200" dirty="0"/>
          </a:p>
        </p:txBody>
      </p:sp>
    </p:spTree>
    <p:extLst>
      <p:ext uri="{BB962C8B-B14F-4D97-AF65-F5344CB8AC3E}">
        <p14:creationId xmlns:p14="http://schemas.microsoft.com/office/powerpoint/2010/main" val="8206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95633-FB67-F9E5-1AC1-754CCA934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83;p8">
            <a:extLst>
              <a:ext uri="{FF2B5EF4-FFF2-40B4-BE49-F238E27FC236}">
                <a16:creationId xmlns:a16="http://schemas.microsoft.com/office/drawing/2014/main" id="{A14D8175-E5D0-33E3-F20E-B7D1ACE12E45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2888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4" name="Google Shape;985;p8">
            <a:extLst>
              <a:ext uri="{FF2B5EF4-FFF2-40B4-BE49-F238E27FC236}">
                <a16:creationId xmlns:a16="http://schemas.microsoft.com/office/drawing/2014/main" id="{282BBD12-DDAA-0155-05CF-B7CF74843884}"/>
              </a:ext>
            </a:extLst>
          </p:cNvPr>
          <p:cNvGrpSpPr>
            <a:grpSpLocks/>
          </p:cNvGrpSpPr>
          <p:nvPr/>
        </p:nvGrpSpPr>
        <p:grpSpPr bwMode="auto">
          <a:xfrm>
            <a:off x="2397125" y="207963"/>
            <a:ext cx="7024688" cy="504825"/>
            <a:chOff x="841108" y="1294357"/>
            <a:chExt cx="7475308" cy="508077"/>
          </a:xfrm>
        </p:grpSpPr>
        <p:sp>
          <p:nvSpPr>
            <p:cNvPr id="17434" name="Google Shape;986;p8">
              <a:extLst>
                <a:ext uri="{FF2B5EF4-FFF2-40B4-BE49-F238E27FC236}">
                  <a16:creationId xmlns:a16="http://schemas.microsoft.com/office/drawing/2014/main" id="{BA7A89D8-3B9A-D7D6-048A-5CAB76C51E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579238" y="1294357"/>
              <a:ext cx="669394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17435" name="Google Shape;987;p8">
              <a:extLst>
                <a:ext uri="{FF2B5EF4-FFF2-40B4-BE49-F238E27FC236}">
                  <a16:creationId xmlns:a16="http://schemas.microsoft.com/office/drawing/2014/main" id="{BE88B83B-EA7F-D5DE-C10B-D8EEC6892F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17436" name="Google Shape;988;p8">
              <a:extLst>
                <a:ext uri="{FF2B5EF4-FFF2-40B4-BE49-F238E27FC236}">
                  <a16:creationId xmlns:a16="http://schemas.microsoft.com/office/drawing/2014/main" id="{6DB62E4A-6EAB-06F7-14A3-655A2DBBC6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7413" name="Google Shape;989;p8">
            <a:extLst>
              <a:ext uri="{FF2B5EF4-FFF2-40B4-BE49-F238E27FC236}">
                <a16:creationId xmlns:a16="http://schemas.microsoft.com/office/drawing/2014/main" id="{165B1408-4E84-E200-BC28-804DFA352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7" y="254000"/>
            <a:ext cx="5894631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 du projet et étude de l’existant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7414" name="Google Shape;990;p8">
            <a:extLst>
              <a:ext uri="{FF2B5EF4-FFF2-40B4-BE49-F238E27FC236}">
                <a16:creationId xmlns:a16="http://schemas.microsoft.com/office/drawing/2014/main" id="{021C4196-1F20-7267-0554-7DE0C876D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263" y="201613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17415" name="Google Shape;991;p8">
            <a:extLst>
              <a:ext uri="{FF2B5EF4-FFF2-40B4-BE49-F238E27FC236}">
                <a16:creationId xmlns:a16="http://schemas.microsoft.com/office/drawing/2014/main" id="{B5C04A77-7E3A-09F5-5962-F81BA3F8B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6638" y="198438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17416" name="Google Shape;992;p8">
            <a:extLst>
              <a:ext uri="{FF2B5EF4-FFF2-40B4-BE49-F238E27FC236}">
                <a16:creationId xmlns:a16="http://schemas.microsoft.com/office/drawing/2014/main" id="{C48DE01C-622F-E514-429E-0C5E00AB8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2900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17417" name="Google Shape;993;p8">
            <a:extLst>
              <a:ext uri="{FF2B5EF4-FFF2-40B4-BE49-F238E27FC236}">
                <a16:creationId xmlns:a16="http://schemas.microsoft.com/office/drawing/2014/main" id="{AA9F5058-CA68-99A7-0563-8C15C2B44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204788"/>
            <a:ext cx="458787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17418" name="Google Shape;994;p8">
            <a:extLst>
              <a:ext uri="{FF2B5EF4-FFF2-40B4-BE49-F238E27FC236}">
                <a16:creationId xmlns:a16="http://schemas.microsoft.com/office/drawing/2014/main" id="{FE720968-C14A-912E-5945-C0FBBDFE4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1613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17419" name="Google Shape;995;p8">
            <a:extLst>
              <a:ext uri="{FF2B5EF4-FFF2-40B4-BE49-F238E27FC236}">
                <a16:creationId xmlns:a16="http://schemas.microsoft.com/office/drawing/2014/main" id="{82ECE53D-8D98-9D2B-E9EF-0462310FE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8213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17424" name="Google Shape;1001;p8">
            <a:extLst>
              <a:ext uri="{FF2B5EF4-FFF2-40B4-BE49-F238E27FC236}">
                <a16:creationId xmlns:a16="http://schemas.microsoft.com/office/drawing/2014/main" id="{14C4B439-8EB5-7BB8-EE9C-28EB542F9828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3988423" y="849812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427" name="Google Shape;1005;p8">
            <a:extLst>
              <a:ext uri="{FF2B5EF4-FFF2-40B4-BE49-F238E27FC236}">
                <a16:creationId xmlns:a16="http://schemas.microsoft.com/office/drawing/2014/main" id="{88DB401A-FFC8-FFB1-334B-99D98999F72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431463" y="6589714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7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28" name="Google Shape;1006;p8">
            <a:extLst>
              <a:ext uri="{FF2B5EF4-FFF2-40B4-BE49-F238E27FC236}">
                <a16:creationId xmlns:a16="http://schemas.microsoft.com/office/drawing/2014/main" id="{60374674-3CEF-12E1-FEF7-6197B75C7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6590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6" name="Google Shape;747;p3">
            <a:extLst>
              <a:ext uri="{FF2B5EF4-FFF2-40B4-BE49-F238E27FC236}">
                <a16:creationId xmlns:a16="http://schemas.microsoft.com/office/drawing/2014/main" id="{AE77FF74-4F67-4D63-4FF8-F9718B15D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729" y="985838"/>
            <a:ext cx="1392238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Google Shape;763;p3">
            <a:extLst>
              <a:ext uri="{FF2B5EF4-FFF2-40B4-BE49-F238E27FC236}">
                <a16:creationId xmlns:a16="http://schemas.microsoft.com/office/drawing/2014/main" id="{1CD6B3E1-3839-DE75-2D07-CB77D0F1E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729" y="1043870"/>
            <a:ext cx="1331912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18" name="Google Shape;817;p3">
            <a:extLst>
              <a:ext uri="{FF2B5EF4-FFF2-40B4-BE49-F238E27FC236}">
                <a16:creationId xmlns:a16="http://schemas.microsoft.com/office/drawing/2014/main" id="{CA40532C-8745-7903-5DD5-68CBE918E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22" y="1015547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Problématique</a:t>
            </a:r>
            <a:endParaRPr lang="fr-FR" altLang="fr-FR" sz="1200" dirty="0"/>
          </a:p>
        </p:txBody>
      </p:sp>
      <p:sp>
        <p:nvSpPr>
          <p:cNvPr id="19" name="Google Shape;765;p3">
            <a:extLst>
              <a:ext uri="{FF2B5EF4-FFF2-40B4-BE49-F238E27FC236}">
                <a16:creationId xmlns:a16="http://schemas.microsoft.com/office/drawing/2014/main" id="{E4B41A79-3F58-7A46-3AA2-333A84B19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194" y="98589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" name="Google Shape;817;p3">
            <a:extLst>
              <a:ext uri="{FF2B5EF4-FFF2-40B4-BE49-F238E27FC236}">
                <a16:creationId xmlns:a16="http://schemas.microsoft.com/office/drawing/2014/main" id="{BE924163-C68A-DAA3-4A6C-40B4A9966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543" y="1038626"/>
            <a:ext cx="1373188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Étude de l’existant</a:t>
            </a:r>
            <a:endParaRPr lang="fr-FR" altLang="fr-FR" sz="1200" dirty="0"/>
          </a:p>
        </p:txBody>
      </p:sp>
      <p:sp>
        <p:nvSpPr>
          <p:cNvPr id="21" name="Google Shape;765;p3">
            <a:extLst>
              <a:ext uri="{FF2B5EF4-FFF2-40B4-BE49-F238E27FC236}">
                <a16:creationId xmlns:a16="http://schemas.microsoft.com/office/drawing/2014/main" id="{B88507FC-F3BB-D487-A6A2-F506B6408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22" y="99258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49F5C34-C5DF-162D-75BF-3CA3A6D08817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9295EE8-0537-0587-0EBB-1C02C82E0FA5}"/>
              </a:ext>
            </a:extLst>
          </p:cNvPr>
          <p:cNvSpPr txBox="1"/>
          <p:nvPr/>
        </p:nvSpPr>
        <p:spPr>
          <a:xfrm>
            <a:off x="5194277" y="1831147"/>
            <a:ext cx="67533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Consulant</a:t>
            </a:r>
            <a:r>
              <a:rPr lang="fr-FR" sz="1600" b="1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SAP </a:t>
            </a:r>
            <a:endParaRPr lang="fr-FR" sz="1600" dirty="0">
              <a:latin typeface="+mj-lt"/>
            </a:endParaRPr>
          </a:p>
        </p:txBody>
      </p:sp>
      <p:pic>
        <p:nvPicPr>
          <p:cNvPr id="2" name="Picture 4" descr="SAP Blue Logo Vector -Logo Brands For Free HD 3D">
            <a:extLst>
              <a:ext uri="{FF2B5EF4-FFF2-40B4-BE49-F238E27FC236}">
                <a16:creationId xmlns:a16="http://schemas.microsoft.com/office/drawing/2014/main" id="{AD6088A5-A6BE-A0AD-9084-99B572C84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623" y="2508259"/>
            <a:ext cx="3117772" cy="1539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37">
            <a:extLst>
              <a:ext uri="{FF2B5EF4-FFF2-40B4-BE49-F238E27FC236}">
                <a16:creationId xmlns:a16="http://schemas.microsoft.com/office/drawing/2014/main" id="{AC1B3569-67A1-C354-DDB4-3161813C5FBF}"/>
              </a:ext>
            </a:extLst>
          </p:cNvPr>
          <p:cNvSpPr/>
          <p:nvPr/>
        </p:nvSpPr>
        <p:spPr>
          <a:xfrm>
            <a:off x="2301607" y="3269985"/>
            <a:ext cx="2016087" cy="129292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consultant SAP fonctionnel </a:t>
            </a:r>
          </a:p>
        </p:txBody>
      </p:sp>
      <p:sp>
        <p:nvSpPr>
          <p:cNvPr id="6" name="Rectangle: Rounded Corners 38">
            <a:extLst>
              <a:ext uri="{FF2B5EF4-FFF2-40B4-BE49-F238E27FC236}">
                <a16:creationId xmlns:a16="http://schemas.microsoft.com/office/drawing/2014/main" id="{204D7BCD-AF73-AC81-2FBA-3040F7C1948F}"/>
              </a:ext>
            </a:extLst>
          </p:cNvPr>
          <p:cNvSpPr/>
          <p:nvPr/>
        </p:nvSpPr>
        <p:spPr>
          <a:xfrm>
            <a:off x="8212331" y="3269985"/>
            <a:ext cx="2016087" cy="129292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consultant SAP technique</a:t>
            </a:r>
          </a:p>
        </p:txBody>
      </p:sp>
      <p:sp>
        <p:nvSpPr>
          <p:cNvPr id="8" name="Rectangle: Rounded Corners 39">
            <a:extLst>
              <a:ext uri="{FF2B5EF4-FFF2-40B4-BE49-F238E27FC236}">
                <a16:creationId xmlns:a16="http://schemas.microsoft.com/office/drawing/2014/main" id="{B2C77C15-3C4E-D3AB-ADC4-D63564C70A47}"/>
              </a:ext>
            </a:extLst>
          </p:cNvPr>
          <p:cNvSpPr/>
          <p:nvPr/>
        </p:nvSpPr>
        <p:spPr>
          <a:xfrm>
            <a:off x="6099168" y="5008757"/>
            <a:ext cx="1891227" cy="94753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Développement</a:t>
            </a:r>
          </a:p>
        </p:txBody>
      </p:sp>
      <p:sp>
        <p:nvSpPr>
          <p:cNvPr id="9" name="Rectangle: Rounded Corners 40">
            <a:extLst>
              <a:ext uri="{FF2B5EF4-FFF2-40B4-BE49-F238E27FC236}">
                <a16:creationId xmlns:a16="http://schemas.microsoft.com/office/drawing/2014/main" id="{C5E3358E-CF63-B8A0-1C04-2E1029E50CE6}"/>
              </a:ext>
            </a:extLst>
          </p:cNvPr>
          <p:cNvSpPr/>
          <p:nvPr/>
        </p:nvSpPr>
        <p:spPr>
          <a:xfrm>
            <a:off x="8339607" y="5022763"/>
            <a:ext cx="1766535" cy="94753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Intégration et architecture</a:t>
            </a:r>
          </a:p>
        </p:txBody>
      </p:sp>
      <p:sp>
        <p:nvSpPr>
          <p:cNvPr id="10" name="Rectangle: Rounded Corners 41">
            <a:extLst>
              <a:ext uri="{FF2B5EF4-FFF2-40B4-BE49-F238E27FC236}">
                <a16:creationId xmlns:a16="http://schemas.microsoft.com/office/drawing/2014/main" id="{026B9E86-7A4B-633D-7490-85862E08EB20}"/>
              </a:ext>
            </a:extLst>
          </p:cNvPr>
          <p:cNvSpPr/>
          <p:nvPr/>
        </p:nvSpPr>
        <p:spPr>
          <a:xfrm>
            <a:off x="10305722" y="5025458"/>
            <a:ext cx="1766535" cy="94753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Administrateur</a:t>
            </a:r>
          </a:p>
        </p:txBody>
      </p:sp>
      <p:cxnSp>
        <p:nvCxnSpPr>
          <p:cNvPr id="11" name="Straight Arrow Connector 43">
            <a:extLst>
              <a:ext uri="{FF2B5EF4-FFF2-40B4-BE49-F238E27FC236}">
                <a16:creationId xmlns:a16="http://schemas.microsoft.com/office/drawing/2014/main" id="{2D4768BE-D4D1-6A84-83F5-D8866009F1D3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7044782" y="4548899"/>
            <a:ext cx="1248409" cy="459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45">
            <a:extLst>
              <a:ext uri="{FF2B5EF4-FFF2-40B4-BE49-F238E27FC236}">
                <a16:creationId xmlns:a16="http://schemas.microsoft.com/office/drawing/2014/main" id="{95BEFEE4-6798-29A9-45AF-94510ED347BF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9220375" y="4562905"/>
            <a:ext cx="2500" cy="459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47">
            <a:extLst>
              <a:ext uri="{FF2B5EF4-FFF2-40B4-BE49-F238E27FC236}">
                <a16:creationId xmlns:a16="http://schemas.microsoft.com/office/drawing/2014/main" id="{57545362-4E33-63FC-1860-0ABBADBA902A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0155727" y="4562905"/>
            <a:ext cx="1033263" cy="462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Arrow: Bent-Up 48">
            <a:extLst>
              <a:ext uri="{FF2B5EF4-FFF2-40B4-BE49-F238E27FC236}">
                <a16:creationId xmlns:a16="http://schemas.microsoft.com/office/drawing/2014/main" id="{02D75B24-2EE9-409B-D550-914598A65325}"/>
              </a:ext>
            </a:extLst>
          </p:cNvPr>
          <p:cNvSpPr/>
          <p:nvPr/>
        </p:nvSpPr>
        <p:spPr>
          <a:xfrm flipV="1">
            <a:off x="8290023" y="2335580"/>
            <a:ext cx="1151432" cy="857438"/>
          </a:xfrm>
          <a:prstGeom prst="bentUp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Bent-Up 49">
            <a:extLst>
              <a:ext uri="{FF2B5EF4-FFF2-40B4-BE49-F238E27FC236}">
                <a16:creationId xmlns:a16="http://schemas.microsoft.com/office/drawing/2014/main" id="{544972A2-218F-19EE-5EC1-CACB49B3F854}"/>
              </a:ext>
            </a:extLst>
          </p:cNvPr>
          <p:cNvSpPr/>
          <p:nvPr/>
        </p:nvSpPr>
        <p:spPr>
          <a:xfrm flipH="1" flipV="1">
            <a:off x="3142093" y="2332816"/>
            <a:ext cx="1151432" cy="857438"/>
          </a:xfrm>
          <a:prstGeom prst="bentUp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: Rounded Corners 6">
            <a:extLst>
              <a:ext uri="{FF2B5EF4-FFF2-40B4-BE49-F238E27FC236}">
                <a16:creationId xmlns:a16="http://schemas.microsoft.com/office/drawing/2014/main" id="{F9D613B7-F1AE-0F03-753B-44F723EFDE6C}"/>
              </a:ext>
            </a:extLst>
          </p:cNvPr>
          <p:cNvSpPr/>
          <p:nvPr/>
        </p:nvSpPr>
        <p:spPr>
          <a:xfrm>
            <a:off x="5992097" y="4880911"/>
            <a:ext cx="2142930" cy="12949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Google Shape;765;p3">
            <a:extLst>
              <a:ext uri="{FF2B5EF4-FFF2-40B4-BE49-F238E27FC236}">
                <a16:creationId xmlns:a16="http://schemas.microsoft.com/office/drawing/2014/main" id="{4B56CAF9-F007-7DA8-DBDA-BF3CC1A7E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364" y="992528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3" name="Google Shape;817;p3">
            <a:extLst>
              <a:ext uri="{FF2B5EF4-FFF2-40B4-BE49-F238E27FC236}">
                <a16:creationId xmlns:a16="http://schemas.microsoft.com/office/drawing/2014/main" id="{1E5DE2B0-5D26-D2F8-5BA0-70ED1B3AF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076" y="1005842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Solution</a:t>
            </a:r>
            <a:endParaRPr lang="fr-FR" altLang="fr-FR" sz="1200" dirty="0"/>
          </a:p>
        </p:txBody>
      </p:sp>
    </p:spTree>
    <p:extLst>
      <p:ext uri="{BB962C8B-B14F-4D97-AF65-F5344CB8AC3E}">
        <p14:creationId xmlns:p14="http://schemas.microsoft.com/office/powerpoint/2010/main" val="1853435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444A6-1A3D-FB3A-01C4-EEA3138F8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83;p8">
            <a:extLst>
              <a:ext uri="{FF2B5EF4-FFF2-40B4-BE49-F238E27FC236}">
                <a16:creationId xmlns:a16="http://schemas.microsoft.com/office/drawing/2014/main" id="{4861289C-ED60-FF31-9FB7-DDD7915CD53E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2888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4" name="Google Shape;985;p8">
            <a:extLst>
              <a:ext uri="{FF2B5EF4-FFF2-40B4-BE49-F238E27FC236}">
                <a16:creationId xmlns:a16="http://schemas.microsoft.com/office/drawing/2014/main" id="{C19D022F-4184-89DD-F2FD-BE64A4B7A2EA}"/>
              </a:ext>
            </a:extLst>
          </p:cNvPr>
          <p:cNvGrpSpPr>
            <a:grpSpLocks/>
          </p:cNvGrpSpPr>
          <p:nvPr/>
        </p:nvGrpSpPr>
        <p:grpSpPr bwMode="auto">
          <a:xfrm>
            <a:off x="2397125" y="207963"/>
            <a:ext cx="7024688" cy="504825"/>
            <a:chOff x="841108" y="1294357"/>
            <a:chExt cx="7475308" cy="508077"/>
          </a:xfrm>
        </p:grpSpPr>
        <p:sp>
          <p:nvSpPr>
            <p:cNvPr id="17434" name="Google Shape;986;p8">
              <a:extLst>
                <a:ext uri="{FF2B5EF4-FFF2-40B4-BE49-F238E27FC236}">
                  <a16:creationId xmlns:a16="http://schemas.microsoft.com/office/drawing/2014/main" id="{2696A4C7-34EF-730A-E636-4831C6D6E95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579238" y="1294357"/>
              <a:ext cx="669394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17435" name="Google Shape;987;p8">
              <a:extLst>
                <a:ext uri="{FF2B5EF4-FFF2-40B4-BE49-F238E27FC236}">
                  <a16:creationId xmlns:a16="http://schemas.microsoft.com/office/drawing/2014/main" id="{41FFB3C7-28F9-8557-7E43-C88B00BE85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17436" name="Google Shape;988;p8">
              <a:extLst>
                <a:ext uri="{FF2B5EF4-FFF2-40B4-BE49-F238E27FC236}">
                  <a16:creationId xmlns:a16="http://schemas.microsoft.com/office/drawing/2014/main" id="{847C40B2-91BB-2A31-E249-7E7A13E39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7413" name="Google Shape;989;p8">
            <a:extLst>
              <a:ext uri="{FF2B5EF4-FFF2-40B4-BE49-F238E27FC236}">
                <a16:creationId xmlns:a16="http://schemas.microsoft.com/office/drawing/2014/main" id="{6F80EB99-3B87-73EA-EFA1-F8E3E514B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7" y="254000"/>
            <a:ext cx="5894631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 du projet et étude de l’existant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7414" name="Google Shape;990;p8">
            <a:extLst>
              <a:ext uri="{FF2B5EF4-FFF2-40B4-BE49-F238E27FC236}">
                <a16:creationId xmlns:a16="http://schemas.microsoft.com/office/drawing/2014/main" id="{AF4C6A62-A8BD-7EF6-D034-90EF9A092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263" y="201613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17415" name="Google Shape;991;p8">
            <a:extLst>
              <a:ext uri="{FF2B5EF4-FFF2-40B4-BE49-F238E27FC236}">
                <a16:creationId xmlns:a16="http://schemas.microsoft.com/office/drawing/2014/main" id="{1F3D1B04-C861-38DD-6E92-BC4DF5FF1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6638" y="198438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17416" name="Google Shape;992;p8">
            <a:extLst>
              <a:ext uri="{FF2B5EF4-FFF2-40B4-BE49-F238E27FC236}">
                <a16:creationId xmlns:a16="http://schemas.microsoft.com/office/drawing/2014/main" id="{3155B4AF-E889-40BB-A715-0B37139FC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2900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17417" name="Google Shape;993;p8">
            <a:extLst>
              <a:ext uri="{FF2B5EF4-FFF2-40B4-BE49-F238E27FC236}">
                <a16:creationId xmlns:a16="http://schemas.microsoft.com/office/drawing/2014/main" id="{03F7090D-547C-ED10-2D97-6B01E71C4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204788"/>
            <a:ext cx="458787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17418" name="Google Shape;994;p8">
            <a:extLst>
              <a:ext uri="{FF2B5EF4-FFF2-40B4-BE49-F238E27FC236}">
                <a16:creationId xmlns:a16="http://schemas.microsoft.com/office/drawing/2014/main" id="{D676C598-2C2E-7AEE-737E-17FAD1B41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1613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17419" name="Google Shape;995;p8">
            <a:extLst>
              <a:ext uri="{FF2B5EF4-FFF2-40B4-BE49-F238E27FC236}">
                <a16:creationId xmlns:a16="http://schemas.microsoft.com/office/drawing/2014/main" id="{342281C1-CAB8-4E0D-C134-4C513EC6C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8213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17424" name="Google Shape;1001;p8">
            <a:extLst>
              <a:ext uri="{FF2B5EF4-FFF2-40B4-BE49-F238E27FC236}">
                <a16:creationId xmlns:a16="http://schemas.microsoft.com/office/drawing/2014/main" id="{D3B74696-57B8-2E9B-5829-8657E8E5AA9D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3988423" y="849812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427" name="Google Shape;1005;p8">
            <a:extLst>
              <a:ext uri="{FF2B5EF4-FFF2-40B4-BE49-F238E27FC236}">
                <a16:creationId xmlns:a16="http://schemas.microsoft.com/office/drawing/2014/main" id="{40EF3363-19BF-FC30-6095-3A91D5F1C4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431463" y="6589714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8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28" name="Google Shape;1006;p8">
            <a:extLst>
              <a:ext uri="{FF2B5EF4-FFF2-40B4-BE49-F238E27FC236}">
                <a16:creationId xmlns:a16="http://schemas.microsoft.com/office/drawing/2014/main" id="{BE4D37C0-7605-9E4E-7DBC-313A3F538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6590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6" name="Google Shape;747;p3">
            <a:extLst>
              <a:ext uri="{FF2B5EF4-FFF2-40B4-BE49-F238E27FC236}">
                <a16:creationId xmlns:a16="http://schemas.microsoft.com/office/drawing/2014/main" id="{1CBBC66C-648A-0729-F655-245291E01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729" y="985838"/>
            <a:ext cx="1392238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Google Shape;763;p3">
            <a:extLst>
              <a:ext uri="{FF2B5EF4-FFF2-40B4-BE49-F238E27FC236}">
                <a16:creationId xmlns:a16="http://schemas.microsoft.com/office/drawing/2014/main" id="{A1293E26-3FE7-D07D-99A3-2CDA1E9DC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729" y="1043870"/>
            <a:ext cx="1331912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18" name="Google Shape;817;p3">
            <a:extLst>
              <a:ext uri="{FF2B5EF4-FFF2-40B4-BE49-F238E27FC236}">
                <a16:creationId xmlns:a16="http://schemas.microsoft.com/office/drawing/2014/main" id="{FE23FC8B-298A-44EF-4C76-7FB0EDD50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22" y="1015547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Problématique</a:t>
            </a:r>
            <a:endParaRPr lang="fr-FR" altLang="fr-FR" sz="1200" dirty="0"/>
          </a:p>
        </p:txBody>
      </p:sp>
      <p:sp>
        <p:nvSpPr>
          <p:cNvPr id="19" name="Google Shape;765;p3">
            <a:extLst>
              <a:ext uri="{FF2B5EF4-FFF2-40B4-BE49-F238E27FC236}">
                <a16:creationId xmlns:a16="http://schemas.microsoft.com/office/drawing/2014/main" id="{B0A67892-8846-6FB4-800B-5C7B7F463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194" y="98589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" name="Google Shape;817;p3">
            <a:extLst>
              <a:ext uri="{FF2B5EF4-FFF2-40B4-BE49-F238E27FC236}">
                <a16:creationId xmlns:a16="http://schemas.microsoft.com/office/drawing/2014/main" id="{96A2B7C3-900B-5689-C677-3D849D704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543" y="1038626"/>
            <a:ext cx="1373188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Étude de l’existant</a:t>
            </a:r>
            <a:endParaRPr lang="fr-FR" altLang="fr-FR" sz="1200" dirty="0"/>
          </a:p>
        </p:txBody>
      </p:sp>
      <p:sp>
        <p:nvSpPr>
          <p:cNvPr id="21" name="Google Shape;765;p3">
            <a:extLst>
              <a:ext uri="{FF2B5EF4-FFF2-40B4-BE49-F238E27FC236}">
                <a16:creationId xmlns:a16="http://schemas.microsoft.com/office/drawing/2014/main" id="{121EDBF2-9644-179B-8A4A-B24B66A93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22" y="99258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A0EDB6B-C51A-63F5-656D-46A65CEE76B5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13E72FA-EE5E-309E-EF49-39D8EB58C39D}"/>
              </a:ext>
            </a:extLst>
          </p:cNvPr>
          <p:cNvSpPr txBox="1"/>
          <p:nvPr/>
        </p:nvSpPr>
        <p:spPr>
          <a:xfrm>
            <a:off x="5051234" y="1759355"/>
            <a:ext cx="67533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16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A05F468-11FE-110F-70F6-83082910DF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168" y="2067132"/>
            <a:ext cx="6581126" cy="4387417"/>
          </a:xfrm>
          <a:prstGeom prst="rect">
            <a:avLst/>
          </a:prstGeom>
          <a:noFill/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5ED0722-138B-A1FD-4C51-1373C52E07E4}"/>
              </a:ext>
            </a:extLst>
          </p:cNvPr>
          <p:cNvSpPr/>
          <p:nvPr/>
        </p:nvSpPr>
        <p:spPr>
          <a:xfrm>
            <a:off x="5340405" y="2228678"/>
            <a:ext cx="1903228" cy="9675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Google Shape;765;p3">
            <a:extLst>
              <a:ext uri="{FF2B5EF4-FFF2-40B4-BE49-F238E27FC236}">
                <a16:creationId xmlns:a16="http://schemas.microsoft.com/office/drawing/2014/main" id="{3701164A-F874-239F-C6DC-AD4EE2A14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364" y="992528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" name="Google Shape;817;p3">
            <a:extLst>
              <a:ext uri="{FF2B5EF4-FFF2-40B4-BE49-F238E27FC236}">
                <a16:creationId xmlns:a16="http://schemas.microsoft.com/office/drawing/2014/main" id="{37A372F4-150E-1954-7088-18A7581E4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076" y="1005842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Solution</a:t>
            </a:r>
            <a:endParaRPr lang="fr-FR" altLang="fr-FR" sz="1200" dirty="0"/>
          </a:p>
        </p:txBody>
      </p:sp>
    </p:spTree>
    <p:extLst>
      <p:ext uri="{BB962C8B-B14F-4D97-AF65-F5344CB8AC3E}">
        <p14:creationId xmlns:p14="http://schemas.microsoft.com/office/powerpoint/2010/main" val="1067765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09436-3C92-9670-EADD-4848E59BC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83;p8">
            <a:extLst>
              <a:ext uri="{FF2B5EF4-FFF2-40B4-BE49-F238E27FC236}">
                <a16:creationId xmlns:a16="http://schemas.microsoft.com/office/drawing/2014/main" id="{901D0608-35B5-EC8C-1C4F-72F7420D84FF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2888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4" name="Google Shape;985;p8">
            <a:extLst>
              <a:ext uri="{FF2B5EF4-FFF2-40B4-BE49-F238E27FC236}">
                <a16:creationId xmlns:a16="http://schemas.microsoft.com/office/drawing/2014/main" id="{1E83F1AF-1F8E-F481-B13A-888E24B0A036}"/>
              </a:ext>
            </a:extLst>
          </p:cNvPr>
          <p:cNvGrpSpPr>
            <a:grpSpLocks/>
          </p:cNvGrpSpPr>
          <p:nvPr/>
        </p:nvGrpSpPr>
        <p:grpSpPr bwMode="auto">
          <a:xfrm>
            <a:off x="2397125" y="207963"/>
            <a:ext cx="7024688" cy="504825"/>
            <a:chOff x="841108" y="1294357"/>
            <a:chExt cx="7475308" cy="508077"/>
          </a:xfrm>
        </p:grpSpPr>
        <p:sp>
          <p:nvSpPr>
            <p:cNvPr id="17434" name="Google Shape;986;p8">
              <a:extLst>
                <a:ext uri="{FF2B5EF4-FFF2-40B4-BE49-F238E27FC236}">
                  <a16:creationId xmlns:a16="http://schemas.microsoft.com/office/drawing/2014/main" id="{EFBEA9CF-0B89-C95C-D999-FB80D1CABCB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579238" y="1294357"/>
              <a:ext cx="669394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17435" name="Google Shape;987;p8">
              <a:extLst>
                <a:ext uri="{FF2B5EF4-FFF2-40B4-BE49-F238E27FC236}">
                  <a16:creationId xmlns:a16="http://schemas.microsoft.com/office/drawing/2014/main" id="{03452DF1-9416-28F7-DE5C-891E83CBB6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17436" name="Google Shape;988;p8">
              <a:extLst>
                <a:ext uri="{FF2B5EF4-FFF2-40B4-BE49-F238E27FC236}">
                  <a16:creationId xmlns:a16="http://schemas.microsoft.com/office/drawing/2014/main" id="{B3D8D85F-8DCA-F617-9544-46E3C19184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7413" name="Google Shape;989;p8">
            <a:extLst>
              <a:ext uri="{FF2B5EF4-FFF2-40B4-BE49-F238E27FC236}">
                <a16:creationId xmlns:a16="http://schemas.microsoft.com/office/drawing/2014/main" id="{68CA9195-3891-6802-CFA1-5B8E7FB4E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7" y="254000"/>
            <a:ext cx="5894631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 du projet et étude de l’existant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7414" name="Google Shape;990;p8">
            <a:extLst>
              <a:ext uri="{FF2B5EF4-FFF2-40B4-BE49-F238E27FC236}">
                <a16:creationId xmlns:a16="http://schemas.microsoft.com/office/drawing/2014/main" id="{46BEBC1C-7960-E9F5-FB01-9CB9F185F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263" y="201613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17415" name="Google Shape;991;p8">
            <a:extLst>
              <a:ext uri="{FF2B5EF4-FFF2-40B4-BE49-F238E27FC236}">
                <a16:creationId xmlns:a16="http://schemas.microsoft.com/office/drawing/2014/main" id="{1DD4F17D-0456-A938-792F-59F0A39F1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6638" y="198438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17416" name="Google Shape;992;p8">
            <a:extLst>
              <a:ext uri="{FF2B5EF4-FFF2-40B4-BE49-F238E27FC236}">
                <a16:creationId xmlns:a16="http://schemas.microsoft.com/office/drawing/2014/main" id="{EB21AD90-88C4-DE60-57FD-5D044A538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2900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17417" name="Google Shape;993;p8">
            <a:extLst>
              <a:ext uri="{FF2B5EF4-FFF2-40B4-BE49-F238E27FC236}">
                <a16:creationId xmlns:a16="http://schemas.microsoft.com/office/drawing/2014/main" id="{4379FDED-235C-F2AF-FF94-75249A9B1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204788"/>
            <a:ext cx="458787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17418" name="Google Shape;994;p8">
            <a:extLst>
              <a:ext uri="{FF2B5EF4-FFF2-40B4-BE49-F238E27FC236}">
                <a16:creationId xmlns:a16="http://schemas.microsoft.com/office/drawing/2014/main" id="{665E7D00-586D-397F-9245-2C7A3318A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1613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17419" name="Google Shape;995;p8">
            <a:extLst>
              <a:ext uri="{FF2B5EF4-FFF2-40B4-BE49-F238E27FC236}">
                <a16:creationId xmlns:a16="http://schemas.microsoft.com/office/drawing/2014/main" id="{E35574BF-8636-C531-0D1C-C847BBF7C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8213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17424" name="Google Shape;1001;p8">
            <a:extLst>
              <a:ext uri="{FF2B5EF4-FFF2-40B4-BE49-F238E27FC236}">
                <a16:creationId xmlns:a16="http://schemas.microsoft.com/office/drawing/2014/main" id="{6D0B10F9-91FF-2E33-78C3-DEEA44CF495C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5519670" y="844262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427" name="Google Shape;1005;p8">
            <a:extLst>
              <a:ext uri="{FF2B5EF4-FFF2-40B4-BE49-F238E27FC236}">
                <a16:creationId xmlns:a16="http://schemas.microsoft.com/office/drawing/2014/main" id="{85905956-D764-4079-2A87-9A63AEDAE23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54561" y="6586906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9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28" name="Google Shape;1006;p8">
            <a:extLst>
              <a:ext uri="{FF2B5EF4-FFF2-40B4-BE49-F238E27FC236}">
                <a16:creationId xmlns:a16="http://schemas.microsoft.com/office/drawing/2014/main" id="{901253C8-D1C7-E7E0-FC64-18DCDC953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6590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6" name="Google Shape;747;p3">
            <a:extLst>
              <a:ext uri="{FF2B5EF4-FFF2-40B4-BE49-F238E27FC236}">
                <a16:creationId xmlns:a16="http://schemas.microsoft.com/office/drawing/2014/main" id="{1A75950A-674A-3047-39BB-A58F06332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729" y="985838"/>
            <a:ext cx="1392238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BFBFB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Google Shape;763;p3">
            <a:extLst>
              <a:ext uri="{FF2B5EF4-FFF2-40B4-BE49-F238E27FC236}">
                <a16:creationId xmlns:a16="http://schemas.microsoft.com/office/drawing/2014/main" id="{F247D03B-86E2-C5CB-47C5-D1F35E974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729" y="1043870"/>
            <a:ext cx="1331912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</a:t>
            </a:r>
            <a:endParaRPr lang="fr-FR" altLang="fr-FR" dirty="0">
              <a:solidFill>
                <a:srgbClr val="BFBFBF"/>
              </a:solidFill>
            </a:endParaRPr>
          </a:p>
        </p:txBody>
      </p:sp>
      <p:sp>
        <p:nvSpPr>
          <p:cNvPr id="18" name="Google Shape;817;p3">
            <a:extLst>
              <a:ext uri="{FF2B5EF4-FFF2-40B4-BE49-F238E27FC236}">
                <a16:creationId xmlns:a16="http://schemas.microsoft.com/office/drawing/2014/main" id="{9A9D3D5A-B549-1B61-0DEC-DFB0311B8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22" y="1015547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Problématique</a:t>
            </a:r>
            <a:endParaRPr lang="fr-FR" altLang="fr-FR" sz="1200" dirty="0">
              <a:solidFill>
                <a:srgbClr val="BFBFBF"/>
              </a:solidFill>
            </a:endParaRPr>
          </a:p>
        </p:txBody>
      </p:sp>
      <p:sp>
        <p:nvSpPr>
          <p:cNvPr id="19" name="Google Shape;765;p3">
            <a:extLst>
              <a:ext uri="{FF2B5EF4-FFF2-40B4-BE49-F238E27FC236}">
                <a16:creationId xmlns:a16="http://schemas.microsoft.com/office/drawing/2014/main" id="{87A861AD-3E8D-F0FD-C74A-28C2834A4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194" y="985899"/>
            <a:ext cx="1393825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" name="Google Shape;817;p3">
            <a:extLst>
              <a:ext uri="{FF2B5EF4-FFF2-40B4-BE49-F238E27FC236}">
                <a16:creationId xmlns:a16="http://schemas.microsoft.com/office/drawing/2014/main" id="{795549D3-CE6A-C120-6BDA-F85E04D95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543" y="1038626"/>
            <a:ext cx="1373188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Étude de l’existant</a:t>
            </a:r>
            <a:endParaRPr lang="fr-FR" altLang="fr-FR" sz="1200" dirty="0">
              <a:solidFill>
                <a:srgbClr val="FF0000"/>
              </a:solidFill>
            </a:endParaRPr>
          </a:p>
        </p:txBody>
      </p:sp>
      <p:sp>
        <p:nvSpPr>
          <p:cNvPr id="21" name="Google Shape;765;p3">
            <a:extLst>
              <a:ext uri="{FF2B5EF4-FFF2-40B4-BE49-F238E27FC236}">
                <a16:creationId xmlns:a16="http://schemas.microsoft.com/office/drawing/2014/main" id="{412C5E42-2E5F-93DC-2C53-230674E37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22" y="99258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B911262-C01A-D32A-6B5F-F2B0639B5CBC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E3A2951-9650-C958-CC92-B4CDC55CB446}"/>
              </a:ext>
            </a:extLst>
          </p:cNvPr>
          <p:cNvSpPr txBox="1"/>
          <p:nvPr/>
        </p:nvSpPr>
        <p:spPr>
          <a:xfrm>
            <a:off x="3501399" y="1584716"/>
            <a:ext cx="51561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La transaction « VA01 » </a:t>
            </a:r>
            <a:r>
              <a:rPr lang="fr-FR" sz="1600" dirty="0"/>
              <a:t>: </a:t>
            </a:r>
            <a:r>
              <a:rPr lang="fr-FR" sz="1600" dirty="0" err="1"/>
              <a:t>Create</a:t>
            </a:r>
            <a:r>
              <a:rPr lang="fr-FR" sz="1600" dirty="0"/>
              <a:t> standard </a:t>
            </a:r>
            <a:r>
              <a:rPr lang="fr-FR" sz="1600" dirty="0" err="1"/>
              <a:t>Order</a:t>
            </a:r>
            <a:r>
              <a:rPr lang="fr-FR" sz="1600" dirty="0"/>
              <a:t>: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0F2831E-6DD4-F016-0504-C855B952C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946" y="2077118"/>
            <a:ext cx="10234096" cy="444715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A9716F8-2BB1-5177-7645-F823C03BE5E5}"/>
              </a:ext>
            </a:extLst>
          </p:cNvPr>
          <p:cNvSpPr/>
          <p:nvPr/>
        </p:nvSpPr>
        <p:spPr>
          <a:xfrm>
            <a:off x="1270000" y="3429000"/>
            <a:ext cx="7387505" cy="11943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C3044234-DF68-4CCB-8953-AC3EF71C7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77" y="4777216"/>
            <a:ext cx="10225765" cy="1292464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8E2292E4-16E8-5EF4-BACF-207DA3B50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77" y="6227932"/>
            <a:ext cx="3518549" cy="296343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25" name="Google Shape;765;p3">
            <a:extLst>
              <a:ext uri="{FF2B5EF4-FFF2-40B4-BE49-F238E27FC236}">
                <a16:creationId xmlns:a16="http://schemas.microsoft.com/office/drawing/2014/main" id="{4FC4713D-23B5-37E9-E441-7218A01E6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364" y="992528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6" name="Google Shape;817;p3">
            <a:extLst>
              <a:ext uri="{FF2B5EF4-FFF2-40B4-BE49-F238E27FC236}">
                <a16:creationId xmlns:a16="http://schemas.microsoft.com/office/drawing/2014/main" id="{DD67A019-8FDB-3AF0-9403-28EE61FF7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076" y="1005842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Solution</a:t>
            </a:r>
            <a:endParaRPr lang="fr-FR" altLang="fr-FR" sz="1200" dirty="0"/>
          </a:p>
        </p:txBody>
      </p:sp>
    </p:spTree>
    <p:extLst>
      <p:ext uri="{BB962C8B-B14F-4D97-AF65-F5344CB8AC3E}">
        <p14:creationId xmlns:p14="http://schemas.microsoft.com/office/powerpoint/2010/main" val="4080654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8897A-C3B3-BBBB-6A4A-4EBDA9B35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83;p8">
            <a:extLst>
              <a:ext uri="{FF2B5EF4-FFF2-40B4-BE49-F238E27FC236}">
                <a16:creationId xmlns:a16="http://schemas.microsoft.com/office/drawing/2014/main" id="{F977A2BC-730C-70FF-24CA-86CABC5D7A65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2888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4" name="Google Shape;985;p8">
            <a:extLst>
              <a:ext uri="{FF2B5EF4-FFF2-40B4-BE49-F238E27FC236}">
                <a16:creationId xmlns:a16="http://schemas.microsoft.com/office/drawing/2014/main" id="{7BE2EAC1-8D4F-FB47-796C-5D0865B59F2C}"/>
              </a:ext>
            </a:extLst>
          </p:cNvPr>
          <p:cNvGrpSpPr>
            <a:grpSpLocks/>
          </p:cNvGrpSpPr>
          <p:nvPr/>
        </p:nvGrpSpPr>
        <p:grpSpPr bwMode="auto">
          <a:xfrm>
            <a:off x="2397125" y="207963"/>
            <a:ext cx="7024688" cy="504825"/>
            <a:chOff x="841108" y="1294357"/>
            <a:chExt cx="7475308" cy="508077"/>
          </a:xfrm>
        </p:grpSpPr>
        <p:sp>
          <p:nvSpPr>
            <p:cNvPr id="17434" name="Google Shape;986;p8">
              <a:extLst>
                <a:ext uri="{FF2B5EF4-FFF2-40B4-BE49-F238E27FC236}">
                  <a16:creationId xmlns:a16="http://schemas.microsoft.com/office/drawing/2014/main" id="{ACCDB717-2C05-5B19-3C21-343ADED42F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579238" y="1294357"/>
              <a:ext cx="669394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17435" name="Google Shape;987;p8">
              <a:extLst>
                <a:ext uri="{FF2B5EF4-FFF2-40B4-BE49-F238E27FC236}">
                  <a16:creationId xmlns:a16="http://schemas.microsoft.com/office/drawing/2014/main" id="{0E3D36AE-04A1-7DC6-91AB-57498A5D54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17436" name="Google Shape;988;p8">
              <a:extLst>
                <a:ext uri="{FF2B5EF4-FFF2-40B4-BE49-F238E27FC236}">
                  <a16:creationId xmlns:a16="http://schemas.microsoft.com/office/drawing/2014/main" id="{F7E367B2-D1C8-C90C-ED1A-B49615D0AF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7413" name="Google Shape;989;p8">
            <a:extLst>
              <a:ext uri="{FF2B5EF4-FFF2-40B4-BE49-F238E27FC236}">
                <a16:creationId xmlns:a16="http://schemas.microsoft.com/office/drawing/2014/main" id="{A7A0D8AC-BFED-8AE9-433A-C99234325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7" y="254000"/>
            <a:ext cx="5894631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 du projet et étude de l’existant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7414" name="Google Shape;990;p8">
            <a:extLst>
              <a:ext uri="{FF2B5EF4-FFF2-40B4-BE49-F238E27FC236}">
                <a16:creationId xmlns:a16="http://schemas.microsoft.com/office/drawing/2014/main" id="{6A370F37-4E44-0248-20AC-DA6DDEAB0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263" y="201613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17415" name="Google Shape;991;p8">
            <a:extLst>
              <a:ext uri="{FF2B5EF4-FFF2-40B4-BE49-F238E27FC236}">
                <a16:creationId xmlns:a16="http://schemas.microsoft.com/office/drawing/2014/main" id="{26FB86FE-5180-800B-FB54-436CA0EA5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6638" y="198438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17416" name="Google Shape;992;p8">
            <a:extLst>
              <a:ext uri="{FF2B5EF4-FFF2-40B4-BE49-F238E27FC236}">
                <a16:creationId xmlns:a16="http://schemas.microsoft.com/office/drawing/2014/main" id="{B387C39C-2C19-4103-F822-AF54B2FCE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2900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17417" name="Google Shape;993;p8">
            <a:extLst>
              <a:ext uri="{FF2B5EF4-FFF2-40B4-BE49-F238E27FC236}">
                <a16:creationId xmlns:a16="http://schemas.microsoft.com/office/drawing/2014/main" id="{67E17368-3588-F4FF-81B2-C4B30F2B4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204788"/>
            <a:ext cx="458787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17418" name="Google Shape;994;p8">
            <a:extLst>
              <a:ext uri="{FF2B5EF4-FFF2-40B4-BE49-F238E27FC236}">
                <a16:creationId xmlns:a16="http://schemas.microsoft.com/office/drawing/2014/main" id="{F2452083-71F2-BBDF-5DE2-1AB3EEC33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1613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17419" name="Google Shape;995;p8">
            <a:extLst>
              <a:ext uri="{FF2B5EF4-FFF2-40B4-BE49-F238E27FC236}">
                <a16:creationId xmlns:a16="http://schemas.microsoft.com/office/drawing/2014/main" id="{569D78B2-B36E-F002-33CC-4281BD393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8213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17424" name="Google Shape;1001;p8">
            <a:extLst>
              <a:ext uri="{FF2B5EF4-FFF2-40B4-BE49-F238E27FC236}">
                <a16:creationId xmlns:a16="http://schemas.microsoft.com/office/drawing/2014/main" id="{CDD60A8A-AE87-27D7-17CC-076F018EBB4D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5519670" y="844262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427" name="Google Shape;1005;p8">
            <a:extLst>
              <a:ext uri="{FF2B5EF4-FFF2-40B4-BE49-F238E27FC236}">
                <a16:creationId xmlns:a16="http://schemas.microsoft.com/office/drawing/2014/main" id="{A076490B-861D-8EDB-50D9-325769A34A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54561" y="6586906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10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28" name="Google Shape;1006;p8">
            <a:extLst>
              <a:ext uri="{FF2B5EF4-FFF2-40B4-BE49-F238E27FC236}">
                <a16:creationId xmlns:a16="http://schemas.microsoft.com/office/drawing/2014/main" id="{16BD9D04-AEA8-91E7-BE8E-6099D7DC9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6590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6" name="Google Shape;747;p3">
            <a:extLst>
              <a:ext uri="{FF2B5EF4-FFF2-40B4-BE49-F238E27FC236}">
                <a16:creationId xmlns:a16="http://schemas.microsoft.com/office/drawing/2014/main" id="{1B8364F0-3A66-C3D3-29B8-CF0A507E2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729" y="985838"/>
            <a:ext cx="1392238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BFBFB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Google Shape;763;p3">
            <a:extLst>
              <a:ext uri="{FF2B5EF4-FFF2-40B4-BE49-F238E27FC236}">
                <a16:creationId xmlns:a16="http://schemas.microsoft.com/office/drawing/2014/main" id="{D7141240-27EC-2202-DA8F-4C112CE1E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729" y="1043870"/>
            <a:ext cx="1331912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</a:t>
            </a:r>
            <a:endParaRPr lang="fr-FR" altLang="fr-FR" dirty="0">
              <a:solidFill>
                <a:srgbClr val="BFBFBF"/>
              </a:solidFill>
            </a:endParaRPr>
          </a:p>
        </p:txBody>
      </p:sp>
      <p:sp>
        <p:nvSpPr>
          <p:cNvPr id="18" name="Google Shape;817;p3">
            <a:extLst>
              <a:ext uri="{FF2B5EF4-FFF2-40B4-BE49-F238E27FC236}">
                <a16:creationId xmlns:a16="http://schemas.microsoft.com/office/drawing/2014/main" id="{9C47AD3B-AECD-B6C6-80F5-543FBC236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22" y="1015547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Problématique</a:t>
            </a:r>
            <a:endParaRPr lang="fr-FR" altLang="fr-FR" sz="1200" dirty="0">
              <a:solidFill>
                <a:srgbClr val="BFBFBF"/>
              </a:solidFill>
            </a:endParaRPr>
          </a:p>
        </p:txBody>
      </p:sp>
      <p:sp>
        <p:nvSpPr>
          <p:cNvPr id="19" name="Google Shape;765;p3">
            <a:extLst>
              <a:ext uri="{FF2B5EF4-FFF2-40B4-BE49-F238E27FC236}">
                <a16:creationId xmlns:a16="http://schemas.microsoft.com/office/drawing/2014/main" id="{17A42D7D-5D01-0B2A-C0F1-99723BA2F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194" y="985899"/>
            <a:ext cx="1393825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" name="Google Shape;817;p3">
            <a:extLst>
              <a:ext uri="{FF2B5EF4-FFF2-40B4-BE49-F238E27FC236}">
                <a16:creationId xmlns:a16="http://schemas.microsoft.com/office/drawing/2014/main" id="{B9F9C566-4E25-3672-BBB3-557B54DA9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543" y="1038626"/>
            <a:ext cx="1373188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Étude de l’existant</a:t>
            </a:r>
            <a:endParaRPr lang="fr-FR" altLang="fr-FR" sz="1200" dirty="0">
              <a:solidFill>
                <a:srgbClr val="FF0000"/>
              </a:solidFill>
            </a:endParaRPr>
          </a:p>
        </p:txBody>
      </p:sp>
      <p:sp>
        <p:nvSpPr>
          <p:cNvPr id="21" name="Google Shape;765;p3">
            <a:extLst>
              <a:ext uri="{FF2B5EF4-FFF2-40B4-BE49-F238E27FC236}">
                <a16:creationId xmlns:a16="http://schemas.microsoft.com/office/drawing/2014/main" id="{EEADB146-8F04-502B-7149-47210BF17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22" y="99258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856617E-9332-D18D-ACEA-063BEB398F64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37F4039-7EB2-9EE1-E49D-BDC3400FB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54" y="2027824"/>
            <a:ext cx="11186583" cy="435663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3B5DBF3-33FC-339F-0C2C-80921E733861}"/>
              </a:ext>
            </a:extLst>
          </p:cNvPr>
          <p:cNvSpPr txBox="1"/>
          <p:nvPr/>
        </p:nvSpPr>
        <p:spPr>
          <a:xfrm>
            <a:off x="3817330" y="1771951"/>
            <a:ext cx="4557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L’application standard </a:t>
            </a:r>
            <a:r>
              <a:rPr lang="fr-FR" sz="1600" b="1" dirty="0"/>
              <a:t>« Import Sales Orders »</a:t>
            </a:r>
          </a:p>
        </p:txBody>
      </p:sp>
      <p:sp>
        <p:nvSpPr>
          <p:cNvPr id="2" name="Google Shape;765;p3">
            <a:extLst>
              <a:ext uri="{FF2B5EF4-FFF2-40B4-BE49-F238E27FC236}">
                <a16:creationId xmlns:a16="http://schemas.microsoft.com/office/drawing/2014/main" id="{0752820C-6FBC-0634-AA64-7AAAA5FE4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364" y="992528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5" name="Google Shape;817;p3">
            <a:extLst>
              <a:ext uri="{FF2B5EF4-FFF2-40B4-BE49-F238E27FC236}">
                <a16:creationId xmlns:a16="http://schemas.microsoft.com/office/drawing/2014/main" id="{167F655D-AA42-99B5-1790-71728A9D0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076" y="1005842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Solution</a:t>
            </a:r>
            <a:endParaRPr lang="fr-FR" altLang="fr-FR" sz="1200" dirty="0"/>
          </a:p>
        </p:txBody>
      </p:sp>
    </p:spTree>
    <p:extLst>
      <p:ext uri="{BB962C8B-B14F-4D97-AF65-F5344CB8AC3E}">
        <p14:creationId xmlns:p14="http://schemas.microsoft.com/office/powerpoint/2010/main" val="2417677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4E0B2-DF23-589C-9D65-887FC4EBE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83;p8">
            <a:extLst>
              <a:ext uri="{FF2B5EF4-FFF2-40B4-BE49-F238E27FC236}">
                <a16:creationId xmlns:a16="http://schemas.microsoft.com/office/drawing/2014/main" id="{87BB53CB-B942-5C65-AA5F-0631E6E85AED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2888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4" name="Google Shape;985;p8">
            <a:extLst>
              <a:ext uri="{FF2B5EF4-FFF2-40B4-BE49-F238E27FC236}">
                <a16:creationId xmlns:a16="http://schemas.microsoft.com/office/drawing/2014/main" id="{30E1B9B0-992E-9021-5644-962B709C728F}"/>
              </a:ext>
            </a:extLst>
          </p:cNvPr>
          <p:cNvGrpSpPr>
            <a:grpSpLocks/>
          </p:cNvGrpSpPr>
          <p:nvPr/>
        </p:nvGrpSpPr>
        <p:grpSpPr bwMode="auto">
          <a:xfrm>
            <a:off x="2397125" y="207963"/>
            <a:ext cx="7024688" cy="504825"/>
            <a:chOff x="841108" y="1294357"/>
            <a:chExt cx="7475308" cy="508077"/>
          </a:xfrm>
        </p:grpSpPr>
        <p:sp>
          <p:nvSpPr>
            <p:cNvPr id="17434" name="Google Shape;986;p8">
              <a:extLst>
                <a:ext uri="{FF2B5EF4-FFF2-40B4-BE49-F238E27FC236}">
                  <a16:creationId xmlns:a16="http://schemas.microsoft.com/office/drawing/2014/main" id="{5A2BE506-1A7D-3EC5-1035-D58FC25572F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579238" y="1294357"/>
              <a:ext cx="669394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17435" name="Google Shape;987;p8">
              <a:extLst>
                <a:ext uri="{FF2B5EF4-FFF2-40B4-BE49-F238E27FC236}">
                  <a16:creationId xmlns:a16="http://schemas.microsoft.com/office/drawing/2014/main" id="{F1738D92-71E9-DB14-1C5E-21E3E1ACA6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17436" name="Google Shape;988;p8">
              <a:extLst>
                <a:ext uri="{FF2B5EF4-FFF2-40B4-BE49-F238E27FC236}">
                  <a16:creationId xmlns:a16="http://schemas.microsoft.com/office/drawing/2014/main" id="{4561665A-8DFF-956B-3E50-7A6AD87E31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7413" name="Google Shape;989;p8">
            <a:extLst>
              <a:ext uri="{FF2B5EF4-FFF2-40B4-BE49-F238E27FC236}">
                <a16:creationId xmlns:a16="http://schemas.microsoft.com/office/drawing/2014/main" id="{8E3F845B-F80A-242B-FE8A-CAE9C5E8C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7" y="254000"/>
            <a:ext cx="5894631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 du projet et étude de l’existant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7414" name="Google Shape;990;p8">
            <a:extLst>
              <a:ext uri="{FF2B5EF4-FFF2-40B4-BE49-F238E27FC236}">
                <a16:creationId xmlns:a16="http://schemas.microsoft.com/office/drawing/2014/main" id="{58EC8CC6-8BDA-FED2-AA99-C438771E9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263" y="201613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17415" name="Google Shape;991;p8">
            <a:extLst>
              <a:ext uri="{FF2B5EF4-FFF2-40B4-BE49-F238E27FC236}">
                <a16:creationId xmlns:a16="http://schemas.microsoft.com/office/drawing/2014/main" id="{FEEF8CE1-9837-C80A-A6D2-4D77FC48C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6638" y="198438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17416" name="Google Shape;992;p8">
            <a:extLst>
              <a:ext uri="{FF2B5EF4-FFF2-40B4-BE49-F238E27FC236}">
                <a16:creationId xmlns:a16="http://schemas.microsoft.com/office/drawing/2014/main" id="{C2B86745-6816-79E1-1456-B3FDE8598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2900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17417" name="Google Shape;993;p8">
            <a:extLst>
              <a:ext uri="{FF2B5EF4-FFF2-40B4-BE49-F238E27FC236}">
                <a16:creationId xmlns:a16="http://schemas.microsoft.com/office/drawing/2014/main" id="{76979135-512B-8EB2-3A90-51DF96A17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204788"/>
            <a:ext cx="458787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17418" name="Google Shape;994;p8">
            <a:extLst>
              <a:ext uri="{FF2B5EF4-FFF2-40B4-BE49-F238E27FC236}">
                <a16:creationId xmlns:a16="http://schemas.microsoft.com/office/drawing/2014/main" id="{B3648251-31F9-7682-A0DD-25D7C8E51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1613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17419" name="Google Shape;995;p8">
            <a:extLst>
              <a:ext uri="{FF2B5EF4-FFF2-40B4-BE49-F238E27FC236}">
                <a16:creationId xmlns:a16="http://schemas.microsoft.com/office/drawing/2014/main" id="{DFAAF2A9-95A5-61A3-AE7B-F2A6D990B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8213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17424" name="Google Shape;1001;p8">
            <a:extLst>
              <a:ext uri="{FF2B5EF4-FFF2-40B4-BE49-F238E27FC236}">
                <a16:creationId xmlns:a16="http://schemas.microsoft.com/office/drawing/2014/main" id="{6C01BE81-0264-99EA-06CB-17981C5885FD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5519670" y="844262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427" name="Google Shape;1005;p8">
            <a:extLst>
              <a:ext uri="{FF2B5EF4-FFF2-40B4-BE49-F238E27FC236}">
                <a16:creationId xmlns:a16="http://schemas.microsoft.com/office/drawing/2014/main" id="{198B86EC-3C4A-F34C-FDAA-CD8C0A413BB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54561" y="6586906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11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28" name="Google Shape;1006;p8">
            <a:extLst>
              <a:ext uri="{FF2B5EF4-FFF2-40B4-BE49-F238E27FC236}">
                <a16:creationId xmlns:a16="http://schemas.microsoft.com/office/drawing/2014/main" id="{7F63DBD9-2A48-A83E-012A-CA98F0A29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6590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6" name="Google Shape;747;p3">
            <a:extLst>
              <a:ext uri="{FF2B5EF4-FFF2-40B4-BE49-F238E27FC236}">
                <a16:creationId xmlns:a16="http://schemas.microsoft.com/office/drawing/2014/main" id="{18C1D0CA-CA39-2819-5D2C-3559EAD30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729" y="985838"/>
            <a:ext cx="1392238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BFBFB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Google Shape;763;p3">
            <a:extLst>
              <a:ext uri="{FF2B5EF4-FFF2-40B4-BE49-F238E27FC236}">
                <a16:creationId xmlns:a16="http://schemas.microsoft.com/office/drawing/2014/main" id="{3C2E3055-1653-2DA2-4076-0B44CB6E2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729" y="1043870"/>
            <a:ext cx="1331912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</a:t>
            </a:r>
            <a:endParaRPr lang="fr-FR" altLang="fr-FR" dirty="0">
              <a:solidFill>
                <a:srgbClr val="BFBFBF"/>
              </a:solidFill>
            </a:endParaRPr>
          </a:p>
        </p:txBody>
      </p:sp>
      <p:sp>
        <p:nvSpPr>
          <p:cNvPr id="18" name="Google Shape;817;p3">
            <a:extLst>
              <a:ext uri="{FF2B5EF4-FFF2-40B4-BE49-F238E27FC236}">
                <a16:creationId xmlns:a16="http://schemas.microsoft.com/office/drawing/2014/main" id="{E51DCF72-03E9-1383-BE5D-11C5F4B9A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22" y="1015547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Problématique</a:t>
            </a:r>
            <a:endParaRPr lang="fr-FR" altLang="fr-FR" sz="1200" dirty="0">
              <a:solidFill>
                <a:srgbClr val="BFBFBF"/>
              </a:solidFill>
            </a:endParaRPr>
          </a:p>
        </p:txBody>
      </p:sp>
      <p:sp>
        <p:nvSpPr>
          <p:cNvPr id="19" name="Google Shape;765;p3">
            <a:extLst>
              <a:ext uri="{FF2B5EF4-FFF2-40B4-BE49-F238E27FC236}">
                <a16:creationId xmlns:a16="http://schemas.microsoft.com/office/drawing/2014/main" id="{FF10F945-4B6D-8426-7490-05E07B93C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194" y="985899"/>
            <a:ext cx="1393825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" name="Google Shape;817;p3">
            <a:extLst>
              <a:ext uri="{FF2B5EF4-FFF2-40B4-BE49-F238E27FC236}">
                <a16:creationId xmlns:a16="http://schemas.microsoft.com/office/drawing/2014/main" id="{AED8667B-02FB-7AB2-C2ED-C89843D37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543" y="1038626"/>
            <a:ext cx="1373188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Étude de l’existant</a:t>
            </a:r>
            <a:endParaRPr lang="fr-FR" altLang="fr-FR" sz="1200" dirty="0">
              <a:solidFill>
                <a:srgbClr val="FF0000"/>
              </a:solidFill>
            </a:endParaRPr>
          </a:p>
        </p:txBody>
      </p:sp>
      <p:sp>
        <p:nvSpPr>
          <p:cNvPr id="21" name="Google Shape;765;p3">
            <a:extLst>
              <a:ext uri="{FF2B5EF4-FFF2-40B4-BE49-F238E27FC236}">
                <a16:creationId xmlns:a16="http://schemas.microsoft.com/office/drawing/2014/main" id="{4BCC26FA-0438-BD7A-409B-076D051C3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22" y="99258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D74E6A0-47E1-EB3F-3C75-A55FCE0E4082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435EB81-A3E2-2FE8-3DEB-C25391F473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355"/>
          <a:stretch>
            <a:fillRect/>
          </a:stretch>
        </p:blipFill>
        <p:spPr>
          <a:xfrm>
            <a:off x="3011974" y="2040745"/>
            <a:ext cx="6134956" cy="397299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C4F4D25-A8F6-C32C-0B76-CAE21BD47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483" y="4446679"/>
            <a:ext cx="5728073" cy="68938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D2A192B-13A0-B0D5-F119-BCB79B17BD4A}"/>
              </a:ext>
            </a:extLst>
          </p:cNvPr>
          <p:cNvSpPr/>
          <p:nvPr/>
        </p:nvSpPr>
        <p:spPr>
          <a:xfrm>
            <a:off x="3162198" y="4551378"/>
            <a:ext cx="5418358" cy="5967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Google Shape;765;p3">
            <a:extLst>
              <a:ext uri="{FF2B5EF4-FFF2-40B4-BE49-F238E27FC236}">
                <a16:creationId xmlns:a16="http://schemas.microsoft.com/office/drawing/2014/main" id="{41054ED1-4738-E808-FADD-77E8F0B00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364" y="992528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6" name="Google Shape;817;p3">
            <a:extLst>
              <a:ext uri="{FF2B5EF4-FFF2-40B4-BE49-F238E27FC236}">
                <a16:creationId xmlns:a16="http://schemas.microsoft.com/office/drawing/2014/main" id="{0727F22F-AB9D-0A09-DDBC-9B9550AE0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076" y="1005842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Solution</a:t>
            </a:r>
            <a:endParaRPr lang="fr-FR" altLang="fr-FR" sz="1200" dirty="0"/>
          </a:p>
        </p:txBody>
      </p:sp>
    </p:spTree>
    <p:extLst>
      <p:ext uri="{BB962C8B-B14F-4D97-AF65-F5344CB8AC3E}">
        <p14:creationId xmlns:p14="http://schemas.microsoft.com/office/powerpoint/2010/main" val="534062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036F5-1AE5-92C9-A465-5DBA394DE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83;p8">
            <a:extLst>
              <a:ext uri="{FF2B5EF4-FFF2-40B4-BE49-F238E27FC236}">
                <a16:creationId xmlns:a16="http://schemas.microsoft.com/office/drawing/2014/main" id="{62FDB7BC-D1A5-7AD8-3D14-16F7CA2654F9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2888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4" name="Google Shape;985;p8">
            <a:extLst>
              <a:ext uri="{FF2B5EF4-FFF2-40B4-BE49-F238E27FC236}">
                <a16:creationId xmlns:a16="http://schemas.microsoft.com/office/drawing/2014/main" id="{5351DC65-9FC0-4103-2AE2-B58D8B26B7DF}"/>
              </a:ext>
            </a:extLst>
          </p:cNvPr>
          <p:cNvGrpSpPr>
            <a:grpSpLocks/>
          </p:cNvGrpSpPr>
          <p:nvPr/>
        </p:nvGrpSpPr>
        <p:grpSpPr bwMode="auto">
          <a:xfrm>
            <a:off x="2397125" y="207963"/>
            <a:ext cx="7024688" cy="504825"/>
            <a:chOff x="841108" y="1294357"/>
            <a:chExt cx="7475308" cy="508077"/>
          </a:xfrm>
        </p:grpSpPr>
        <p:sp>
          <p:nvSpPr>
            <p:cNvPr id="17434" name="Google Shape;986;p8">
              <a:extLst>
                <a:ext uri="{FF2B5EF4-FFF2-40B4-BE49-F238E27FC236}">
                  <a16:creationId xmlns:a16="http://schemas.microsoft.com/office/drawing/2014/main" id="{3477BE37-D62E-6E6E-E1FB-39EFAE5C746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579238" y="1294357"/>
              <a:ext cx="669394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17435" name="Google Shape;987;p8">
              <a:extLst>
                <a:ext uri="{FF2B5EF4-FFF2-40B4-BE49-F238E27FC236}">
                  <a16:creationId xmlns:a16="http://schemas.microsoft.com/office/drawing/2014/main" id="{8B684BCF-3896-224E-F802-A89A428676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17436" name="Google Shape;988;p8">
              <a:extLst>
                <a:ext uri="{FF2B5EF4-FFF2-40B4-BE49-F238E27FC236}">
                  <a16:creationId xmlns:a16="http://schemas.microsoft.com/office/drawing/2014/main" id="{4B7A516E-BAF5-E0DE-ACEA-8B2EFA56B2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7413" name="Google Shape;989;p8">
            <a:extLst>
              <a:ext uri="{FF2B5EF4-FFF2-40B4-BE49-F238E27FC236}">
                <a16:creationId xmlns:a16="http://schemas.microsoft.com/office/drawing/2014/main" id="{F2FA4CFB-BA3B-D6E3-6CC5-16158AC90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7" y="254000"/>
            <a:ext cx="5894631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 du projet et étude de l’existant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7414" name="Google Shape;990;p8">
            <a:extLst>
              <a:ext uri="{FF2B5EF4-FFF2-40B4-BE49-F238E27FC236}">
                <a16:creationId xmlns:a16="http://schemas.microsoft.com/office/drawing/2014/main" id="{2C621319-FE36-DB2D-AB23-130123BE5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263" y="201613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17415" name="Google Shape;991;p8">
            <a:extLst>
              <a:ext uri="{FF2B5EF4-FFF2-40B4-BE49-F238E27FC236}">
                <a16:creationId xmlns:a16="http://schemas.microsoft.com/office/drawing/2014/main" id="{BF13C74F-FC0A-F9CE-F509-34E63579D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6638" y="198438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17416" name="Google Shape;992;p8">
            <a:extLst>
              <a:ext uri="{FF2B5EF4-FFF2-40B4-BE49-F238E27FC236}">
                <a16:creationId xmlns:a16="http://schemas.microsoft.com/office/drawing/2014/main" id="{25E469C0-C57E-0C7D-49D4-DEE67BAF8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2900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17417" name="Google Shape;993;p8">
            <a:extLst>
              <a:ext uri="{FF2B5EF4-FFF2-40B4-BE49-F238E27FC236}">
                <a16:creationId xmlns:a16="http://schemas.microsoft.com/office/drawing/2014/main" id="{70A1E832-F78E-38B6-FCF6-D05C3C26B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204788"/>
            <a:ext cx="458787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17418" name="Google Shape;994;p8">
            <a:extLst>
              <a:ext uri="{FF2B5EF4-FFF2-40B4-BE49-F238E27FC236}">
                <a16:creationId xmlns:a16="http://schemas.microsoft.com/office/drawing/2014/main" id="{784817CC-918B-655E-52D5-DBEEAA5BA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1613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17419" name="Google Shape;995;p8">
            <a:extLst>
              <a:ext uri="{FF2B5EF4-FFF2-40B4-BE49-F238E27FC236}">
                <a16:creationId xmlns:a16="http://schemas.microsoft.com/office/drawing/2014/main" id="{F158B3DE-E8D5-C55F-5578-305D37EE1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8213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17424" name="Google Shape;1001;p8">
            <a:extLst>
              <a:ext uri="{FF2B5EF4-FFF2-40B4-BE49-F238E27FC236}">
                <a16:creationId xmlns:a16="http://schemas.microsoft.com/office/drawing/2014/main" id="{57CD523D-526C-D934-A0CE-CC2749AA9BC1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5519670" y="844262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427" name="Google Shape;1005;p8">
            <a:extLst>
              <a:ext uri="{FF2B5EF4-FFF2-40B4-BE49-F238E27FC236}">
                <a16:creationId xmlns:a16="http://schemas.microsoft.com/office/drawing/2014/main" id="{7014279A-2637-330B-1A39-148A0B507C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54561" y="6586906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11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28" name="Google Shape;1006;p8">
            <a:extLst>
              <a:ext uri="{FF2B5EF4-FFF2-40B4-BE49-F238E27FC236}">
                <a16:creationId xmlns:a16="http://schemas.microsoft.com/office/drawing/2014/main" id="{CE4A1D13-F3CE-959F-6BD6-AC4421E18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6590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6" name="Google Shape;747;p3">
            <a:extLst>
              <a:ext uri="{FF2B5EF4-FFF2-40B4-BE49-F238E27FC236}">
                <a16:creationId xmlns:a16="http://schemas.microsoft.com/office/drawing/2014/main" id="{C589C671-B666-5981-1B70-D9D7092F5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729" y="985838"/>
            <a:ext cx="1392238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BFBFB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Google Shape;763;p3">
            <a:extLst>
              <a:ext uri="{FF2B5EF4-FFF2-40B4-BE49-F238E27FC236}">
                <a16:creationId xmlns:a16="http://schemas.microsoft.com/office/drawing/2014/main" id="{97051CA5-C069-28CC-6DC6-17E04CD88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729" y="1043870"/>
            <a:ext cx="1331912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</a:t>
            </a:r>
            <a:endParaRPr lang="fr-FR" altLang="fr-FR" dirty="0">
              <a:solidFill>
                <a:srgbClr val="BFBFBF"/>
              </a:solidFill>
            </a:endParaRPr>
          </a:p>
        </p:txBody>
      </p:sp>
      <p:sp>
        <p:nvSpPr>
          <p:cNvPr id="18" name="Google Shape;817;p3">
            <a:extLst>
              <a:ext uri="{FF2B5EF4-FFF2-40B4-BE49-F238E27FC236}">
                <a16:creationId xmlns:a16="http://schemas.microsoft.com/office/drawing/2014/main" id="{5710D31F-7A7D-37D2-7197-033D1964E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22" y="1015547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Problématique</a:t>
            </a:r>
            <a:endParaRPr lang="fr-FR" altLang="fr-FR" sz="1200" dirty="0">
              <a:solidFill>
                <a:srgbClr val="BFBFBF"/>
              </a:solidFill>
            </a:endParaRPr>
          </a:p>
        </p:txBody>
      </p:sp>
      <p:sp>
        <p:nvSpPr>
          <p:cNvPr id="19" name="Google Shape;765;p3">
            <a:extLst>
              <a:ext uri="{FF2B5EF4-FFF2-40B4-BE49-F238E27FC236}">
                <a16:creationId xmlns:a16="http://schemas.microsoft.com/office/drawing/2014/main" id="{905BDFA8-C162-9C18-F350-E17FC7A4F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194" y="985899"/>
            <a:ext cx="1393825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" name="Google Shape;817;p3">
            <a:extLst>
              <a:ext uri="{FF2B5EF4-FFF2-40B4-BE49-F238E27FC236}">
                <a16:creationId xmlns:a16="http://schemas.microsoft.com/office/drawing/2014/main" id="{5DEC9111-8120-9953-4460-68A8B380B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543" y="1038626"/>
            <a:ext cx="1373188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Étude de l’existant</a:t>
            </a:r>
            <a:endParaRPr lang="fr-FR" altLang="fr-FR" sz="1200" dirty="0">
              <a:solidFill>
                <a:srgbClr val="FF0000"/>
              </a:solidFill>
            </a:endParaRPr>
          </a:p>
        </p:txBody>
      </p:sp>
      <p:sp>
        <p:nvSpPr>
          <p:cNvPr id="21" name="Google Shape;765;p3">
            <a:extLst>
              <a:ext uri="{FF2B5EF4-FFF2-40B4-BE49-F238E27FC236}">
                <a16:creationId xmlns:a16="http://schemas.microsoft.com/office/drawing/2014/main" id="{0E38BAAE-10A6-7986-73AE-11591D085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22" y="99258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B0F9326-E72F-7E8C-9C8F-454E50D80E2E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CBBF4C5-236B-4D5E-BE3A-FDC10ABE0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33" y="3246040"/>
            <a:ext cx="11331578" cy="136377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93B6463-2EAD-31AB-CD52-110E828F0078}"/>
              </a:ext>
            </a:extLst>
          </p:cNvPr>
          <p:cNvSpPr/>
          <p:nvPr/>
        </p:nvSpPr>
        <p:spPr>
          <a:xfrm>
            <a:off x="952901" y="3021697"/>
            <a:ext cx="10145312" cy="1906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Google Shape;765;p3">
            <a:extLst>
              <a:ext uri="{FF2B5EF4-FFF2-40B4-BE49-F238E27FC236}">
                <a16:creationId xmlns:a16="http://schemas.microsoft.com/office/drawing/2014/main" id="{1C9D64C0-D785-9CA1-E82B-F9D1EC64E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364" y="992528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5" name="Google Shape;817;p3">
            <a:extLst>
              <a:ext uri="{FF2B5EF4-FFF2-40B4-BE49-F238E27FC236}">
                <a16:creationId xmlns:a16="http://schemas.microsoft.com/office/drawing/2014/main" id="{DE05BA82-053E-B5CD-FCC2-0FD6408E9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076" y="1005842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Solution</a:t>
            </a:r>
            <a:endParaRPr lang="fr-FR" altLang="fr-FR" sz="1200" dirty="0"/>
          </a:p>
        </p:txBody>
      </p:sp>
    </p:spTree>
    <p:extLst>
      <p:ext uri="{BB962C8B-B14F-4D97-AF65-F5344CB8AC3E}">
        <p14:creationId xmlns:p14="http://schemas.microsoft.com/office/powerpoint/2010/main" val="425321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45E4F-282D-88EB-16CB-A74090A53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83;p8">
            <a:extLst>
              <a:ext uri="{FF2B5EF4-FFF2-40B4-BE49-F238E27FC236}">
                <a16:creationId xmlns:a16="http://schemas.microsoft.com/office/drawing/2014/main" id="{C35BAA5E-1838-1E7B-8A23-A95EDC179A3A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2888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4" name="Google Shape;985;p8">
            <a:extLst>
              <a:ext uri="{FF2B5EF4-FFF2-40B4-BE49-F238E27FC236}">
                <a16:creationId xmlns:a16="http://schemas.microsoft.com/office/drawing/2014/main" id="{0A5E84AC-7CF0-74C8-0124-DE13672822E0}"/>
              </a:ext>
            </a:extLst>
          </p:cNvPr>
          <p:cNvGrpSpPr>
            <a:grpSpLocks/>
          </p:cNvGrpSpPr>
          <p:nvPr/>
        </p:nvGrpSpPr>
        <p:grpSpPr bwMode="auto">
          <a:xfrm>
            <a:off x="2397125" y="207963"/>
            <a:ext cx="7024688" cy="504825"/>
            <a:chOff x="841108" y="1294357"/>
            <a:chExt cx="7475308" cy="508077"/>
          </a:xfrm>
        </p:grpSpPr>
        <p:sp>
          <p:nvSpPr>
            <p:cNvPr id="17434" name="Google Shape;986;p8">
              <a:extLst>
                <a:ext uri="{FF2B5EF4-FFF2-40B4-BE49-F238E27FC236}">
                  <a16:creationId xmlns:a16="http://schemas.microsoft.com/office/drawing/2014/main" id="{6B076B0F-DE29-9913-C993-006ECFDB55E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579238" y="1294357"/>
              <a:ext cx="669394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17435" name="Google Shape;987;p8">
              <a:extLst>
                <a:ext uri="{FF2B5EF4-FFF2-40B4-BE49-F238E27FC236}">
                  <a16:creationId xmlns:a16="http://schemas.microsoft.com/office/drawing/2014/main" id="{942455B5-B697-B679-49D5-493C0EB5FE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17436" name="Google Shape;988;p8">
              <a:extLst>
                <a:ext uri="{FF2B5EF4-FFF2-40B4-BE49-F238E27FC236}">
                  <a16:creationId xmlns:a16="http://schemas.microsoft.com/office/drawing/2014/main" id="{E5830729-29A7-D4FE-0567-DE1E2AB24A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7413" name="Google Shape;989;p8">
            <a:extLst>
              <a:ext uri="{FF2B5EF4-FFF2-40B4-BE49-F238E27FC236}">
                <a16:creationId xmlns:a16="http://schemas.microsoft.com/office/drawing/2014/main" id="{200F4D77-A2E8-B528-3725-04D86722C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7" y="254000"/>
            <a:ext cx="5894631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 du projet et étude de l’existant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7414" name="Google Shape;990;p8">
            <a:extLst>
              <a:ext uri="{FF2B5EF4-FFF2-40B4-BE49-F238E27FC236}">
                <a16:creationId xmlns:a16="http://schemas.microsoft.com/office/drawing/2014/main" id="{9F63186C-B9B9-933E-D756-AC617A739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263" y="201613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17415" name="Google Shape;991;p8">
            <a:extLst>
              <a:ext uri="{FF2B5EF4-FFF2-40B4-BE49-F238E27FC236}">
                <a16:creationId xmlns:a16="http://schemas.microsoft.com/office/drawing/2014/main" id="{EF86CA89-4DE2-7AB2-040E-E12876146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6638" y="198438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17416" name="Google Shape;992;p8">
            <a:extLst>
              <a:ext uri="{FF2B5EF4-FFF2-40B4-BE49-F238E27FC236}">
                <a16:creationId xmlns:a16="http://schemas.microsoft.com/office/drawing/2014/main" id="{0323187A-52FC-C80A-C089-1B41C1BC6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2900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17417" name="Google Shape;993;p8">
            <a:extLst>
              <a:ext uri="{FF2B5EF4-FFF2-40B4-BE49-F238E27FC236}">
                <a16:creationId xmlns:a16="http://schemas.microsoft.com/office/drawing/2014/main" id="{D528D342-F6F4-2E1A-E369-2F3575BD3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204788"/>
            <a:ext cx="458787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17418" name="Google Shape;994;p8">
            <a:extLst>
              <a:ext uri="{FF2B5EF4-FFF2-40B4-BE49-F238E27FC236}">
                <a16:creationId xmlns:a16="http://schemas.microsoft.com/office/drawing/2014/main" id="{9909AE6B-4B4F-122D-FA87-E5BE67C81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1613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17419" name="Google Shape;995;p8">
            <a:extLst>
              <a:ext uri="{FF2B5EF4-FFF2-40B4-BE49-F238E27FC236}">
                <a16:creationId xmlns:a16="http://schemas.microsoft.com/office/drawing/2014/main" id="{735BFFBD-7FE2-71A0-C060-24E142E83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8213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17424" name="Google Shape;1001;p8">
            <a:extLst>
              <a:ext uri="{FF2B5EF4-FFF2-40B4-BE49-F238E27FC236}">
                <a16:creationId xmlns:a16="http://schemas.microsoft.com/office/drawing/2014/main" id="{FAA96986-9080-5D85-ADF1-1ECE310887F4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7034091" y="839249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427" name="Google Shape;1005;p8">
            <a:extLst>
              <a:ext uri="{FF2B5EF4-FFF2-40B4-BE49-F238E27FC236}">
                <a16:creationId xmlns:a16="http://schemas.microsoft.com/office/drawing/2014/main" id="{0F920133-6173-1B2E-339B-5A2DD8BEA4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5845" y="6599607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12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28" name="Google Shape;1006;p8">
            <a:extLst>
              <a:ext uri="{FF2B5EF4-FFF2-40B4-BE49-F238E27FC236}">
                <a16:creationId xmlns:a16="http://schemas.microsoft.com/office/drawing/2014/main" id="{10264DFD-9CC9-117E-AFB1-406AD4A60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9192" y="620624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6" name="Google Shape;747;p3">
            <a:extLst>
              <a:ext uri="{FF2B5EF4-FFF2-40B4-BE49-F238E27FC236}">
                <a16:creationId xmlns:a16="http://schemas.microsoft.com/office/drawing/2014/main" id="{6F804DB7-45B5-9D0D-E0C4-320A80041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729" y="985838"/>
            <a:ext cx="1392238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BFBFB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Google Shape;763;p3">
            <a:extLst>
              <a:ext uri="{FF2B5EF4-FFF2-40B4-BE49-F238E27FC236}">
                <a16:creationId xmlns:a16="http://schemas.microsoft.com/office/drawing/2014/main" id="{DA7D1E19-05C1-30FA-8675-FBF43E7BC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729" y="1043870"/>
            <a:ext cx="1331912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</a:t>
            </a:r>
            <a:endParaRPr lang="fr-FR" altLang="fr-FR" dirty="0">
              <a:solidFill>
                <a:srgbClr val="BFBFBF"/>
              </a:solidFill>
            </a:endParaRPr>
          </a:p>
        </p:txBody>
      </p:sp>
      <p:sp>
        <p:nvSpPr>
          <p:cNvPr id="18" name="Google Shape;817;p3">
            <a:extLst>
              <a:ext uri="{FF2B5EF4-FFF2-40B4-BE49-F238E27FC236}">
                <a16:creationId xmlns:a16="http://schemas.microsoft.com/office/drawing/2014/main" id="{EB4DF714-73AB-EAF9-8A2E-63CC420D7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22" y="1015547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Problématique</a:t>
            </a:r>
            <a:endParaRPr lang="fr-FR" altLang="fr-FR" sz="1200" dirty="0">
              <a:solidFill>
                <a:srgbClr val="FF0000"/>
              </a:solidFill>
            </a:endParaRPr>
          </a:p>
        </p:txBody>
      </p:sp>
      <p:sp>
        <p:nvSpPr>
          <p:cNvPr id="19" name="Google Shape;765;p3">
            <a:extLst>
              <a:ext uri="{FF2B5EF4-FFF2-40B4-BE49-F238E27FC236}">
                <a16:creationId xmlns:a16="http://schemas.microsoft.com/office/drawing/2014/main" id="{55DB41B3-8A29-1FBB-F28C-639D3609E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194" y="98589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" name="Google Shape;817;p3">
            <a:extLst>
              <a:ext uri="{FF2B5EF4-FFF2-40B4-BE49-F238E27FC236}">
                <a16:creationId xmlns:a16="http://schemas.microsoft.com/office/drawing/2014/main" id="{D726F153-7A95-76E6-2BD8-2B5062E5E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543" y="1038626"/>
            <a:ext cx="1373188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Étude de l’existant</a:t>
            </a:r>
            <a:endParaRPr lang="fr-FR" altLang="fr-FR" sz="1200" dirty="0"/>
          </a:p>
        </p:txBody>
      </p:sp>
      <p:sp>
        <p:nvSpPr>
          <p:cNvPr id="21" name="Google Shape;765;p3">
            <a:extLst>
              <a:ext uri="{FF2B5EF4-FFF2-40B4-BE49-F238E27FC236}">
                <a16:creationId xmlns:a16="http://schemas.microsoft.com/office/drawing/2014/main" id="{307E5667-C3C1-E905-DB27-E19F18486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22" y="992589"/>
            <a:ext cx="1393825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C8ACB50-ACD9-3227-E7D3-EF08C05C9993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D1E7411-3AB0-FDAB-364B-1A1AED8689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018"/>
          <a:stretch>
            <a:fillRect/>
          </a:stretch>
        </p:blipFill>
        <p:spPr>
          <a:xfrm>
            <a:off x="4086848" y="2039827"/>
            <a:ext cx="4487217" cy="2451197"/>
          </a:xfrm>
          <a:prstGeom prst="rect">
            <a:avLst/>
          </a:prstGeom>
        </p:spPr>
      </p:pic>
      <p:sp>
        <p:nvSpPr>
          <p:cNvPr id="2" name="Google Shape;1006;p8">
            <a:extLst>
              <a:ext uri="{FF2B5EF4-FFF2-40B4-BE49-F238E27FC236}">
                <a16:creationId xmlns:a16="http://schemas.microsoft.com/office/drawing/2014/main" id="{DAADF418-897C-FC17-70C4-CE781126A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6590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A292A53-6D61-0E6E-B556-D46AE39C29B6}"/>
              </a:ext>
            </a:extLst>
          </p:cNvPr>
          <p:cNvSpPr txBox="1"/>
          <p:nvPr/>
        </p:nvSpPr>
        <p:spPr>
          <a:xfrm>
            <a:off x="787400" y="4504518"/>
            <a:ext cx="10815637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400" b="1" dirty="0"/>
              <a:t>Comment concevoir une solution intuitive permettant l’import en masse de toutes les catégories des documents de ventes requises par</a:t>
            </a:r>
          </a:p>
          <a:p>
            <a:pPr algn="ctr">
              <a:lnSpc>
                <a:spcPct val="150000"/>
              </a:lnSpc>
            </a:pPr>
            <a:r>
              <a:rPr lang="fr-FR" sz="2400" b="1" dirty="0"/>
              <a:t>le client ?</a:t>
            </a:r>
            <a:endParaRPr lang="fr-FR" sz="2400" dirty="0"/>
          </a:p>
        </p:txBody>
      </p:sp>
      <p:sp>
        <p:nvSpPr>
          <p:cNvPr id="6" name="Google Shape;765;p3">
            <a:extLst>
              <a:ext uri="{FF2B5EF4-FFF2-40B4-BE49-F238E27FC236}">
                <a16:creationId xmlns:a16="http://schemas.microsoft.com/office/drawing/2014/main" id="{56BFD0BB-61D0-057E-73DF-121AD044F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364" y="992528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7" name="Google Shape;817;p3">
            <a:extLst>
              <a:ext uri="{FF2B5EF4-FFF2-40B4-BE49-F238E27FC236}">
                <a16:creationId xmlns:a16="http://schemas.microsoft.com/office/drawing/2014/main" id="{79171E20-C19F-F48B-B267-FEAC4DE08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076" y="1005842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Solution</a:t>
            </a:r>
            <a:endParaRPr lang="fr-FR" altLang="fr-FR" sz="1200" dirty="0"/>
          </a:p>
        </p:txBody>
      </p:sp>
    </p:spTree>
    <p:extLst>
      <p:ext uri="{BB962C8B-B14F-4D97-AF65-F5344CB8AC3E}">
        <p14:creationId xmlns:p14="http://schemas.microsoft.com/office/powerpoint/2010/main" val="1016665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D3671-B9A0-1BAA-3D9E-0B32E3156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983;p8">
            <a:extLst>
              <a:ext uri="{FF2B5EF4-FFF2-40B4-BE49-F238E27FC236}">
                <a16:creationId xmlns:a16="http://schemas.microsoft.com/office/drawing/2014/main" id="{37A3B501-325C-E6F6-ED8F-D4F590391B5E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2888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4" name="Google Shape;985;p8">
            <a:extLst>
              <a:ext uri="{FF2B5EF4-FFF2-40B4-BE49-F238E27FC236}">
                <a16:creationId xmlns:a16="http://schemas.microsoft.com/office/drawing/2014/main" id="{01BE58A5-99BF-C305-BD45-9FEC5FE87D0B}"/>
              </a:ext>
            </a:extLst>
          </p:cNvPr>
          <p:cNvGrpSpPr>
            <a:grpSpLocks/>
          </p:cNvGrpSpPr>
          <p:nvPr/>
        </p:nvGrpSpPr>
        <p:grpSpPr bwMode="auto">
          <a:xfrm>
            <a:off x="2397125" y="207963"/>
            <a:ext cx="7024688" cy="504825"/>
            <a:chOff x="841108" y="1294357"/>
            <a:chExt cx="7475308" cy="508077"/>
          </a:xfrm>
        </p:grpSpPr>
        <p:sp>
          <p:nvSpPr>
            <p:cNvPr id="17434" name="Google Shape;986;p8">
              <a:extLst>
                <a:ext uri="{FF2B5EF4-FFF2-40B4-BE49-F238E27FC236}">
                  <a16:creationId xmlns:a16="http://schemas.microsoft.com/office/drawing/2014/main" id="{79A50A1F-B0C9-654E-43FB-AE9FEAFEF57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579238" y="1294357"/>
              <a:ext cx="6693948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17435" name="Google Shape;987;p8">
              <a:extLst>
                <a:ext uri="{FF2B5EF4-FFF2-40B4-BE49-F238E27FC236}">
                  <a16:creationId xmlns:a16="http://schemas.microsoft.com/office/drawing/2014/main" id="{8928F58F-207F-052E-FD67-FE94617D7A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17436" name="Google Shape;988;p8">
              <a:extLst>
                <a:ext uri="{FF2B5EF4-FFF2-40B4-BE49-F238E27FC236}">
                  <a16:creationId xmlns:a16="http://schemas.microsoft.com/office/drawing/2014/main" id="{C7D54855-7AD1-9D04-6EAD-41B1F7E3E5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17413" name="Google Shape;989;p8">
            <a:extLst>
              <a:ext uri="{FF2B5EF4-FFF2-40B4-BE49-F238E27FC236}">
                <a16:creationId xmlns:a16="http://schemas.microsoft.com/office/drawing/2014/main" id="{80E44B0A-F4F3-D654-6B59-6B3CCF5B9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7" y="254000"/>
            <a:ext cx="5894631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 du projet et étude de l’existant</a:t>
            </a:r>
            <a:endParaRPr lang="fr-FR" altLang="fr-FR" sz="1800" dirty="0">
              <a:solidFill>
                <a:schemeClr val="tx1"/>
              </a:solidFill>
            </a:endParaRPr>
          </a:p>
        </p:txBody>
      </p:sp>
      <p:sp>
        <p:nvSpPr>
          <p:cNvPr id="17414" name="Google Shape;990;p8">
            <a:extLst>
              <a:ext uri="{FF2B5EF4-FFF2-40B4-BE49-F238E27FC236}">
                <a16:creationId xmlns:a16="http://schemas.microsoft.com/office/drawing/2014/main" id="{99CB169A-CD38-0A90-FDA2-980FC5EA3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263" y="201613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17415" name="Google Shape;991;p8">
            <a:extLst>
              <a:ext uri="{FF2B5EF4-FFF2-40B4-BE49-F238E27FC236}">
                <a16:creationId xmlns:a16="http://schemas.microsoft.com/office/drawing/2014/main" id="{95FFE93F-1D6D-3711-F7C7-56FF54046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6638" y="198438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17416" name="Google Shape;992;p8">
            <a:extLst>
              <a:ext uri="{FF2B5EF4-FFF2-40B4-BE49-F238E27FC236}">
                <a16:creationId xmlns:a16="http://schemas.microsoft.com/office/drawing/2014/main" id="{C29D183E-47E6-6982-6B06-4AE2F0718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2900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17417" name="Google Shape;993;p8">
            <a:extLst>
              <a:ext uri="{FF2B5EF4-FFF2-40B4-BE49-F238E27FC236}">
                <a16:creationId xmlns:a16="http://schemas.microsoft.com/office/drawing/2014/main" id="{9DA9F416-A3F4-27AD-1E7B-89428A6E2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204788"/>
            <a:ext cx="458787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17418" name="Google Shape;994;p8">
            <a:extLst>
              <a:ext uri="{FF2B5EF4-FFF2-40B4-BE49-F238E27FC236}">
                <a16:creationId xmlns:a16="http://schemas.microsoft.com/office/drawing/2014/main" id="{D395D77B-CC1B-C042-48FC-6D72FC44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1613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17419" name="Google Shape;995;p8">
            <a:extLst>
              <a:ext uri="{FF2B5EF4-FFF2-40B4-BE49-F238E27FC236}">
                <a16:creationId xmlns:a16="http://schemas.microsoft.com/office/drawing/2014/main" id="{14AB854E-6300-C171-90C3-A00C626DA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8213" y="1920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17424" name="Google Shape;1001;p8">
            <a:extLst>
              <a:ext uri="{FF2B5EF4-FFF2-40B4-BE49-F238E27FC236}">
                <a16:creationId xmlns:a16="http://schemas.microsoft.com/office/drawing/2014/main" id="{1029F7BA-35D7-BEAD-B440-0BCD6F288D6F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8533245" y="850770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427" name="Google Shape;1005;p8">
            <a:extLst>
              <a:ext uri="{FF2B5EF4-FFF2-40B4-BE49-F238E27FC236}">
                <a16:creationId xmlns:a16="http://schemas.microsoft.com/office/drawing/2014/main" id="{7137FC4D-7FF7-74B0-3901-4E7150D8DE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5845" y="6599607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13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28" name="Google Shape;1006;p8">
            <a:extLst>
              <a:ext uri="{FF2B5EF4-FFF2-40B4-BE49-F238E27FC236}">
                <a16:creationId xmlns:a16="http://schemas.microsoft.com/office/drawing/2014/main" id="{03437BB3-BEE7-E9BB-BA5B-F21F8A611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9192" y="620624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6" name="Google Shape;747;p3">
            <a:extLst>
              <a:ext uri="{FF2B5EF4-FFF2-40B4-BE49-F238E27FC236}">
                <a16:creationId xmlns:a16="http://schemas.microsoft.com/office/drawing/2014/main" id="{F626A85A-91E7-057B-6FC7-F5D8132FD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729" y="985838"/>
            <a:ext cx="1392238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BFBFB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Google Shape;763;p3">
            <a:extLst>
              <a:ext uri="{FF2B5EF4-FFF2-40B4-BE49-F238E27FC236}">
                <a16:creationId xmlns:a16="http://schemas.microsoft.com/office/drawing/2014/main" id="{B5589E36-62A4-AF60-D516-2EA03C6F1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729" y="1043870"/>
            <a:ext cx="1331912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Contexte général</a:t>
            </a:r>
            <a:endParaRPr lang="fr-FR" altLang="fr-FR" dirty="0">
              <a:solidFill>
                <a:srgbClr val="BFBFBF"/>
              </a:solidFill>
            </a:endParaRPr>
          </a:p>
        </p:txBody>
      </p:sp>
      <p:sp>
        <p:nvSpPr>
          <p:cNvPr id="18" name="Google Shape;817;p3">
            <a:extLst>
              <a:ext uri="{FF2B5EF4-FFF2-40B4-BE49-F238E27FC236}">
                <a16:creationId xmlns:a16="http://schemas.microsoft.com/office/drawing/2014/main" id="{365D8E43-6AF4-A592-A82F-0A2BA266C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922" y="1015547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Problématique</a:t>
            </a:r>
            <a:endParaRPr lang="fr-FR" altLang="fr-FR" sz="1200" dirty="0">
              <a:solidFill>
                <a:srgbClr val="BFBFBF"/>
              </a:solidFill>
            </a:endParaRPr>
          </a:p>
        </p:txBody>
      </p:sp>
      <p:sp>
        <p:nvSpPr>
          <p:cNvPr id="19" name="Google Shape;765;p3">
            <a:extLst>
              <a:ext uri="{FF2B5EF4-FFF2-40B4-BE49-F238E27FC236}">
                <a16:creationId xmlns:a16="http://schemas.microsoft.com/office/drawing/2014/main" id="{E52AB27A-FCDF-5219-1033-5017213F6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8194" y="98589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" name="Google Shape;817;p3">
            <a:extLst>
              <a:ext uri="{FF2B5EF4-FFF2-40B4-BE49-F238E27FC236}">
                <a16:creationId xmlns:a16="http://schemas.microsoft.com/office/drawing/2014/main" id="{F0DDDCCA-C690-BD24-E8D0-386CEA68F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543" y="1038626"/>
            <a:ext cx="1373188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Étude de l’existant</a:t>
            </a:r>
            <a:endParaRPr lang="fr-FR" altLang="fr-FR" sz="1200" dirty="0"/>
          </a:p>
        </p:txBody>
      </p:sp>
      <p:sp>
        <p:nvSpPr>
          <p:cNvPr id="21" name="Google Shape;765;p3">
            <a:extLst>
              <a:ext uri="{FF2B5EF4-FFF2-40B4-BE49-F238E27FC236}">
                <a16:creationId xmlns:a16="http://schemas.microsoft.com/office/drawing/2014/main" id="{22E566B6-A895-E639-2511-C33CBF76D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922" y="992589"/>
            <a:ext cx="1393825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BD0D308-8B7B-1F2A-A7CA-FC0A47693D40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" name="Google Shape;1006;p8">
            <a:extLst>
              <a:ext uri="{FF2B5EF4-FFF2-40B4-BE49-F238E27FC236}">
                <a16:creationId xmlns:a16="http://schemas.microsoft.com/office/drawing/2014/main" id="{C66C8ADD-1054-2CCC-5EB1-FC102A6BE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65900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680EACE-9E29-5D28-1327-65EC55287B82}"/>
              </a:ext>
            </a:extLst>
          </p:cNvPr>
          <p:cNvSpPr txBox="1"/>
          <p:nvPr/>
        </p:nvSpPr>
        <p:spPr>
          <a:xfrm>
            <a:off x="1507020" y="3942113"/>
            <a:ext cx="9248292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400" b="1" dirty="0"/>
              <a:t>Développement d'une application SAP en ABAP orienté objet permettant l'import </a:t>
            </a:r>
            <a:r>
              <a:rPr lang="fr-FR" sz="2400" b="1" u="sng" dirty="0"/>
              <a:t>en masse </a:t>
            </a:r>
            <a:r>
              <a:rPr lang="fr-FR" sz="2400" b="1" dirty="0"/>
              <a:t>des</a:t>
            </a:r>
            <a:r>
              <a:rPr lang="fr-FR" sz="2400" b="1" u="sng" dirty="0"/>
              <a:t> documents de vente </a:t>
            </a:r>
            <a:r>
              <a:rPr lang="fr-FR" sz="2400" b="1" dirty="0"/>
              <a:t>à partir d'un fichier Excel, tout en prenant en charge </a:t>
            </a:r>
            <a:r>
              <a:rPr lang="fr-FR" sz="2400" b="1" u="sng" dirty="0"/>
              <a:t>l'ensemble des catégories</a:t>
            </a:r>
            <a:r>
              <a:rPr lang="fr-FR" sz="2400" b="1" dirty="0"/>
              <a:t> de documents requises par le client.</a:t>
            </a:r>
            <a:endParaRPr lang="fr-FR" sz="24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0FA19D6-CA9E-5482-E96F-5C4A1A55A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082" y="2328031"/>
            <a:ext cx="1243692" cy="1566808"/>
          </a:xfrm>
          <a:prstGeom prst="rect">
            <a:avLst/>
          </a:prstGeom>
        </p:spPr>
      </p:pic>
      <p:sp>
        <p:nvSpPr>
          <p:cNvPr id="12" name="Google Shape;765;p3">
            <a:extLst>
              <a:ext uri="{FF2B5EF4-FFF2-40B4-BE49-F238E27FC236}">
                <a16:creationId xmlns:a16="http://schemas.microsoft.com/office/drawing/2014/main" id="{2C82375A-C8F7-458F-FE88-DD53E825B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364" y="992528"/>
            <a:ext cx="1393825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 dirty="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3" name="Google Shape;817;p3">
            <a:extLst>
              <a:ext uri="{FF2B5EF4-FFF2-40B4-BE49-F238E27FC236}">
                <a16:creationId xmlns:a16="http://schemas.microsoft.com/office/drawing/2014/main" id="{C079DF64-F40B-5EFA-A582-27626F87A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076" y="1005842"/>
            <a:ext cx="137318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Solution</a:t>
            </a:r>
            <a:endParaRPr lang="fr-FR" altLang="fr-FR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325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Google Shape;1273;p15"/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23556" name="Google Shape;1284;p15"/>
          <p:cNvGrpSpPr>
            <a:grpSpLocks/>
          </p:cNvGrpSpPr>
          <p:nvPr/>
        </p:nvGrpSpPr>
        <p:grpSpPr bwMode="auto">
          <a:xfrm>
            <a:off x="2001838" y="234950"/>
            <a:ext cx="7475537" cy="504825"/>
            <a:chOff x="841108" y="1294358"/>
            <a:chExt cx="7475308" cy="508077"/>
          </a:xfrm>
        </p:grpSpPr>
        <p:sp>
          <p:nvSpPr>
            <p:cNvPr id="23584" name="Google Shape;1285;p15"/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217925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23585" name="Google Shape;1286;p15"/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23586" name="Google Shape;1287;p15"/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23557" name="Google Shape;1288;p15"/>
          <p:cNvSpPr>
            <a:spLocks noChangeArrowheads="1"/>
          </p:cNvSpPr>
          <p:nvPr/>
        </p:nvSpPr>
        <p:spPr bwMode="auto">
          <a:xfrm>
            <a:off x="3222625" y="234950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 dirty="0"/>
          </a:p>
        </p:txBody>
      </p:sp>
      <p:sp>
        <p:nvSpPr>
          <p:cNvPr id="23558" name="Google Shape;1289;p15"/>
          <p:cNvSpPr>
            <a:spLocks noChangeArrowheads="1"/>
          </p:cNvSpPr>
          <p:nvPr/>
        </p:nvSpPr>
        <p:spPr bwMode="auto">
          <a:xfrm>
            <a:off x="9297988" y="225425"/>
            <a:ext cx="503237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 dirty="0"/>
          </a:p>
        </p:txBody>
      </p:sp>
      <p:sp>
        <p:nvSpPr>
          <p:cNvPr id="23559" name="Google Shape;1290;p15"/>
          <p:cNvSpPr>
            <a:spLocks noChangeArrowheads="1"/>
          </p:cNvSpPr>
          <p:nvPr/>
        </p:nvSpPr>
        <p:spPr bwMode="auto">
          <a:xfrm>
            <a:off x="9872663" y="220663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 dirty="0"/>
          </a:p>
        </p:txBody>
      </p:sp>
      <p:sp>
        <p:nvSpPr>
          <p:cNvPr id="23560" name="Google Shape;1291;p15"/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23561" name="Google Shape;1292;p15"/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 dirty="0"/>
          </a:p>
        </p:txBody>
      </p:sp>
      <p:sp>
        <p:nvSpPr>
          <p:cNvPr id="23562" name="Google Shape;1293;p15"/>
          <p:cNvSpPr>
            <a:spLocks noChangeArrowheads="1"/>
          </p:cNvSpPr>
          <p:nvPr/>
        </p:nvSpPr>
        <p:spPr bwMode="auto">
          <a:xfrm>
            <a:off x="3733800" y="284163"/>
            <a:ext cx="5637744" cy="400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20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Méthodologie utilisée &amp; planification</a:t>
            </a:r>
            <a:endParaRPr lang="fr-FR" altLang="fr-FR" sz="2000" dirty="0">
              <a:solidFill>
                <a:schemeClr val="tx1"/>
              </a:solidFill>
            </a:endParaRPr>
          </a:p>
        </p:txBody>
      </p:sp>
      <p:sp>
        <p:nvSpPr>
          <p:cNvPr id="23563" name="Google Shape;1294;p15"/>
          <p:cNvSpPr>
            <a:spLocks noChangeArrowheads="1"/>
          </p:cNvSpPr>
          <p:nvPr/>
        </p:nvSpPr>
        <p:spPr bwMode="auto">
          <a:xfrm>
            <a:off x="10466388" y="212725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 dirty="0"/>
          </a:p>
        </p:txBody>
      </p:sp>
      <p:sp>
        <p:nvSpPr>
          <p:cNvPr id="23571" name="Google Shape;1304;p15"/>
          <p:cNvSpPr>
            <a:spLocks noGrp="1"/>
          </p:cNvSpPr>
          <p:nvPr>
            <p:ph type="sldNum" sz="quarter" idx="13"/>
          </p:nvPr>
        </p:nvSpPr>
        <p:spPr>
          <a:xfrm>
            <a:off x="10377488" y="6573839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14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3572" name="Google Shape;1305;p15"/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F47E8AD-42D2-1595-0B1B-4AD3247CA796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3" name="Image 5">
            <a:extLst>
              <a:ext uri="{FF2B5EF4-FFF2-40B4-BE49-F238E27FC236}">
                <a16:creationId xmlns:a16="http://schemas.microsoft.com/office/drawing/2014/main" id="{5E843302-E1F6-E829-7162-012E32291A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3356" y="1692989"/>
            <a:ext cx="8653180" cy="4618871"/>
          </a:xfrm>
          <a:prstGeom prst="rect">
            <a:avLst/>
          </a:prstGeom>
        </p:spPr>
      </p:pic>
      <p:sp>
        <p:nvSpPr>
          <p:cNvPr id="4" name="TextBox 15">
            <a:extLst>
              <a:ext uri="{FF2B5EF4-FFF2-40B4-BE49-F238E27FC236}">
                <a16:creationId xmlns:a16="http://schemas.microsoft.com/office/drawing/2014/main" id="{BE4205BB-533B-D150-3F2C-15962B29BC01}"/>
              </a:ext>
            </a:extLst>
          </p:cNvPr>
          <p:cNvSpPr txBox="1"/>
          <p:nvPr/>
        </p:nvSpPr>
        <p:spPr>
          <a:xfrm>
            <a:off x="756791" y="2701942"/>
            <a:ext cx="2465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Méthodologie Deloitte </a:t>
            </a:r>
            <a:r>
              <a:rPr lang="fr-FR" sz="1600" b="1" dirty="0" err="1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Ascend</a:t>
            </a:r>
            <a:r>
              <a:rPr lang="fr-FR" sz="16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pour SAP</a:t>
            </a:r>
            <a:r>
              <a:rPr lang="fr-FR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501E3-9A78-0032-89AA-7B1D6352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Google Shape;1273;p15">
            <a:extLst>
              <a:ext uri="{FF2B5EF4-FFF2-40B4-BE49-F238E27FC236}">
                <a16:creationId xmlns:a16="http://schemas.microsoft.com/office/drawing/2014/main" id="{92366471-C2E4-3D7C-1BE6-EB6F7C817EE6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23556" name="Google Shape;1284;p15">
            <a:extLst>
              <a:ext uri="{FF2B5EF4-FFF2-40B4-BE49-F238E27FC236}">
                <a16:creationId xmlns:a16="http://schemas.microsoft.com/office/drawing/2014/main" id="{36F18FEC-0E4C-7B3B-E847-080511B06BE2}"/>
              </a:ext>
            </a:extLst>
          </p:cNvPr>
          <p:cNvGrpSpPr>
            <a:grpSpLocks/>
          </p:cNvGrpSpPr>
          <p:nvPr/>
        </p:nvGrpSpPr>
        <p:grpSpPr bwMode="auto">
          <a:xfrm>
            <a:off x="2001838" y="234950"/>
            <a:ext cx="7475537" cy="504825"/>
            <a:chOff x="841108" y="1294358"/>
            <a:chExt cx="7475308" cy="508077"/>
          </a:xfrm>
        </p:grpSpPr>
        <p:sp>
          <p:nvSpPr>
            <p:cNvPr id="23584" name="Google Shape;1285;p15">
              <a:extLst>
                <a:ext uri="{FF2B5EF4-FFF2-40B4-BE49-F238E27FC236}">
                  <a16:creationId xmlns:a16="http://schemas.microsoft.com/office/drawing/2014/main" id="{ABD1D3B0-E5AB-9D9E-0175-E8D0AE9AAB5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217925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23585" name="Google Shape;1286;p15">
              <a:extLst>
                <a:ext uri="{FF2B5EF4-FFF2-40B4-BE49-F238E27FC236}">
                  <a16:creationId xmlns:a16="http://schemas.microsoft.com/office/drawing/2014/main" id="{6A7FE093-53BA-5770-A308-0A626386BC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23586" name="Google Shape;1287;p15">
              <a:extLst>
                <a:ext uri="{FF2B5EF4-FFF2-40B4-BE49-F238E27FC236}">
                  <a16:creationId xmlns:a16="http://schemas.microsoft.com/office/drawing/2014/main" id="{F2CBFEC6-73C2-77E5-A870-375A9C00DA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23557" name="Google Shape;1288;p15">
            <a:extLst>
              <a:ext uri="{FF2B5EF4-FFF2-40B4-BE49-F238E27FC236}">
                <a16:creationId xmlns:a16="http://schemas.microsoft.com/office/drawing/2014/main" id="{D49C0BCB-03A1-A609-64D4-40DD964E4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34950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 dirty="0"/>
          </a:p>
        </p:txBody>
      </p:sp>
      <p:sp>
        <p:nvSpPr>
          <p:cNvPr id="23558" name="Google Shape;1289;p15">
            <a:extLst>
              <a:ext uri="{FF2B5EF4-FFF2-40B4-BE49-F238E27FC236}">
                <a16:creationId xmlns:a16="http://schemas.microsoft.com/office/drawing/2014/main" id="{52BF3D49-5368-27DB-2F87-460B2ADDC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7988" y="225425"/>
            <a:ext cx="503237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 dirty="0"/>
          </a:p>
        </p:txBody>
      </p:sp>
      <p:sp>
        <p:nvSpPr>
          <p:cNvPr id="23559" name="Google Shape;1290;p15">
            <a:extLst>
              <a:ext uri="{FF2B5EF4-FFF2-40B4-BE49-F238E27FC236}">
                <a16:creationId xmlns:a16="http://schemas.microsoft.com/office/drawing/2014/main" id="{3ED02963-8C9A-789A-048C-E0EC4A42D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2663" y="220663"/>
            <a:ext cx="504825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 dirty="0"/>
          </a:p>
        </p:txBody>
      </p:sp>
      <p:sp>
        <p:nvSpPr>
          <p:cNvPr id="23560" name="Google Shape;1291;p15">
            <a:extLst>
              <a:ext uri="{FF2B5EF4-FFF2-40B4-BE49-F238E27FC236}">
                <a16:creationId xmlns:a16="http://schemas.microsoft.com/office/drawing/2014/main" id="{FEA44C63-C212-4ED6-DF38-251D2A44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23561" name="Google Shape;1292;p15">
            <a:extLst>
              <a:ext uri="{FF2B5EF4-FFF2-40B4-BE49-F238E27FC236}">
                <a16:creationId xmlns:a16="http://schemas.microsoft.com/office/drawing/2014/main" id="{469F2AB2-EBFE-A59A-7281-E50C4ACB2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 dirty="0"/>
          </a:p>
        </p:txBody>
      </p:sp>
      <p:sp>
        <p:nvSpPr>
          <p:cNvPr id="23562" name="Google Shape;1293;p15">
            <a:extLst>
              <a:ext uri="{FF2B5EF4-FFF2-40B4-BE49-F238E27FC236}">
                <a16:creationId xmlns:a16="http://schemas.microsoft.com/office/drawing/2014/main" id="{D9B4F267-65E5-D621-D6BD-8A4AF8BAF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84163"/>
            <a:ext cx="5637744" cy="400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20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Méthodologie utilisée &amp; planification</a:t>
            </a:r>
            <a:endParaRPr lang="fr-FR" altLang="fr-FR" sz="2000" dirty="0">
              <a:solidFill>
                <a:schemeClr val="tx1"/>
              </a:solidFill>
            </a:endParaRPr>
          </a:p>
        </p:txBody>
      </p:sp>
      <p:sp>
        <p:nvSpPr>
          <p:cNvPr id="23563" name="Google Shape;1294;p15">
            <a:extLst>
              <a:ext uri="{FF2B5EF4-FFF2-40B4-BE49-F238E27FC236}">
                <a16:creationId xmlns:a16="http://schemas.microsoft.com/office/drawing/2014/main" id="{F40B8EA3-99A2-DD86-71CA-C83539DEF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6388" y="212725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 dirty="0"/>
          </a:p>
        </p:txBody>
      </p:sp>
      <p:sp>
        <p:nvSpPr>
          <p:cNvPr id="23571" name="Google Shape;1304;p15">
            <a:extLst>
              <a:ext uri="{FF2B5EF4-FFF2-40B4-BE49-F238E27FC236}">
                <a16:creationId xmlns:a16="http://schemas.microsoft.com/office/drawing/2014/main" id="{10A1A5E8-9C68-2A53-074E-303BADB7BB2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7488" y="6573839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15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3572" name="Google Shape;1305;p15">
            <a:extLst>
              <a:ext uri="{FF2B5EF4-FFF2-40B4-BE49-F238E27FC236}">
                <a16:creationId xmlns:a16="http://schemas.microsoft.com/office/drawing/2014/main" id="{2E3C1497-E9BF-ED44-DF2D-0E7E7EEAB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EF337DA-0B76-4E0A-306D-6DA22C3A0ADC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FC2431A-B6E4-936B-B45B-3C22EB53705A}"/>
              </a:ext>
            </a:extLst>
          </p:cNvPr>
          <p:cNvSpPr txBox="1"/>
          <p:nvPr/>
        </p:nvSpPr>
        <p:spPr>
          <a:xfrm>
            <a:off x="3474244" y="1140331"/>
            <a:ext cx="5835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chemeClr val="tx1"/>
                </a:solidFill>
              </a:rPr>
              <a:t>Diagramme de Gantt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A520253-8A09-7E37-9A03-12C7592B9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1705863"/>
            <a:ext cx="11072813" cy="471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404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/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/>
          <p:cNvGrpSpPr>
            <a:grpSpLocks/>
          </p:cNvGrpSpPr>
          <p:nvPr/>
        </p:nvGrpSpPr>
        <p:grpSpPr bwMode="auto">
          <a:xfrm>
            <a:off x="3189288" y="252413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/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/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/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/>
          <p:cNvSpPr>
            <a:spLocks noChangeArrowheads="1"/>
          </p:cNvSpPr>
          <p:nvPr/>
        </p:nvSpPr>
        <p:spPr bwMode="auto">
          <a:xfrm>
            <a:off x="4330700" y="281386"/>
            <a:ext cx="5545138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Analyse et conception</a:t>
            </a:r>
          </a:p>
        </p:txBody>
      </p:sp>
      <p:sp>
        <p:nvSpPr>
          <p:cNvPr id="33797" name="Google Shape;1449;p20"/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33798" name="Google Shape;1450;p20"/>
          <p:cNvSpPr>
            <a:spLocks noChangeArrowheads="1"/>
          </p:cNvSpPr>
          <p:nvPr/>
        </p:nvSpPr>
        <p:spPr bwMode="auto">
          <a:xfrm>
            <a:off x="10277475" y="234950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33799" name="Google Shape;1451;p20"/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/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33801" name="Google Shape;1453;p20"/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33802" name="Google Shape;1457;p20"/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33804" name="Google Shape;1463;p20"/>
          <p:cNvSpPr>
            <a:spLocks noChangeArrowheads="1"/>
          </p:cNvSpPr>
          <p:nvPr/>
        </p:nvSpPr>
        <p:spPr bwMode="auto">
          <a:xfrm>
            <a:off x="6642303" y="1263078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3809" name="Google Shape;1469;p20"/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/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/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/>
          <p:cNvSpPr txBox="1">
            <a:spLocks/>
          </p:cNvSpPr>
          <p:nvPr/>
        </p:nvSpPr>
        <p:spPr bwMode="auto">
          <a:xfrm>
            <a:off x="10233025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16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/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9386208-0CE7-E1BC-6150-908D36558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46" y="2798127"/>
            <a:ext cx="10290184" cy="208934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9B235E68-C2A8-28BC-0B32-21AE6B018BB1}"/>
              </a:ext>
            </a:extLst>
          </p:cNvPr>
          <p:cNvSpPr txBox="1"/>
          <p:nvPr/>
        </p:nvSpPr>
        <p:spPr>
          <a:xfrm>
            <a:off x="3727450" y="2313094"/>
            <a:ext cx="5744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1</a:t>
            </a:r>
            <a:r>
              <a:rPr lang="fr-FR" sz="1600" b="1" u="sng" baseline="300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re</a:t>
            </a:r>
            <a:r>
              <a:rPr lang="fr-FR" sz="1600" b="1" u="sng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  approche:</a:t>
            </a:r>
            <a:r>
              <a:rPr lang="fr-FR" sz="1600" b="1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fr-FR" sz="16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E</a:t>
            </a:r>
            <a:r>
              <a:rPr lang="fr-FR" sz="1600" dirty="0">
                <a:solidFill>
                  <a:schemeClr val="tx1"/>
                </a:solidFill>
                <a:latin typeface="+mn-lt"/>
              </a:rPr>
              <a:t>xtension de l'application Fiori standard</a:t>
            </a:r>
            <a:endParaRPr lang="fr-FR" sz="1600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endParaRPr lang="fr-FR" sz="16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0A8B482-5279-4264-E83E-ACDAE109B2B6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DD5391-809D-EAFF-552B-D410E883A5D3}"/>
              </a:ext>
            </a:extLst>
          </p:cNvPr>
          <p:cNvSpPr/>
          <p:nvPr/>
        </p:nvSpPr>
        <p:spPr>
          <a:xfrm>
            <a:off x="9331840" y="3429000"/>
            <a:ext cx="543998" cy="18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Google Shape;1461;p20">
            <a:extLst>
              <a:ext uri="{FF2B5EF4-FFF2-40B4-BE49-F238E27FC236}">
                <a16:creationId xmlns:a16="http://schemas.microsoft.com/office/drawing/2014/main" id="{DC26E201-3344-0BEF-FB53-C80AA5D69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1263079"/>
            <a:ext cx="1866900" cy="46037"/>
          </a:xfrm>
          <a:prstGeom prst="rect">
            <a:avLst/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6" name="Google Shape;1464;p20">
            <a:extLst>
              <a:ext uri="{FF2B5EF4-FFF2-40B4-BE49-F238E27FC236}">
                <a16:creationId xmlns:a16="http://schemas.microsoft.com/office/drawing/2014/main" id="{3ACF5A53-75A1-59E3-3526-4B53AC0DF2F8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5473700" y="1101154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7" name="Google Shape;1465;p20">
            <a:extLst>
              <a:ext uri="{FF2B5EF4-FFF2-40B4-BE49-F238E27FC236}">
                <a16:creationId xmlns:a16="http://schemas.microsoft.com/office/drawing/2014/main" id="{04A4C18D-839C-681F-C732-B4A44A179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1315466"/>
            <a:ext cx="1866900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EC3A3B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Architecture technique</a:t>
            </a:r>
            <a:endParaRPr lang="fr-FR" altLang="fr-FR" dirty="0"/>
          </a:p>
        </p:txBody>
      </p:sp>
      <p:sp>
        <p:nvSpPr>
          <p:cNvPr id="13" name="Google Shape;1467;p20">
            <a:extLst>
              <a:ext uri="{FF2B5EF4-FFF2-40B4-BE49-F238E27FC236}">
                <a16:creationId xmlns:a16="http://schemas.microsoft.com/office/drawing/2014/main" id="{5247E96B-8817-7958-BAA4-3DB17BCA8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1324991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Conception</a:t>
            </a:r>
            <a:endParaRPr lang="fr-FR" altLang="fr-FR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175A2-9FB5-E643-D924-DFD86D6BD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F6E05481-FEE6-A93C-1C8A-DBF817639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2733B106-2039-D635-7389-87941F387E56}"/>
              </a:ext>
            </a:extLst>
          </p:cNvPr>
          <p:cNvGrpSpPr>
            <a:grpSpLocks/>
          </p:cNvGrpSpPr>
          <p:nvPr/>
        </p:nvGrpSpPr>
        <p:grpSpPr bwMode="auto">
          <a:xfrm>
            <a:off x="3189288" y="252413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D19AEA9C-EA91-6C19-5A62-34328863E6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3CAAC27D-0898-8081-D1D6-06A533E415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4EE2DBFF-4B83-FD47-A313-075B1082DD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AED94B59-03CC-D767-CEE4-505F0DF58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700" y="281386"/>
            <a:ext cx="5545138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Analyse et conception</a:t>
            </a: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28705DFF-829F-EF21-5629-122C2C4E7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2C551927-672D-C350-DBE3-4261A39EA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7475" y="234950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F42B2317-462F-9ACB-A629-2CABCFCAF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20E4B6CD-7CC5-9496-F0EA-D0399063E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755379BD-DDA6-F361-E945-503D049A3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20CF490E-C61B-B09F-B979-92684EA20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33804" name="Google Shape;1463;p20">
            <a:extLst>
              <a:ext uri="{FF2B5EF4-FFF2-40B4-BE49-F238E27FC236}">
                <a16:creationId xmlns:a16="http://schemas.microsoft.com/office/drawing/2014/main" id="{BEC16E7F-7DF9-C82B-68BA-7E5981A59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303" y="1263078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DF917D61-7BCC-A596-F94D-6752B46E0CE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DF0AF8FC-EFCD-7653-7CA7-D637733D7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BCEA2220-25BC-0F33-8AEA-1ADBCFACF1E3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404424E4-EBC8-67E1-6EE3-70A2AA258816}"/>
              </a:ext>
            </a:extLst>
          </p:cNvPr>
          <p:cNvSpPr txBox="1">
            <a:spLocks/>
          </p:cNvSpPr>
          <p:nvPr/>
        </p:nvSpPr>
        <p:spPr bwMode="auto">
          <a:xfrm>
            <a:off x="10233025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16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40D8E712-BCF5-76EE-5C84-9AFE3C3E1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B9DC324-0793-6DE7-AF95-F248A301D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46" y="2798127"/>
            <a:ext cx="10290184" cy="208934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2A56F49-9BC6-7232-64B1-9014B86E8385}"/>
              </a:ext>
            </a:extLst>
          </p:cNvPr>
          <p:cNvSpPr txBox="1"/>
          <p:nvPr/>
        </p:nvSpPr>
        <p:spPr>
          <a:xfrm>
            <a:off x="3727450" y="2313094"/>
            <a:ext cx="5744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1</a:t>
            </a:r>
            <a:r>
              <a:rPr lang="fr-FR" sz="1600" b="1" u="sng" baseline="300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re</a:t>
            </a:r>
            <a:r>
              <a:rPr lang="fr-FR" sz="1600" b="1" u="sng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  approche:</a:t>
            </a:r>
            <a:r>
              <a:rPr lang="fr-FR" sz="1600" b="1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fr-FR" sz="16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E</a:t>
            </a:r>
            <a:r>
              <a:rPr lang="fr-FR" sz="1600" dirty="0">
                <a:solidFill>
                  <a:schemeClr val="tx1"/>
                </a:solidFill>
                <a:latin typeface="+mn-lt"/>
              </a:rPr>
              <a:t>xtension de l'application Fiori standard</a:t>
            </a:r>
            <a:endParaRPr lang="fr-FR" sz="1600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endParaRPr lang="fr-FR" sz="16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E6A9224-3EA2-D48F-095B-1BBCDE1CEAE5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D7CD36-5529-78FD-95AC-998738F07546}"/>
              </a:ext>
            </a:extLst>
          </p:cNvPr>
          <p:cNvSpPr/>
          <p:nvPr/>
        </p:nvSpPr>
        <p:spPr>
          <a:xfrm>
            <a:off x="9331840" y="3429000"/>
            <a:ext cx="543998" cy="18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Google Shape;1461;p20">
            <a:extLst>
              <a:ext uri="{FF2B5EF4-FFF2-40B4-BE49-F238E27FC236}">
                <a16:creationId xmlns:a16="http://schemas.microsoft.com/office/drawing/2014/main" id="{84488923-5BE1-1FEA-80D1-67E4DEF8A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1263079"/>
            <a:ext cx="1866900" cy="46037"/>
          </a:xfrm>
          <a:prstGeom prst="rect">
            <a:avLst/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6" name="Google Shape;1464;p20">
            <a:extLst>
              <a:ext uri="{FF2B5EF4-FFF2-40B4-BE49-F238E27FC236}">
                <a16:creationId xmlns:a16="http://schemas.microsoft.com/office/drawing/2014/main" id="{20B1169E-1277-4944-547D-41BE539F8A85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5473700" y="1101154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7" name="Google Shape;1465;p20">
            <a:extLst>
              <a:ext uri="{FF2B5EF4-FFF2-40B4-BE49-F238E27FC236}">
                <a16:creationId xmlns:a16="http://schemas.microsoft.com/office/drawing/2014/main" id="{9FE04708-D5D5-DF43-DB25-8BD6EE4B4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1315466"/>
            <a:ext cx="1866900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EC3A3B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Architecture technique</a:t>
            </a:r>
            <a:endParaRPr lang="fr-FR" altLang="fr-FR" dirty="0"/>
          </a:p>
        </p:txBody>
      </p:sp>
      <p:sp>
        <p:nvSpPr>
          <p:cNvPr id="13" name="Google Shape;1467;p20">
            <a:extLst>
              <a:ext uri="{FF2B5EF4-FFF2-40B4-BE49-F238E27FC236}">
                <a16:creationId xmlns:a16="http://schemas.microsoft.com/office/drawing/2014/main" id="{9BF5B351-7989-4543-331B-D6FEF4469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1324991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Conception</a:t>
            </a:r>
            <a:endParaRPr lang="fr-FR" alt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2615E2F-4432-D7D1-E9AF-992AA1F2B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348" y="2963349"/>
            <a:ext cx="1894960" cy="199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907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7F871-7E45-76EE-F273-1BF9BBEC2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0E32065F-D033-A980-0629-8E7DF7688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BF4D9341-4451-D016-A6E2-CDCF59FCC940}"/>
              </a:ext>
            </a:extLst>
          </p:cNvPr>
          <p:cNvGrpSpPr>
            <a:grpSpLocks/>
          </p:cNvGrpSpPr>
          <p:nvPr/>
        </p:nvGrpSpPr>
        <p:grpSpPr bwMode="auto">
          <a:xfrm>
            <a:off x="3189288" y="252413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689EF31B-5933-23ED-82C8-4F15334EB3A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EF73B84F-3CEF-442B-3D8D-B7981D0DCA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97CAA8FE-3F4A-72F2-E2B0-E4B82410DE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C5329936-04DE-8291-3468-6D4FCD08F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700" y="281386"/>
            <a:ext cx="5545138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Analyse et conception</a:t>
            </a: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17E73D69-614F-F496-00FB-2EA6CEEC8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697AEC59-7397-2B72-752E-E7663464F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7475" y="234950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62B678BD-DC27-C823-F8D7-A47BA143A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C08CA95E-71DF-33AC-D5D5-7117692E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C499AA45-CB8B-7E1F-414D-234E8FBB7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3D3AA1E8-D79C-9112-0EC5-F97D8DF86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33804" name="Google Shape;1463;p20">
            <a:extLst>
              <a:ext uri="{FF2B5EF4-FFF2-40B4-BE49-F238E27FC236}">
                <a16:creationId xmlns:a16="http://schemas.microsoft.com/office/drawing/2014/main" id="{FAC5AE55-502D-BF48-F401-60571C480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303" y="1263078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72AC9721-916F-E46B-C636-F1D1D759F43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A773DE16-DC8D-C0D5-AB35-023B7416B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6976863C-530E-B296-CE9E-967C8F08EFE4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67E0E889-2129-EB17-66EE-ED79BC4FEC13}"/>
              </a:ext>
            </a:extLst>
          </p:cNvPr>
          <p:cNvSpPr txBox="1">
            <a:spLocks/>
          </p:cNvSpPr>
          <p:nvPr/>
        </p:nvSpPr>
        <p:spPr bwMode="auto">
          <a:xfrm>
            <a:off x="10233025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16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ADFD576A-D5C3-BE7A-B90E-36B25FA64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7D0B7B2-77B8-15A5-785B-6C5EF7CC4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46" y="2798127"/>
            <a:ext cx="10290184" cy="208934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7081B7CA-1AFD-D52E-11CF-1F4680D37CFB}"/>
              </a:ext>
            </a:extLst>
          </p:cNvPr>
          <p:cNvSpPr txBox="1"/>
          <p:nvPr/>
        </p:nvSpPr>
        <p:spPr>
          <a:xfrm>
            <a:off x="3727450" y="2313094"/>
            <a:ext cx="5744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1</a:t>
            </a:r>
            <a:r>
              <a:rPr lang="fr-FR" sz="1600" b="1" u="sng" baseline="300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re</a:t>
            </a:r>
            <a:r>
              <a:rPr lang="fr-FR" sz="1600" b="1" u="sng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  approche:</a:t>
            </a:r>
            <a:r>
              <a:rPr lang="fr-FR" sz="1600" b="1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fr-FR" sz="16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E</a:t>
            </a:r>
            <a:r>
              <a:rPr lang="fr-FR" sz="1600" dirty="0">
                <a:solidFill>
                  <a:schemeClr val="tx1"/>
                </a:solidFill>
                <a:latin typeface="+mn-lt"/>
              </a:rPr>
              <a:t>xtension de l'application Fiori standard</a:t>
            </a:r>
            <a:endParaRPr lang="fr-FR" sz="1600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endParaRPr lang="fr-FR" sz="16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6A6C401-70FE-7E47-E252-9FC16847C47C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BF3394-0B55-A2EE-59B5-04F1CBA377A5}"/>
              </a:ext>
            </a:extLst>
          </p:cNvPr>
          <p:cNvSpPr/>
          <p:nvPr/>
        </p:nvSpPr>
        <p:spPr>
          <a:xfrm>
            <a:off x="9331840" y="3429000"/>
            <a:ext cx="543998" cy="18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Google Shape;1461;p20">
            <a:extLst>
              <a:ext uri="{FF2B5EF4-FFF2-40B4-BE49-F238E27FC236}">
                <a16:creationId xmlns:a16="http://schemas.microsoft.com/office/drawing/2014/main" id="{C0D99B72-262B-FCCD-C0A4-86183DBC7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1263079"/>
            <a:ext cx="1866900" cy="46037"/>
          </a:xfrm>
          <a:prstGeom prst="rect">
            <a:avLst/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6" name="Google Shape;1464;p20">
            <a:extLst>
              <a:ext uri="{FF2B5EF4-FFF2-40B4-BE49-F238E27FC236}">
                <a16:creationId xmlns:a16="http://schemas.microsoft.com/office/drawing/2014/main" id="{E403287C-B7E3-4111-C05C-DE17169690F2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5473700" y="1101154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7" name="Google Shape;1465;p20">
            <a:extLst>
              <a:ext uri="{FF2B5EF4-FFF2-40B4-BE49-F238E27FC236}">
                <a16:creationId xmlns:a16="http://schemas.microsoft.com/office/drawing/2014/main" id="{2FC8112E-966C-D67F-D3B6-15F169723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1315466"/>
            <a:ext cx="1866900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EC3A3B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Architecture technique</a:t>
            </a:r>
            <a:endParaRPr lang="fr-FR" altLang="fr-FR" dirty="0"/>
          </a:p>
        </p:txBody>
      </p:sp>
      <p:sp>
        <p:nvSpPr>
          <p:cNvPr id="13" name="Google Shape;1467;p20">
            <a:extLst>
              <a:ext uri="{FF2B5EF4-FFF2-40B4-BE49-F238E27FC236}">
                <a16:creationId xmlns:a16="http://schemas.microsoft.com/office/drawing/2014/main" id="{62CBAC59-54D3-95FD-D67B-09A08F925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1324991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Conception</a:t>
            </a:r>
            <a:endParaRPr lang="fr-FR" alt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DD9E83-2B78-66A2-8C6F-403F01C07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4312" y="2946780"/>
            <a:ext cx="2001288" cy="199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154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3F8FE-5056-8D72-D1B3-FB6E0BD3F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5F1E899E-5147-B825-331F-9AE437C9A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7579F278-D7FE-0AE7-2291-2E78E96A3EEE}"/>
              </a:ext>
            </a:extLst>
          </p:cNvPr>
          <p:cNvGrpSpPr>
            <a:grpSpLocks/>
          </p:cNvGrpSpPr>
          <p:nvPr/>
        </p:nvGrpSpPr>
        <p:grpSpPr bwMode="auto">
          <a:xfrm>
            <a:off x="3189288" y="252413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BE1AC650-60FA-3DBA-309F-B69BD32F612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D00644B4-F2C4-3DEE-0C57-ACC68EA4FA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030DF4B4-66FB-448B-4966-8EC754DAF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2EE2B1C7-3801-A27E-A030-6C137760A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700" y="281386"/>
            <a:ext cx="5545138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Analyse et conception</a:t>
            </a: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38DD1193-640D-3057-E675-BF5D97F94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6FDF5A45-DEC1-874E-D4EC-FC1239015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7475" y="234950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329CE847-DF92-C7C2-593C-95C184A8C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7A2A3E66-A1CC-AACB-FD3D-118291A55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0D8ADC21-0ED0-7708-7E84-C0FB09357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41D0F614-5305-10D7-0F51-0EF3BB058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33804" name="Google Shape;1463;p20">
            <a:extLst>
              <a:ext uri="{FF2B5EF4-FFF2-40B4-BE49-F238E27FC236}">
                <a16:creationId xmlns:a16="http://schemas.microsoft.com/office/drawing/2014/main" id="{D5C155FA-6E2D-69E5-AD12-84B9880D8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303" y="1263078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62E99F71-196E-18AD-D7D6-473FB81FF03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F22E85F1-1B4B-C984-D831-AF24E53E0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229ADF1A-8220-ECA2-2F9C-B5A6B32EA8AB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6524B248-C860-FE52-10F0-6F83BACB845A}"/>
              </a:ext>
            </a:extLst>
          </p:cNvPr>
          <p:cNvSpPr txBox="1">
            <a:spLocks/>
          </p:cNvSpPr>
          <p:nvPr/>
        </p:nvSpPr>
        <p:spPr bwMode="auto">
          <a:xfrm>
            <a:off x="10233025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16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9A17EF0C-4826-E898-81C6-2A425D6E5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C0ADBB9-D7AF-D66D-3999-019D583EA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46" y="2798127"/>
            <a:ext cx="10290184" cy="208934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905BF1F0-D9B0-1CCC-83BF-C3938E4A118F}"/>
              </a:ext>
            </a:extLst>
          </p:cNvPr>
          <p:cNvSpPr txBox="1"/>
          <p:nvPr/>
        </p:nvSpPr>
        <p:spPr>
          <a:xfrm>
            <a:off x="3727450" y="2313094"/>
            <a:ext cx="5744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1</a:t>
            </a:r>
            <a:r>
              <a:rPr lang="fr-FR" sz="1600" b="1" u="sng" baseline="300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re</a:t>
            </a:r>
            <a:r>
              <a:rPr lang="fr-FR" sz="1600" b="1" u="sng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  approche:</a:t>
            </a:r>
            <a:r>
              <a:rPr lang="fr-FR" sz="1600" b="1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fr-FR" sz="16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E</a:t>
            </a:r>
            <a:r>
              <a:rPr lang="fr-FR" sz="1600" dirty="0">
                <a:solidFill>
                  <a:schemeClr val="tx1"/>
                </a:solidFill>
                <a:latin typeface="+mn-lt"/>
              </a:rPr>
              <a:t>xtension de l'application Fiori standard</a:t>
            </a:r>
            <a:endParaRPr lang="fr-FR" sz="1600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endParaRPr lang="fr-FR" sz="16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3142D9B-D8AA-6F04-62BB-1417DBACE14C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EF01E8-6B45-5268-639A-740192760423}"/>
              </a:ext>
            </a:extLst>
          </p:cNvPr>
          <p:cNvSpPr/>
          <p:nvPr/>
        </p:nvSpPr>
        <p:spPr>
          <a:xfrm>
            <a:off x="9331840" y="3429000"/>
            <a:ext cx="543998" cy="18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Google Shape;1461;p20">
            <a:extLst>
              <a:ext uri="{FF2B5EF4-FFF2-40B4-BE49-F238E27FC236}">
                <a16:creationId xmlns:a16="http://schemas.microsoft.com/office/drawing/2014/main" id="{15B8EFF3-F45D-0908-B000-20DFC253A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1263079"/>
            <a:ext cx="1866900" cy="46037"/>
          </a:xfrm>
          <a:prstGeom prst="rect">
            <a:avLst/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6" name="Google Shape;1464;p20">
            <a:extLst>
              <a:ext uri="{FF2B5EF4-FFF2-40B4-BE49-F238E27FC236}">
                <a16:creationId xmlns:a16="http://schemas.microsoft.com/office/drawing/2014/main" id="{2F010529-A915-BF84-10E5-D8D6D3DAFC86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5473700" y="1101154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7" name="Google Shape;1465;p20">
            <a:extLst>
              <a:ext uri="{FF2B5EF4-FFF2-40B4-BE49-F238E27FC236}">
                <a16:creationId xmlns:a16="http://schemas.microsoft.com/office/drawing/2014/main" id="{7F926DC8-93D4-6B50-CEC1-E555ED75B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1315466"/>
            <a:ext cx="1866900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EC3A3B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Architecture technique</a:t>
            </a:r>
            <a:endParaRPr lang="fr-FR" altLang="fr-FR" dirty="0"/>
          </a:p>
        </p:txBody>
      </p:sp>
      <p:sp>
        <p:nvSpPr>
          <p:cNvPr id="13" name="Google Shape;1467;p20">
            <a:extLst>
              <a:ext uri="{FF2B5EF4-FFF2-40B4-BE49-F238E27FC236}">
                <a16:creationId xmlns:a16="http://schemas.microsoft.com/office/drawing/2014/main" id="{3D872BCA-0AF0-1B59-D076-7784052AA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1324991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Conception</a:t>
            </a:r>
            <a:endParaRPr lang="fr-FR" alt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A0E507B-7379-32F9-D35A-D712EFB0D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840" y="3156117"/>
            <a:ext cx="1894960" cy="199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84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A7DE8-58D5-E2D5-4981-35F229759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5DCCCB43-30DC-C3A8-FC42-F34CBFDCC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91CA658A-899A-D5E2-DC0D-9FC37EA5E8B1}"/>
              </a:ext>
            </a:extLst>
          </p:cNvPr>
          <p:cNvGrpSpPr>
            <a:grpSpLocks/>
          </p:cNvGrpSpPr>
          <p:nvPr/>
        </p:nvGrpSpPr>
        <p:grpSpPr bwMode="auto">
          <a:xfrm>
            <a:off x="3189288" y="252413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5FDD10A4-A905-F61D-2FC7-069EC1225B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E164F975-C47A-AC57-534E-95B66017A6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7A3961C3-BC3E-C3E9-C28C-A08A3A6D1C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B2F9AAF3-3CED-B499-51B4-E83F72F26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700" y="281386"/>
            <a:ext cx="5545138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Analyse et conception</a:t>
            </a: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36EC274A-6A4F-4053-8C0C-3F5F0DABC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13168B26-95F3-60D5-3883-BB0B55221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7475" y="234950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F93519E9-AFFC-FD8E-0566-13E0F3830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F813712E-B250-BDFF-F05B-C91DB7406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FE3CE968-F1D4-1DCD-B9F0-9A98BBEDD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B093DEDF-049D-DF85-278C-692BDCF2B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33804" name="Google Shape;1463;p20">
            <a:extLst>
              <a:ext uri="{FF2B5EF4-FFF2-40B4-BE49-F238E27FC236}">
                <a16:creationId xmlns:a16="http://schemas.microsoft.com/office/drawing/2014/main" id="{14B8E371-018E-3A1F-0EFD-F1C3B05E3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303" y="1263078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580052B9-3BB3-00DD-363E-92760C7BBC9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EA4D8059-9B3F-4997-1A03-13C74FB4B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8713427B-6D25-4D22-97F7-450137E27ACC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509C153F-A0ED-B4B0-9485-2B616C712EE7}"/>
              </a:ext>
            </a:extLst>
          </p:cNvPr>
          <p:cNvSpPr txBox="1">
            <a:spLocks/>
          </p:cNvSpPr>
          <p:nvPr/>
        </p:nvSpPr>
        <p:spPr bwMode="auto">
          <a:xfrm>
            <a:off x="10233025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16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D3CCEDC0-8473-86F1-2593-D63129C06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917567B-AD76-BB75-06A3-1471D3454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46" y="2798127"/>
            <a:ext cx="10290184" cy="208934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77DA962-1600-B01E-BD39-B26BBBD02AC7}"/>
              </a:ext>
            </a:extLst>
          </p:cNvPr>
          <p:cNvSpPr txBox="1"/>
          <p:nvPr/>
        </p:nvSpPr>
        <p:spPr>
          <a:xfrm>
            <a:off x="3727450" y="2313094"/>
            <a:ext cx="5744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1</a:t>
            </a:r>
            <a:r>
              <a:rPr lang="fr-FR" sz="1600" b="1" u="sng" baseline="300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re</a:t>
            </a:r>
            <a:r>
              <a:rPr lang="fr-FR" sz="1600" b="1" u="sng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  approche:</a:t>
            </a:r>
            <a:r>
              <a:rPr lang="fr-FR" sz="1600" b="1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fr-FR" sz="1600" dirty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E</a:t>
            </a:r>
            <a:r>
              <a:rPr lang="fr-FR" sz="1600" dirty="0">
                <a:solidFill>
                  <a:schemeClr val="tx1"/>
                </a:solidFill>
                <a:latin typeface="+mn-lt"/>
              </a:rPr>
              <a:t>xtension de l'application Fiori standard</a:t>
            </a:r>
            <a:endParaRPr lang="fr-FR" sz="1600" dirty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  <a:p>
            <a:endParaRPr lang="fr-FR" sz="16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2E8720D-1004-DE93-B46A-CD7D500B965A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9EDBD7-4F7D-54BF-D76C-0B8B2D3CE2AB}"/>
              </a:ext>
            </a:extLst>
          </p:cNvPr>
          <p:cNvSpPr/>
          <p:nvPr/>
        </p:nvSpPr>
        <p:spPr>
          <a:xfrm>
            <a:off x="9331840" y="3429000"/>
            <a:ext cx="543998" cy="18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Google Shape;1461;p20">
            <a:extLst>
              <a:ext uri="{FF2B5EF4-FFF2-40B4-BE49-F238E27FC236}">
                <a16:creationId xmlns:a16="http://schemas.microsoft.com/office/drawing/2014/main" id="{D88D0EF2-FF2A-A557-67A7-E0BCB1C7B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1263079"/>
            <a:ext cx="1866900" cy="46037"/>
          </a:xfrm>
          <a:prstGeom prst="rect">
            <a:avLst/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6" name="Google Shape;1464;p20">
            <a:extLst>
              <a:ext uri="{FF2B5EF4-FFF2-40B4-BE49-F238E27FC236}">
                <a16:creationId xmlns:a16="http://schemas.microsoft.com/office/drawing/2014/main" id="{1FD019E0-1BF8-7624-6568-F65DC0ACD750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5473700" y="1101154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7" name="Google Shape;1465;p20">
            <a:extLst>
              <a:ext uri="{FF2B5EF4-FFF2-40B4-BE49-F238E27FC236}">
                <a16:creationId xmlns:a16="http://schemas.microsoft.com/office/drawing/2014/main" id="{EFE712D0-E3A1-DEF0-50AF-91C10D674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1315466"/>
            <a:ext cx="1866900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EC3A3B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Architecture technique</a:t>
            </a:r>
            <a:endParaRPr lang="fr-FR" altLang="fr-FR" dirty="0"/>
          </a:p>
        </p:txBody>
      </p:sp>
      <p:sp>
        <p:nvSpPr>
          <p:cNvPr id="13" name="Google Shape;1467;p20">
            <a:extLst>
              <a:ext uri="{FF2B5EF4-FFF2-40B4-BE49-F238E27FC236}">
                <a16:creationId xmlns:a16="http://schemas.microsoft.com/office/drawing/2014/main" id="{77A51508-98AD-4118-981C-AF6BBEC61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1324991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Conception</a:t>
            </a:r>
            <a:endParaRPr lang="fr-FR" alt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EB0375-E012-CB94-B0EA-84017879B9A2}"/>
              </a:ext>
            </a:extLst>
          </p:cNvPr>
          <p:cNvSpPr/>
          <p:nvPr/>
        </p:nvSpPr>
        <p:spPr>
          <a:xfrm>
            <a:off x="1073146" y="2897869"/>
            <a:ext cx="3447540" cy="20535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5896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F81E0-19F7-6443-1791-8B487DF5A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36652DF7-B9B8-7D1C-1FF4-950388FE1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455ADDEB-6F29-5535-8ECE-7F9781EF3EF2}"/>
              </a:ext>
            </a:extLst>
          </p:cNvPr>
          <p:cNvGrpSpPr>
            <a:grpSpLocks/>
          </p:cNvGrpSpPr>
          <p:nvPr/>
        </p:nvGrpSpPr>
        <p:grpSpPr bwMode="auto">
          <a:xfrm>
            <a:off x="3189288" y="252413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2240958E-DCB1-F039-75B2-990B8DC490F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DDCC1857-BF7D-AC43-0F82-C15156D75F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C93EA02C-5E18-A7BE-1653-910CDB3A0F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217D2C0A-4976-4E4E-C14F-70C5B750D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700" y="281386"/>
            <a:ext cx="5545138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Analyse et conception</a:t>
            </a: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7F6A5EA8-0257-F875-79B2-37D27B7D1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3BB8A2D4-8BAC-83A7-BE64-320A9A865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7475" y="234950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46EC4945-F61A-2FE4-C077-7661E7BC7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BA400EB8-37F7-7191-8F6F-B167E93AC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0D4E2E46-E127-272A-093B-D0AF0C0A6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0DC7EB07-F0C7-1B37-06A1-E5E855EAD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33804" name="Google Shape;1463;p20">
            <a:extLst>
              <a:ext uri="{FF2B5EF4-FFF2-40B4-BE49-F238E27FC236}">
                <a16:creationId xmlns:a16="http://schemas.microsoft.com/office/drawing/2014/main" id="{CBE5E272-BE20-82BD-B4A7-A2E6D3A99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303" y="1263078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E3862E17-BC4E-861D-F637-3FC33E83CA3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2303280C-DDD6-A2B9-1539-96E2731ED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EA64886C-4B03-FAAC-6EF5-A73785FB2A55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18D80822-BEE9-1A05-012D-55505B06EE83}"/>
              </a:ext>
            </a:extLst>
          </p:cNvPr>
          <p:cNvSpPr txBox="1">
            <a:spLocks/>
          </p:cNvSpPr>
          <p:nvPr/>
        </p:nvSpPr>
        <p:spPr bwMode="auto">
          <a:xfrm>
            <a:off x="10233025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17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C8654661-EF63-09B8-2E9E-43857EF39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2B5760F-6EBE-738A-71D6-798EC0F8EF21}"/>
              </a:ext>
            </a:extLst>
          </p:cNvPr>
          <p:cNvSpPr txBox="1"/>
          <p:nvPr/>
        </p:nvSpPr>
        <p:spPr>
          <a:xfrm>
            <a:off x="2546351" y="2313094"/>
            <a:ext cx="8538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>
                <a:solidFill>
                  <a:schemeClr val="tx1"/>
                </a:solidFill>
                <a:cs typeface="Calibri" panose="020F0502020204030204" pitchFamily="34" charset="0"/>
              </a:rPr>
              <a:t>2</a:t>
            </a:r>
            <a:r>
              <a:rPr lang="fr-FR" sz="1600" b="1" u="sng" baseline="30000" dirty="0">
                <a:solidFill>
                  <a:schemeClr val="tx1"/>
                </a:solidFill>
                <a:cs typeface="Calibri" panose="020F0502020204030204" pitchFamily="34" charset="0"/>
              </a:rPr>
              <a:t>éme</a:t>
            </a:r>
            <a:r>
              <a:rPr lang="fr-FR" sz="1600" b="1" u="sng" dirty="0">
                <a:solidFill>
                  <a:schemeClr val="tx1"/>
                </a:solidFill>
                <a:cs typeface="Calibri" panose="020F0502020204030204" pitchFamily="34" charset="0"/>
              </a:rPr>
              <a:t>  approche:</a:t>
            </a:r>
            <a:r>
              <a:rPr lang="fr-FR" sz="1600" b="1" dirty="0">
                <a:solidFill>
                  <a:schemeClr val="tx1"/>
                </a:solidFill>
                <a:cs typeface="Calibri" panose="020F0502020204030204" pitchFamily="34" charset="0"/>
              </a:rPr>
              <a:t> </a:t>
            </a:r>
            <a:r>
              <a:rPr lang="fr-FR" sz="1600" dirty="0">
                <a:solidFill>
                  <a:schemeClr val="tx1"/>
                </a:solidFill>
              </a:rPr>
              <a:t>Développement de l’application « </a:t>
            </a:r>
            <a:r>
              <a:rPr lang="fr-FR" sz="1600" dirty="0" err="1">
                <a:solidFill>
                  <a:schemeClr val="tx1"/>
                </a:solidFill>
              </a:rPr>
              <a:t>Upload</a:t>
            </a:r>
            <a:r>
              <a:rPr lang="fr-FR" sz="1600" dirty="0">
                <a:solidFill>
                  <a:schemeClr val="tx1"/>
                </a:solidFill>
              </a:rPr>
              <a:t> Reverse Document »</a:t>
            </a:r>
            <a:endParaRPr lang="fr-FR" sz="1600" b="1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67BFC89-0C69-0C4F-5BDF-2AF2BBB52839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F0FCFA-3925-7268-ACDF-A1253642427E}"/>
              </a:ext>
            </a:extLst>
          </p:cNvPr>
          <p:cNvSpPr/>
          <p:nvPr/>
        </p:nvSpPr>
        <p:spPr>
          <a:xfrm>
            <a:off x="9331840" y="3429000"/>
            <a:ext cx="543998" cy="18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Google Shape;1461;p20">
            <a:extLst>
              <a:ext uri="{FF2B5EF4-FFF2-40B4-BE49-F238E27FC236}">
                <a16:creationId xmlns:a16="http://schemas.microsoft.com/office/drawing/2014/main" id="{1D1762F2-2F5E-10F5-73C3-0327404A1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1263079"/>
            <a:ext cx="1866900" cy="46037"/>
          </a:xfrm>
          <a:prstGeom prst="rect">
            <a:avLst/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6" name="Google Shape;1464;p20">
            <a:extLst>
              <a:ext uri="{FF2B5EF4-FFF2-40B4-BE49-F238E27FC236}">
                <a16:creationId xmlns:a16="http://schemas.microsoft.com/office/drawing/2014/main" id="{33C88510-5A13-656D-09BC-277C20A54C91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5473700" y="1101154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7" name="Google Shape;1465;p20">
            <a:extLst>
              <a:ext uri="{FF2B5EF4-FFF2-40B4-BE49-F238E27FC236}">
                <a16:creationId xmlns:a16="http://schemas.microsoft.com/office/drawing/2014/main" id="{57B08CDE-028A-0441-92A6-75CF9C8E7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1315466"/>
            <a:ext cx="1866900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EC3A3B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Architecture technique</a:t>
            </a:r>
            <a:endParaRPr lang="fr-FR" altLang="fr-FR" dirty="0"/>
          </a:p>
        </p:txBody>
      </p:sp>
      <p:sp>
        <p:nvSpPr>
          <p:cNvPr id="13" name="Google Shape;1467;p20">
            <a:extLst>
              <a:ext uri="{FF2B5EF4-FFF2-40B4-BE49-F238E27FC236}">
                <a16:creationId xmlns:a16="http://schemas.microsoft.com/office/drawing/2014/main" id="{B1E760F6-E562-161E-CD84-F1D33AEE2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1324991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Conception</a:t>
            </a:r>
            <a:endParaRPr lang="fr-FR" alt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3FB224A-3438-2F3C-7B96-B4B42B5BE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762" y="3649773"/>
            <a:ext cx="1331398" cy="133139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AEBC143-D4FD-1783-D55F-F703360A49BF}"/>
              </a:ext>
            </a:extLst>
          </p:cNvPr>
          <p:cNvSpPr txBox="1"/>
          <p:nvPr/>
        </p:nvSpPr>
        <p:spPr>
          <a:xfrm>
            <a:off x="5764907" y="5005777"/>
            <a:ext cx="2711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SAP Fiori </a:t>
            </a:r>
            <a:r>
              <a:rPr lang="fr-FR" dirty="0" err="1"/>
              <a:t>Launchpad</a:t>
            </a:r>
            <a:endParaRPr lang="fr-FR" dirty="0"/>
          </a:p>
        </p:txBody>
      </p:sp>
      <p:pic>
        <p:nvPicPr>
          <p:cNvPr id="9" name="Picture 2" descr="Images de User Icon – Téléchargement gratuit sur Freepik">
            <a:extLst>
              <a:ext uri="{FF2B5EF4-FFF2-40B4-BE49-F238E27FC236}">
                <a16:creationId xmlns:a16="http://schemas.microsoft.com/office/drawing/2014/main" id="{558B0CD0-DE95-6D3B-6C88-C88F4C8DD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89" y="3672834"/>
            <a:ext cx="1277140" cy="1277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25">
            <a:extLst>
              <a:ext uri="{FF2B5EF4-FFF2-40B4-BE49-F238E27FC236}">
                <a16:creationId xmlns:a16="http://schemas.microsoft.com/office/drawing/2014/main" id="{60009419-1647-0259-FF4D-644857923437}"/>
              </a:ext>
            </a:extLst>
          </p:cNvPr>
          <p:cNvSpPr txBox="1"/>
          <p:nvPr/>
        </p:nvSpPr>
        <p:spPr>
          <a:xfrm>
            <a:off x="698424" y="5014087"/>
            <a:ext cx="126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Utilisateur</a:t>
            </a:r>
          </a:p>
        </p:txBody>
      </p:sp>
      <p:pic>
        <p:nvPicPr>
          <p:cNvPr id="14" name="Picture 2" descr="Navigateur - Icônes référencement et web gratuites">
            <a:extLst>
              <a:ext uri="{FF2B5EF4-FFF2-40B4-BE49-F238E27FC236}">
                <a16:creationId xmlns:a16="http://schemas.microsoft.com/office/drawing/2014/main" id="{24DF4118-4FEB-F0B8-3EA1-3884DF792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517" y="3900398"/>
            <a:ext cx="1135487" cy="1135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25">
            <a:extLst>
              <a:ext uri="{FF2B5EF4-FFF2-40B4-BE49-F238E27FC236}">
                <a16:creationId xmlns:a16="http://schemas.microsoft.com/office/drawing/2014/main" id="{DE807C01-F48F-A66E-7EBA-2C49F5A05625}"/>
              </a:ext>
            </a:extLst>
          </p:cNvPr>
          <p:cNvSpPr txBox="1"/>
          <p:nvPr/>
        </p:nvSpPr>
        <p:spPr>
          <a:xfrm>
            <a:off x="3248731" y="5014087"/>
            <a:ext cx="1268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Navigateur</a:t>
            </a:r>
          </a:p>
        </p:txBody>
      </p:sp>
      <p:pic>
        <p:nvPicPr>
          <p:cNvPr id="16" name="Graphique 15" descr="Trier avec un remplissage uni">
            <a:extLst>
              <a:ext uri="{FF2B5EF4-FFF2-40B4-BE49-F238E27FC236}">
                <a16:creationId xmlns:a16="http://schemas.microsoft.com/office/drawing/2014/main" id="{1F6E64BF-F778-5E62-4647-BAD07F1D6C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2133537" y="3952826"/>
            <a:ext cx="914400" cy="914400"/>
          </a:xfrm>
          <a:prstGeom prst="rect">
            <a:avLst/>
          </a:prstGeom>
        </p:spPr>
      </p:pic>
      <p:pic>
        <p:nvPicPr>
          <p:cNvPr id="17" name="Graphique 16" descr="Trier avec un remplissage uni">
            <a:extLst>
              <a:ext uri="{FF2B5EF4-FFF2-40B4-BE49-F238E27FC236}">
                <a16:creationId xmlns:a16="http://schemas.microsoft.com/office/drawing/2014/main" id="{B62651CF-99D0-C4AA-43A1-1719AEF973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4822825" y="3952328"/>
            <a:ext cx="914400" cy="914400"/>
          </a:xfrm>
          <a:prstGeom prst="rect">
            <a:avLst/>
          </a:prstGeom>
        </p:spPr>
      </p:pic>
      <p:pic>
        <p:nvPicPr>
          <p:cNvPr id="18" name="Graphique 17" descr="Trier avec un remplissage uni">
            <a:extLst>
              <a:ext uri="{FF2B5EF4-FFF2-40B4-BE49-F238E27FC236}">
                <a16:creationId xmlns:a16="http://schemas.microsoft.com/office/drawing/2014/main" id="{3EE348E7-9D80-43FB-BB56-9B72B3F27E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747649" y="3945804"/>
            <a:ext cx="914400" cy="914400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544DD719-D5EB-2744-5914-1F527C2BA941}"/>
              </a:ext>
            </a:extLst>
          </p:cNvPr>
          <p:cNvSpPr txBox="1"/>
          <p:nvPr/>
        </p:nvSpPr>
        <p:spPr>
          <a:xfrm>
            <a:off x="1967042" y="3681517"/>
            <a:ext cx="1135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Accès web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806A152-00BF-9245-F683-79E7E4EE1DD9}"/>
              </a:ext>
            </a:extLst>
          </p:cNvPr>
          <p:cNvSpPr txBox="1"/>
          <p:nvPr/>
        </p:nvSpPr>
        <p:spPr>
          <a:xfrm>
            <a:off x="4877910" y="3698346"/>
            <a:ext cx="1135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HTTPS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CDACE84-384C-B2F7-8B21-4406EAA723EB}"/>
              </a:ext>
            </a:extLst>
          </p:cNvPr>
          <p:cNvSpPr txBox="1"/>
          <p:nvPr/>
        </p:nvSpPr>
        <p:spPr>
          <a:xfrm>
            <a:off x="7928062" y="3746509"/>
            <a:ext cx="1135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Requête 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BF38D047-B169-9784-A90D-CEC0E44B84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7805" y="3567484"/>
            <a:ext cx="1482139" cy="1482139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5DA9C7BB-5951-FB1C-21E2-5F992EBC00A6}"/>
              </a:ext>
            </a:extLst>
          </p:cNvPr>
          <p:cNvSpPr txBox="1"/>
          <p:nvPr/>
        </p:nvSpPr>
        <p:spPr>
          <a:xfrm>
            <a:off x="9173442" y="5014087"/>
            <a:ext cx="2711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Couche backend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A789DD-B7B9-5F68-22B9-B47DB91C5799}"/>
              </a:ext>
            </a:extLst>
          </p:cNvPr>
          <p:cNvSpPr/>
          <p:nvPr/>
        </p:nvSpPr>
        <p:spPr>
          <a:xfrm>
            <a:off x="5800028" y="3626690"/>
            <a:ext cx="1842282" cy="18793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5522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37F9-CF79-E0E6-F82C-6904ADB3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8B6315B2-DF9E-AD8D-7BFD-F5FAB7972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C7A3A525-DFA3-709A-2804-94D3F09073B4}"/>
              </a:ext>
            </a:extLst>
          </p:cNvPr>
          <p:cNvGrpSpPr>
            <a:grpSpLocks/>
          </p:cNvGrpSpPr>
          <p:nvPr/>
        </p:nvGrpSpPr>
        <p:grpSpPr bwMode="auto">
          <a:xfrm>
            <a:off x="3189288" y="252413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7F150D6C-1480-09C1-8F64-DFB422A3993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54466190-8622-A70D-9502-B53B048C22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D02231D2-9B7E-803C-F356-C23CC381E1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3B6FFF1B-686B-A9C4-F485-0251B3E00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700" y="281386"/>
            <a:ext cx="5545138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Analyse et conception</a:t>
            </a: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5F71CF78-6E95-F8C2-F738-8A24F9F7B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44CE6A3F-E271-9262-9775-D8220B898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7475" y="234950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522FC8BE-C037-26EB-05C7-53C2B2F34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56C15AF1-9053-D297-4EC5-6CBB21AC0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F619987E-2B1E-7B78-3337-A380B0EA8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A3462C00-C7E4-B7AE-7E2A-F85987060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33804" name="Google Shape;1463;p20">
            <a:extLst>
              <a:ext uri="{FF2B5EF4-FFF2-40B4-BE49-F238E27FC236}">
                <a16:creationId xmlns:a16="http://schemas.microsoft.com/office/drawing/2014/main" id="{80379D7E-5221-95CA-3291-6106C656C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303" y="1263078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F8EE438B-5D7A-9E3B-E172-247D1D6483E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603C73F5-DE86-0B56-0957-2D1888333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7209F0FC-067F-7A5E-E97E-EB49C209186D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8757E660-158F-728D-4D3C-FE9CD4513A22}"/>
              </a:ext>
            </a:extLst>
          </p:cNvPr>
          <p:cNvSpPr txBox="1">
            <a:spLocks/>
          </p:cNvSpPr>
          <p:nvPr/>
        </p:nvSpPr>
        <p:spPr bwMode="auto">
          <a:xfrm>
            <a:off x="10233025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17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C266C04C-4BA7-D56B-5DE7-40C30192E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1986B87-EA81-D76F-97D6-F3D154C1453B}"/>
              </a:ext>
            </a:extLst>
          </p:cNvPr>
          <p:cNvSpPr txBox="1"/>
          <p:nvPr/>
        </p:nvSpPr>
        <p:spPr>
          <a:xfrm>
            <a:off x="2546351" y="2313094"/>
            <a:ext cx="8538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>
                <a:solidFill>
                  <a:schemeClr val="tx1"/>
                </a:solidFill>
                <a:cs typeface="Calibri" panose="020F0502020204030204" pitchFamily="34" charset="0"/>
              </a:rPr>
              <a:t>2</a:t>
            </a:r>
            <a:r>
              <a:rPr lang="fr-FR" sz="1600" b="1" u="sng" baseline="30000" dirty="0">
                <a:solidFill>
                  <a:schemeClr val="tx1"/>
                </a:solidFill>
                <a:cs typeface="Calibri" panose="020F0502020204030204" pitchFamily="34" charset="0"/>
              </a:rPr>
              <a:t>éme</a:t>
            </a:r>
            <a:r>
              <a:rPr lang="fr-FR" sz="1600" b="1" u="sng" dirty="0">
                <a:solidFill>
                  <a:schemeClr val="tx1"/>
                </a:solidFill>
                <a:cs typeface="Calibri" panose="020F0502020204030204" pitchFamily="34" charset="0"/>
              </a:rPr>
              <a:t>  approche:</a:t>
            </a:r>
            <a:r>
              <a:rPr lang="fr-FR" sz="1600" b="1" dirty="0">
                <a:solidFill>
                  <a:schemeClr val="tx1"/>
                </a:solidFill>
                <a:cs typeface="Calibri" panose="020F0502020204030204" pitchFamily="34" charset="0"/>
              </a:rPr>
              <a:t> </a:t>
            </a:r>
            <a:r>
              <a:rPr lang="fr-FR" sz="1600" dirty="0">
                <a:solidFill>
                  <a:schemeClr val="tx1"/>
                </a:solidFill>
              </a:rPr>
              <a:t>Développement de l’application « </a:t>
            </a:r>
            <a:r>
              <a:rPr lang="fr-FR" sz="1600" dirty="0" err="1">
                <a:solidFill>
                  <a:schemeClr val="tx1"/>
                </a:solidFill>
              </a:rPr>
              <a:t>Upload</a:t>
            </a:r>
            <a:r>
              <a:rPr lang="fr-FR" sz="1600" dirty="0">
                <a:solidFill>
                  <a:schemeClr val="tx1"/>
                </a:solidFill>
              </a:rPr>
              <a:t> Reverse Document »</a:t>
            </a:r>
            <a:endParaRPr lang="fr-FR" sz="1600" b="1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31FBED1-B2E0-FE69-B454-C703B17D8A20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115F46-DE98-8941-FA59-E0EDCD54EDF2}"/>
              </a:ext>
            </a:extLst>
          </p:cNvPr>
          <p:cNvSpPr/>
          <p:nvPr/>
        </p:nvSpPr>
        <p:spPr>
          <a:xfrm>
            <a:off x="9331840" y="3429000"/>
            <a:ext cx="543998" cy="18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Google Shape;1461;p20">
            <a:extLst>
              <a:ext uri="{FF2B5EF4-FFF2-40B4-BE49-F238E27FC236}">
                <a16:creationId xmlns:a16="http://schemas.microsoft.com/office/drawing/2014/main" id="{F2F5B1E2-273F-85D8-D27F-2F0E53AB1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1263079"/>
            <a:ext cx="1866900" cy="46037"/>
          </a:xfrm>
          <a:prstGeom prst="rect">
            <a:avLst/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6" name="Google Shape;1464;p20">
            <a:extLst>
              <a:ext uri="{FF2B5EF4-FFF2-40B4-BE49-F238E27FC236}">
                <a16:creationId xmlns:a16="http://schemas.microsoft.com/office/drawing/2014/main" id="{1B84382E-6B93-7026-6DE6-A54F32DEBC2B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5473700" y="1101154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7" name="Google Shape;1465;p20">
            <a:extLst>
              <a:ext uri="{FF2B5EF4-FFF2-40B4-BE49-F238E27FC236}">
                <a16:creationId xmlns:a16="http://schemas.microsoft.com/office/drawing/2014/main" id="{FCD16F5B-7487-429F-114F-56E2F7EA4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1315466"/>
            <a:ext cx="1866900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EC3A3B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Architecture technique</a:t>
            </a:r>
            <a:endParaRPr lang="fr-FR" altLang="fr-FR" dirty="0"/>
          </a:p>
        </p:txBody>
      </p:sp>
      <p:sp>
        <p:nvSpPr>
          <p:cNvPr id="13" name="Google Shape;1467;p20">
            <a:extLst>
              <a:ext uri="{FF2B5EF4-FFF2-40B4-BE49-F238E27FC236}">
                <a16:creationId xmlns:a16="http://schemas.microsoft.com/office/drawing/2014/main" id="{B7916C9B-B626-50B8-D6FC-28EA68FA4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1324991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Conception</a:t>
            </a:r>
            <a:endParaRPr lang="fr-FR" alt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B0C09A1-50CF-D113-97AC-E4A42FE88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762" y="3649773"/>
            <a:ext cx="1331398" cy="133139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21B6934-5DA4-5FDC-3B71-5C7998CFEA9B}"/>
              </a:ext>
            </a:extLst>
          </p:cNvPr>
          <p:cNvSpPr txBox="1"/>
          <p:nvPr/>
        </p:nvSpPr>
        <p:spPr>
          <a:xfrm>
            <a:off x="5764907" y="5005777"/>
            <a:ext cx="2711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SAP Fiori </a:t>
            </a:r>
            <a:r>
              <a:rPr lang="fr-FR" dirty="0" err="1"/>
              <a:t>Launchpad</a:t>
            </a:r>
            <a:endParaRPr lang="fr-FR" dirty="0"/>
          </a:p>
        </p:txBody>
      </p:sp>
      <p:pic>
        <p:nvPicPr>
          <p:cNvPr id="9" name="Picture 2" descr="Images de User Icon – Téléchargement gratuit sur Freepik">
            <a:extLst>
              <a:ext uri="{FF2B5EF4-FFF2-40B4-BE49-F238E27FC236}">
                <a16:creationId xmlns:a16="http://schemas.microsoft.com/office/drawing/2014/main" id="{83ECFC89-8E88-C909-D3ED-A3CE352B2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89" y="3672834"/>
            <a:ext cx="1277140" cy="1277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25">
            <a:extLst>
              <a:ext uri="{FF2B5EF4-FFF2-40B4-BE49-F238E27FC236}">
                <a16:creationId xmlns:a16="http://schemas.microsoft.com/office/drawing/2014/main" id="{462EE2EE-BC11-1422-4AEE-983126F785B7}"/>
              </a:ext>
            </a:extLst>
          </p:cNvPr>
          <p:cNvSpPr txBox="1"/>
          <p:nvPr/>
        </p:nvSpPr>
        <p:spPr>
          <a:xfrm>
            <a:off x="698424" y="5014087"/>
            <a:ext cx="126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Utilisateur</a:t>
            </a:r>
          </a:p>
        </p:txBody>
      </p:sp>
      <p:pic>
        <p:nvPicPr>
          <p:cNvPr id="14" name="Picture 2" descr="Navigateur - Icônes référencement et web gratuites">
            <a:extLst>
              <a:ext uri="{FF2B5EF4-FFF2-40B4-BE49-F238E27FC236}">
                <a16:creationId xmlns:a16="http://schemas.microsoft.com/office/drawing/2014/main" id="{0B86D52E-5AA2-E7BC-9815-7793A4DD4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517" y="3900398"/>
            <a:ext cx="1135487" cy="1135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25">
            <a:extLst>
              <a:ext uri="{FF2B5EF4-FFF2-40B4-BE49-F238E27FC236}">
                <a16:creationId xmlns:a16="http://schemas.microsoft.com/office/drawing/2014/main" id="{88AB2430-4767-D372-8142-4D187787BBEA}"/>
              </a:ext>
            </a:extLst>
          </p:cNvPr>
          <p:cNvSpPr txBox="1"/>
          <p:nvPr/>
        </p:nvSpPr>
        <p:spPr>
          <a:xfrm>
            <a:off x="3248731" y="5014087"/>
            <a:ext cx="1268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Navigateur</a:t>
            </a:r>
          </a:p>
        </p:txBody>
      </p:sp>
      <p:pic>
        <p:nvPicPr>
          <p:cNvPr id="16" name="Graphique 15" descr="Trier avec un remplissage uni">
            <a:extLst>
              <a:ext uri="{FF2B5EF4-FFF2-40B4-BE49-F238E27FC236}">
                <a16:creationId xmlns:a16="http://schemas.microsoft.com/office/drawing/2014/main" id="{38D3683A-504C-B03B-3317-4CE2D1DF7B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2133537" y="3952826"/>
            <a:ext cx="914400" cy="914400"/>
          </a:xfrm>
          <a:prstGeom prst="rect">
            <a:avLst/>
          </a:prstGeom>
        </p:spPr>
      </p:pic>
      <p:pic>
        <p:nvPicPr>
          <p:cNvPr id="17" name="Graphique 16" descr="Trier avec un remplissage uni">
            <a:extLst>
              <a:ext uri="{FF2B5EF4-FFF2-40B4-BE49-F238E27FC236}">
                <a16:creationId xmlns:a16="http://schemas.microsoft.com/office/drawing/2014/main" id="{58A196CA-C5E9-92C4-1C5D-63F372BF1C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4822825" y="3952328"/>
            <a:ext cx="914400" cy="914400"/>
          </a:xfrm>
          <a:prstGeom prst="rect">
            <a:avLst/>
          </a:prstGeom>
        </p:spPr>
      </p:pic>
      <p:pic>
        <p:nvPicPr>
          <p:cNvPr id="18" name="Graphique 17" descr="Trier avec un remplissage uni">
            <a:extLst>
              <a:ext uri="{FF2B5EF4-FFF2-40B4-BE49-F238E27FC236}">
                <a16:creationId xmlns:a16="http://schemas.microsoft.com/office/drawing/2014/main" id="{938D5E88-7F40-C934-6285-8DE41D7F34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747649" y="3945804"/>
            <a:ext cx="914400" cy="914400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8CA1C837-7225-708D-BB97-93F0835EC929}"/>
              </a:ext>
            </a:extLst>
          </p:cNvPr>
          <p:cNvSpPr txBox="1"/>
          <p:nvPr/>
        </p:nvSpPr>
        <p:spPr>
          <a:xfrm>
            <a:off x="1967042" y="3681517"/>
            <a:ext cx="1135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Accès web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B93D218-D19A-08A5-CBD2-A3E6FBD6BC48}"/>
              </a:ext>
            </a:extLst>
          </p:cNvPr>
          <p:cNvSpPr txBox="1"/>
          <p:nvPr/>
        </p:nvSpPr>
        <p:spPr>
          <a:xfrm>
            <a:off x="4877910" y="3698346"/>
            <a:ext cx="1135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HTTPS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F9DFACC-C37F-8B1E-41BC-F95A4857A780}"/>
              </a:ext>
            </a:extLst>
          </p:cNvPr>
          <p:cNvSpPr txBox="1"/>
          <p:nvPr/>
        </p:nvSpPr>
        <p:spPr>
          <a:xfrm>
            <a:off x="7928062" y="3746509"/>
            <a:ext cx="1135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Requête 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2046986E-9145-F6DF-27E7-B4D0F19E06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7805" y="3567484"/>
            <a:ext cx="1482139" cy="1482139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C8FB3A30-1625-EDEB-E1E3-11E0A09BB3DA}"/>
              </a:ext>
            </a:extLst>
          </p:cNvPr>
          <p:cNvSpPr txBox="1"/>
          <p:nvPr/>
        </p:nvSpPr>
        <p:spPr>
          <a:xfrm>
            <a:off x="9173442" y="5014087"/>
            <a:ext cx="2711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Couche backend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8A18A1-66F6-94D1-1DC6-C3F9579BCCF8}"/>
              </a:ext>
            </a:extLst>
          </p:cNvPr>
          <p:cNvSpPr/>
          <p:nvPr/>
        </p:nvSpPr>
        <p:spPr>
          <a:xfrm>
            <a:off x="9039457" y="3526739"/>
            <a:ext cx="1842282" cy="18793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065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0CCB4-759C-310A-1759-A4A4C02C0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F4A3D9A0-A4CC-B7C0-425E-9A3183C1D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E4B1071C-BCE0-55DC-9B9F-7CD339251E8A}"/>
              </a:ext>
            </a:extLst>
          </p:cNvPr>
          <p:cNvGrpSpPr>
            <a:grpSpLocks/>
          </p:cNvGrpSpPr>
          <p:nvPr/>
        </p:nvGrpSpPr>
        <p:grpSpPr bwMode="auto">
          <a:xfrm>
            <a:off x="3189288" y="252413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20F43F2F-0DBE-ABE4-6E1A-530DDCE8E5F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3C3D581F-AD53-C29B-74F8-7584D9D655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A477D255-712E-A067-5FBB-C09A8A8D5D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583EC1A8-9E11-9E55-A47A-D62667BD3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700" y="281386"/>
            <a:ext cx="5545138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Analyse et conception</a:t>
            </a: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ED5325D9-49B8-FA5C-243B-31863A29E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866F9E87-015C-522D-6F4B-ABC618603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7475" y="234950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8D2E3A27-5118-B511-3F52-996FC954D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258A1F73-39C1-F6CE-C782-8E8523304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821B3598-DCE3-7BB7-0BA5-734543FF9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725769CF-3F7E-3B0C-17F3-42B2A5ABA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33804" name="Google Shape;1463;p20">
            <a:extLst>
              <a:ext uri="{FF2B5EF4-FFF2-40B4-BE49-F238E27FC236}">
                <a16:creationId xmlns:a16="http://schemas.microsoft.com/office/drawing/2014/main" id="{0C306920-97DA-A6EC-8B28-0A26D2294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303" y="1263078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D9DB3C99-1D3D-B261-A723-1C41D132D72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E16D29FC-260E-9B9A-B804-0AFA3A838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E913F379-31BE-4BD9-5926-86486696254B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86E3913E-89E8-8C47-D637-F11510A3A970}"/>
              </a:ext>
            </a:extLst>
          </p:cNvPr>
          <p:cNvSpPr txBox="1">
            <a:spLocks/>
          </p:cNvSpPr>
          <p:nvPr/>
        </p:nvSpPr>
        <p:spPr bwMode="auto">
          <a:xfrm>
            <a:off x="10233025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17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7E483292-0B35-7F8F-33EB-4276E7A7D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3A933DE-B235-8B10-74D6-4C10466FD17E}"/>
              </a:ext>
            </a:extLst>
          </p:cNvPr>
          <p:cNvSpPr txBox="1"/>
          <p:nvPr/>
        </p:nvSpPr>
        <p:spPr>
          <a:xfrm>
            <a:off x="2546351" y="2313094"/>
            <a:ext cx="8538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>
                <a:solidFill>
                  <a:schemeClr val="tx1"/>
                </a:solidFill>
                <a:cs typeface="Calibri" panose="020F0502020204030204" pitchFamily="34" charset="0"/>
              </a:rPr>
              <a:t>2</a:t>
            </a:r>
            <a:r>
              <a:rPr lang="fr-FR" sz="1600" b="1" u="sng" baseline="30000" dirty="0">
                <a:solidFill>
                  <a:schemeClr val="tx1"/>
                </a:solidFill>
                <a:cs typeface="Calibri" panose="020F0502020204030204" pitchFamily="34" charset="0"/>
              </a:rPr>
              <a:t>éme</a:t>
            </a:r>
            <a:r>
              <a:rPr lang="fr-FR" sz="1600" b="1" u="sng" dirty="0">
                <a:solidFill>
                  <a:schemeClr val="tx1"/>
                </a:solidFill>
                <a:cs typeface="Calibri" panose="020F0502020204030204" pitchFamily="34" charset="0"/>
              </a:rPr>
              <a:t>  approche:</a:t>
            </a:r>
            <a:r>
              <a:rPr lang="fr-FR" sz="1600" b="1" dirty="0">
                <a:solidFill>
                  <a:schemeClr val="tx1"/>
                </a:solidFill>
                <a:cs typeface="Calibri" panose="020F0502020204030204" pitchFamily="34" charset="0"/>
              </a:rPr>
              <a:t> </a:t>
            </a:r>
            <a:r>
              <a:rPr lang="fr-FR" sz="1600" dirty="0">
                <a:solidFill>
                  <a:schemeClr val="tx1"/>
                </a:solidFill>
              </a:rPr>
              <a:t>Développement de l’application « </a:t>
            </a:r>
            <a:r>
              <a:rPr lang="fr-FR" sz="1600" dirty="0" err="1">
                <a:solidFill>
                  <a:schemeClr val="tx1"/>
                </a:solidFill>
              </a:rPr>
              <a:t>Upload</a:t>
            </a:r>
            <a:r>
              <a:rPr lang="fr-FR" sz="1600" dirty="0">
                <a:solidFill>
                  <a:schemeClr val="tx1"/>
                </a:solidFill>
              </a:rPr>
              <a:t> Reverse Document »</a:t>
            </a:r>
            <a:endParaRPr lang="fr-FR" sz="1600" b="1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B42964C-AD48-AC68-3E5A-58F8E18A24D7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3D904F-A43A-2AAC-357D-08CB61B5E6C8}"/>
              </a:ext>
            </a:extLst>
          </p:cNvPr>
          <p:cNvSpPr/>
          <p:nvPr/>
        </p:nvSpPr>
        <p:spPr>
          <a:xfrm>
            <a:off x="9331840" y="3429000"/>
            <a:ext cx="543998" cy="18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Google Shape;1461;p20">
            <a:extLst>
              <a:ext uri="{FF2B5EF4-FFF2-40B4-BE49-F238E27FC236}">
                <a16:creationId xmlns:a16="http://schemas.microsoft.com/office/drawing/2014/main" id="{2BF136FE-B3CB-FBDE-DD3B-A5AAAF609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1263079"/>
            <a:ext cx="1866900" cy="46037"/>
          </a:xfrm>
          <a:prstGeom prst="rect">
            <a:avLst/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6" name="Google Shape;1464;p20">
            <a:extLst>
              <a:ext uri="{FF2B5EF4-FFF2-40B4-BE49-F238E27FC236}">
                <a16:creationId xmlns:a16="http://schemas.microsoft.com/office/drawing/2014/main" id="{5BFAB3C6-780E-D237-1BBD-8C52986B55AC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5473700" y="1101154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7" name="Google Shape;1465;p20">
            <a:extLst>
              <a:ext uri="{FF2B5EF4-FFF2-40B4-BE49-F238E27FC236}">
                <a16:creationId xmlns:a16="http://schemas.microsoft.com/office/drawing/2014/main" id="{40657430-4929-5E4E-9FCC-41DDC39E9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1315466"/>
            <a:ext cx="1866900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EC3A3B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Architecture technique</a:t>
            </a:r>
            <a:endParaRPr lang="fr-FR" altLang="fr-FR" dirty="0"/>
          </a:p>
        </p:txBody>
      </p:sp>
      <p:sp>
        <p:nvSpPr>
          <p:cNvPr id="13" name="Google Shape;1467;p20">
            <a:extLst>
              <a:ext uri="{FF2B5EF4-FFF2-40B4-BE49-F238E27FC236}">
                <a16:creationId xmlns:a16="http://schemas.microsoft.com/office/drawing/2014/main" id="{C32A3CE9-CB48-4633-DA43-9042DCFCF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1324991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Conception</a:t>
            </a:r>
            <a:endParaRPr lang="fr-FR" alt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A7B18E7-8561-CD19-B089-A65A1E29E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762" y="3649773"/>
            <a:ext cx="1331398" cy="133139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9A02A04-0111-D3FB-5C3D-1551550059D2}"/>
              </a:ext>
            </a:extLst>
          </p:cNvPr>
          <p:cNvSpPr txBox="1"/>
          <p:nvPr/>
        </p:nvSpPr>
        <p:spPr>
          <a:xfrm>
            <a:off x="5764907" y="5005777"/>
            <a:ext cx="2711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SAP Fiori </a:t>
            </a:r>
            <a:r>
              <a:rPr lang="fr-FR" dirty="0" err="1"/>
              <a:t>Launchpad</a:t>
            </a:r>
            <a:endParaRPr lang="fr-FR" dirty="0"/>
          </a:p>
        </p:txBody>
      </p:sp>
      <p:pic>
        <p:nvPicPr>
          <p:cNvPr id="9" name="Picture 2" descr="Images de User Icon – Téléchargement gratuit sur Freepik">
            <a:extLst>
              <a:ext uri="{FF2B5EF4-FFF2-40B4-BE49-F238E27FC236}">
                <a16:creationId xmlns:a16="http://schemas.microsoft.com/office/drawing/2014/main" id="{908D931D-4364-E30A-3F03-46FF303A2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89" y="3672834"/>
            <a:ext cx="1277140" cy="1277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25">
            <a:extLst>
              <a:ext uri="{FF2B5EF4-FFF2-40B4-BE49-F238E27FC236}">
                <a16:creationId xmlns:a16="http://schemas.microsoft.com/office/drawing/2014/main" id="{3A154E82-903A-13AD-CF3C-9615FDECC285}"/>
              </a:ext>
            </a:extLst>
          </p:cNvPr>
          <p:cNvSpPr txBox="1"/>
          <p:nvPr/>
        </p:nvSpPr>
        <p:spPr>
          <a:xfrm>
            <a:off x="698424" y="5014087"/>
            <a:ext cx="126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Utilisateur</a:t>
            </a:r>
          </a:p>
        </p:txBody>
      </p:sp>
      <p:pic>
        <p:nvPicPr>
          <p:cNvPr id="14" name="Picture 2" descr="Navigateur - Icônes référencement et web gratuites">
            <a:extLst>
              <a:ext uri="{FF2B5EF4-FFF2-40B4-BE49-F238E27FC236}">
                <a16:creationId xmlns:a16="http://schemas.microsoft.com/office/drawing/2014/main" id="{2F613888-D644-4004-79AE-CC46204A7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517" y="3900398"/>
            <a:ext cx="1135487" cy="1135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25">
            <a:extLst>
              <a:ext uri="{FF2B5EF4-FFF2-40B4-BE49-F238E27FC236}">
                <a16:creationId xmlns:a16="http://schemas.microsoft.com/office/drawing/2014/main" id="{4F05C159-E78F-30D0-8316-CB6A0D9EC374}"/>
              </a:ext>
            </a:extLst>
          </p:cNvPr>
          <p:cNvSpPr txBox="1"/>
          <p:nvPr/>
        </p:nvSpPr>
        <p:spPr>
          <a:xfrm>
            <a:off x="3248731" y="5014087"/>
            <a:ext cx="1268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Navigateur</a:t>
            </a:r>
          </a:p>
        </p:txBody>
      </p:sp>
      <p:pic>
        <p:nvPicPr>
          <p:cNvPr id="16" name="Graphique 15" descr="Trier avec un remplissage uni">
            <a:extLst>
              <a:ext uri="{FF2B5EF4-FFF2-40B4-BE49-F238E27FC236}">
                <a16:creationId xmlns:a16="http://schemas.microsoft.com/office/drawing/2014/main" id="{DE90F2E1-6F8E-0922-5CEA-1D59558BC6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2133537" y="3952826"/>
            <a:ext cx="914400" cy="914400"/>
          </a:xfrm>
          <a:prstGeom prst="rect">
            <a:avLst/>
          </a:prstGeom>
        </p:spPr>
      </p:pic>
      <p:pic>
        <p:nvPicPr>
          <p:cNvPr id="17" name="Graphique 16" descr="Trier avec un remplissage uni">
            <a:extLst>
              <a:ext uri="{FF2B5EF4-FFF2-40B4-BE49-F238E27FC236}">
                <a16:creationId xmlns:a16="http://schemas.microsoft.com/office/drawing/2014/main" id="{C45025B4-9819-6BF5-944A-3D686B0C13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4822825" y="3952328"/>
            <a:ext cx="914400" cy="914400"/>
          </a:xfrm>
          <a:prstGeom prst="rect">
            <a:avLst/>
          </a:prstGeom>
        </p:spPr>
      </p:pic>
      <p:pic>
        <p:nvPicPr>
          <p:cNvPr id="18" name="Graphique 17" descr="Trier avec un remplissage uni">
            <a:extLst>
              <a:ext uri="{FF2B5EF4-FFF2-40B4-BE49-F238E27FC236}">
                <a16:creationId xmlns:a16="http://schemas.microsoft.com/office/drawing/2014/main" id="{267EFAC9-E2EB-1065-DB3C-9A9A5599DD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747649" y="3945804"/>
            <a:ext cx="914400" cy="914400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3D077F83-45DD-0FEE-50F2-EEA203CD87AB}"/>
              </a:ext>
            </a:extLst>
          </p:cNvPr>
          <p:cNvSpPr txBox="1"/>
          <p:nvPr/>
        </p:nvSpPr>
        <p:spPr>
          <a:xfrm>
            <a:off x="1967042" y="3681517"/>
            <a:ext cx="1135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Accès web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8F717EF-C332-D436-0B33-D03D66C5BB67}"/>
              </a:ext>
            </a:extLst>
          </p:cNvPr>
          <p:cNvSpPr txBox="1"/>
          <p:nvPr/>
        </p:nvSpPr>
        <p:spPr>
          <a:xfrm>
            <a:off x="4877910" y="3698346"/>
            <a:ext cx="1135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HTTPS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68C63F6-E5A1-7C11-91DC-16800913A26C}"/>
              </a:ext>
            </a:extLst>
          </p:cNvPr>
          <p:cNvSpPr txBox="1"/>
          <p:nvPr/>
        </p:nvSpPr>
        <p:spPr>
          <a:xfrm>
            <a:off x="7928062" y="3746509"/>
            <a:ext cx="1135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Requête 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42F49F0B-72CA-5AB4-3C56-1C5D0AD90D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7805" y="3567484"/>
            <a:ext cx="1482139" cy="1482139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2AA72893-18D1-D908-CB39-11E238795ACF}"/>
              </a:ext>
            </a:extLst>
          </p:cNvPr>
          <p:cNvSpPr txBox="1"/>
          <p:nvPr/>
        </p:nvSpPr>
        <p:spPr>
          <a:xfrm>
            <a:off x="9173442" y="5014087"/>
            <a:ext cx="2711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Couche backend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D9DEE4-DEF0-0716-B46B-D2F65C6EAB18}"/>
              </a:ext>
            </a:extLst>
          </p:cNvPr>
          <p:cNvSpPr/>
          <p:nvPr/>
        </p:nvSpPr>
        <p:spPr>
          <a:xfrm>
            <a:off x="451944" y="3528455"/>
            <a:ext cx="4102593" cy="18793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1724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10C79-8AA2-4D85-198C-12242D0F2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569907F6-F997-3D58-C5C1-EE6972739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2ABDD9B1-5CDE-075C-B138-00E9150614A7}"/>
              </a:ext>
            </a:extLst>
          </p:cNvPr>
          <p:cNvGrpSpPr>
            <a:grpSpLocks/>
          </p:cNvGrpSpPr>
          <p:nvPr/>
        </p:nvGrpSpPr>
        <p:grpSpPr bwMode="auto">
          <a:xfrm>
            <a:off x="3189288" y="252413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2259522C-9B6F-20E2-0777-838722553B2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802A2438-0001-C6AA-46EA-F6F3AC4FD7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090D8D6B-2EC0-21B8-B987-5888D08961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7DF2CD90-1552-ABF9-3E03-480E6F7A1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700" y="281386"/>
            <a:ext cx="5545138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Analyse et conception</a:t>
            </a: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D9A91BF5-1FB1-BDE2-B656-F8F66C2FA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CDB3AB37-7C09-EFE4-9145-4B5C41025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7475" y="234950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15671C27-B793-506B-8F48-8C1264743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BEA22776-F696-94C2-4979-9B4158F77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0CF1EA41-BE63-BF13-3097-ACAF4390C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8F218DBD-E4A8-B732-74F8-ADF775B4D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33804" name="Google Shape;1463;p20">
            <a:extLst>
              <a:ext uri="{FF2B5EF4-FFF2-40B4-BE49-F238E27FC236}">
                <a16:creationId xmlns:a16="http://schemas.microsoft.com/office/drawing/2014/main" id="{A2892CF2-917B-86AC-6AB3-B662259BA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303" y="1263078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25B4231C-313A-E81B-DB37-33C4FAEEB05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D159DA43-7456-252E-75E0-42EC222B9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7DA38941-B43A-4DD1-3223-E2248151DEA6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BABB2582-F25C-D90B-7F42-02D46147ED8C}"/>
              </a:ext>
            </a:extLst>
          </p:cNvPr>
          <p:cNvSpPr txBox="1">
            <a:spLocks/>
          </p:cNvSpPr>
          <p:nvPr/>
        </p:nvSpPr>
        <p:spPr bwMode="auto">
          <a:xfrm>
            <a:off x="10233025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17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E1CDAF8C-F921-11DA-57C7-D5E5F3C17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7124341-D11A-7FEB-0AC0-A03451153EB4}"/>
              </a:ext>
            </a:extLst>
          </p:cNvPr>
          <p:cNvSpPr txBox="1"/>
          <p:nvPr/>
        </p:nvSpPr>
        <p:spPr>
          <a:xfrm>
            <a:off x="2546351" y="2313094"/>
            <a:ext cx="8538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>
                <a:solidFill>
                  <a:schemeClr val="tx1"/>
                </a:solidFill>
                <a:cs typeface="Calibri" panose="020F0502020204030204" pitchFamily="34" charset="0"/>
              </a:rPr>
              <a:t>2</a:t>
            </a:r>
            <a:r>
              <a:rPr lang="fr-FR" sz="1600" b="1" u="sng" baseline="30000" dirty="0">
                <a:solidFill>
                  <a:schemeClr val="tx1"/>
                </a:solidFill>
                <a:cs typeface="Calibri" panose="020F0502020204030204" pitchFamily="34" charset="0"/>
              </a:rPr>
              <a:t>éme</a:t>
            </a:r>
            <a:r>
              <a:rPr lang="fr-FR" sz="1600" b="1" u="sng" dirty="0">
                <a:solidFill>
                  <a:schemeClr val="tx1"/>
                </a:solidFill>
                <a:cs typeface="Calibri" panose="020F0502020204030204" pitchFamily="34" charset="0"/>
              </a:rPr>
              <a:t>  approche:</a:t>
            </a:r>
            <a:r>
              <a:rPr lang="fr-FR" sz="1600" b="1" dirty="0">
                <a:solidFill>
                  <a:schemeClr val="tx1"/>
                </a:solidFill>
                <a:cs typeface="Calibri" panose="020F0502020204030204" pitchFamily="34" charset="0"/>
              </a:rPr>
              <a:t> </a:t>
            </a:r>
            <a:r>
              <a:rPr lang="fr-FR" sz="1600" dirty="0">
                <a:solidFill>
                  <a:schemeClr val="tx1"/>
                </a:solidFill>
              </a:rPr>
              <a:t>Développement de l’application « </a:t>
            </a:r>
            <a:r>
              <a:rPr lang="fr-FR" sz="1600" dirty="0" err="1">
                <a:solidFill>
                  <a:schemeClr val="tx1"/>
                </a:solidFill>
              </a:rPr>
              <a:t>Upload</a:t>
            </a:r>
            <a:r>
              <a:rPr lang="fr-FR" sz="1600" dirty="0">
                <a:solidFill>
                  <a:schemeClr val="tx1"/>
                </a:solidFill>
              </a:rPr>
              <a:t> Reverse Document »</a:t>
            </a:r>
            <a:endParaRPr lang="fr-FR" sz="1600" b="1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883D3DF-A4A5-3739-2D04-1EE85CCAB0DB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0D2DFF-D5C8-37A1-D64C-52D83C31282A}"/>
              </a:ext>
            </a:extLst>
          </p:cNvPr>
          <p:cNvSpPr/>
          <p:nvPr/>
        </p:nvSpPr>
        <p:spPr>
          <a:xfrm>
            <a:off x="9331840" y="3429000"/>
            <a:ext cx="543998" cy="18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Google Shape;1461;p20">
            <a:extLst>
              <a:ext uri="{FF2B5EF4-FFF2-40B4-BE49-F238E27FC236}">
                <a16:creationId xmlns:a16="http://schemas.microsoft.com/office/drawing/2014/main" id="{BA159F83-738D-666D-C8C8-BDC1D53CF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1263079"/>
            <a:ext cx="1866900" cy="46037"/>
          </a:xfrm>
          <a:prstGeom prst="rect">
            <a:avLst/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6" name="Google Shape;1464;p20">
            <a:extLst>
              <a:ext uri="{FF2B5EF4-FFF2-40B4-BE49-F238E27FC236}">
                <a16:creationId xmlns:a16="http://schemas.microsoft.com/office/drawing/2014/main" id="{50B7CEB4-4CED-712B-C345-BFDFF374AE8B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5473700" y="1101154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7" name="Google Shape;1465;p20">
            <a:extLst>
              <a:ext uri="{FF2B5EF4-FFF2-40B4-BE49-F238E27FC236}">
                <a16:creationId xmlns:a16="http://schemas.microsoft.com/office/drawing/2014/main" id="{36815655-D84A-169C-4CFB-2FC420E01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1315466"/>
            <a:ext cx="1866900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EC3A3B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Architecture technique</a:t>
            </a:r>
            <a:endParaRPr lang="fr-FR" altLang="fr-FR" dirty="0"/>
          </a:p>
        </p:txBody>
      </p:sp>
      <p:sp>
        <p:nvSpPr>
          <p:cNvPr id="13" name="Google Shape;1467;p20">
            <a:extLst>
              <a:ext uri="{FF2B5EF4-FFF2-40B4-BE49-F238E27FC236}">
                <a16:creationId xmlns:a16="http://schemas.microsoft.com/office/drawing/2014/main" id="{75F00FC1-3D91-3CAD-C995-220BD2D65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1324991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Conception</a:t>
            </a:r>
            <a:endParaRPr lang="fr-FR" alt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D6BF1AF-24E3-1D72-647A-E7CE9943B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785" y="3631273"/>
            <a:ext cx="1331398" cy="133139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E661DBC-1CF8-71BC-8D61-5738E996BA76}"/>
              </a:ext>
            </a:extLst>
          </p:cNvPr>
          <p:cNvSpPr txBox="1"/>
          <p:nvPr/>
        </p:nvSpPr>
        <p:spPr>
          <a:xfrm>
            <a:off x="5746897" y="4987505"/>
            <a:ext cx="2711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SAP Fiori </a:t>
            </a:r>
            <a:r>
              <a:rPr lang="fr-FR" dirty="0" err="1"/>
              <a:t>Launchpad</a:t>
            </a:r>
            <a:endParaRPr lang="fr-FR" dirty="0"/>
          </a:p>
        </p:txBody>
      </p:sp>
      <p:pic>
        <p:nvPicPr>
          <p:cNvPr id="9" name="Picture 2" descr="Images de User Icon – Téléchargement gratuit sur Freepik">
            <a:extLst>
              <a:ext uri="{FF2B5EF4-FFF2-40B4-BE49-F238E27FC236}">
                <a16:creationId xmlns:a16="http://schemas.microsoft.com/office/drawing/2014/main" id="{B86963B5-C3C3-62D9-6929-D5C470EE5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89" y="3672834"/>
            <a:ext cx="1277140" cy="1277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25">
            <a:extLst>
              <a:ext uri="{FF2B5EF4-FFF2-40B4-BE49-F238E27FC236}">
                <a16:creationId xmlns:a16="http://schemas.microsoft.com/office/drawing/2014/main" id="{B174E96F-066A-7EC6-EA37-F00A3492413A}"/>
              </a:ext>
            </a:extLst>
          </p:cNvPr>
          <p:cNvSpPr txBox="1"/>
          <p:nvPr/>
        </p:nvSpPr>
        <p:spPr>
          <a:xfrm>
            <a:off x="698424" y="5014087"/>
            <a:ext cx="126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Utilisateur</a:t>
            </a:r>
          </a:p>
        </p:txBody>
      </p:sp>
      <p:pic>
        <p:nvPicPr>
          <p:cNvPr id="14" name="Picture 2" descr="Navigateur - Icônes référencement et web gratuites">
            <a:extLst>
              <a:ext uri="{FF2B5EF4-FFF2-40B4-BE49-F238E27FC236}">
                <a16:creationId xmlns:a16="http://schemas.microsoft.com/office/drawing/2014/main" id="{45032596-560A-16DF-9C34-16A1E2B71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517" y="3900398"/>
            <a:ext cx="1135487" cy="1135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25">
            <a:extLst>
              <a:ext uri="{FF2B5EF4-FFF2-40B4-BE49-F238E27FC236}">
                <a16:creationId xmlns:a16="http://schemas.microsoft.com/office/drawing/2014/main" id="{C9321220-C058-0CC9-0A3B-271A0FE16064}"/>
              </a:ext>
            </a:extLst>
          </p:cNvPr>
          <p:cNvSpPr txBox="1"/>
          <p:nvPr/>
        </p:nvSpPr>
        <p:spPr>
          <a:xfrm>
            <a:off x="3248731" y="5014087"/>
            <a:ext cx="1268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Navigateur</a:t>
            </a:r>
          </a:p>
        </p:txBody>
      </p:sp>
      <p:pic>
        <p:nvPicPr>
          <p:cNvPr id="16" name="Graphique 15" descr="Trier avec un remplissage uni">
            <a:extLst>
              <a:ext uri="{FF2B5EF4-FFF2-40B4-BE49-F238E27FC236}">
                <a16:creationId xmlns:a16="http://schemas.microsoft.com/office/drawing/2014/main" id="{7FB545BD-E1FA-D72B-B5AB-3E51A33C2D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2133537" y="3952826"/>
            <a:ext cx="914400" cy="914400"/>
          </a:xfrm>
          <a:prstGeom prst="rect">
            <a:avLst/>
          </a:prstGeom>
        </p:spPr>
      </p:pic>
      <p:pic>
        <p:nvPicPr>
          <p:cNvPr id="17" name="Graphique 16" descr="Trier avec un remplissage uni">
            <a:extLst>
              <a:ext uri="{FF2B5EF4-FFF2-40B4-BE49-F238E27FC236}">
                <a16:creationId xmlns:a16="http://schemas.microsoft.com/office/drawing/2014/main" id="{6FED176F-C6C6-37D0-7406-D317EBBA24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4822825" y="3952328"/>
            <a:ext cx="914400" cy="914400"/>
          </a:xfrm>
          <a:prstGeom prst="rect">
            <a:avLst/>
          </a:prstGeom>
        </p:spPr>
      </p:pic>
      <p:pic>
        <p:nvPicPr>
          <p:cNvPr id="18" name="Graphique 17" descr="Trier avec un remplissage uni">
            <a:extLst>
              <a:ext uri="{FF2B5EF4-FFF2-40B4-BE49-F238E27FC236}">
                <a16:creationId xmlns:a16="http://schemas.microsoft.com/office/drawing/2014/main" id="{D20B90BE-2CE2-8C51-227D-D94B4D3CD1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747649" y="3945804"/>
            <a:ext cx="914400" cy="914400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53E2F6E6-B185-2EEB-17C5-8326BFB37B37}"/>
              </a:ext>
            </a:extLst>
          </p:cNvPr>
          <p:cNvSpPr txBox="1"/>
          <p:nvPr/>
        </p:nvSpPr>
        <p:spPr>
          <a:xfrm>
            <a:off x="1967042" y="3681517"/>
            <a:ext cx="1135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Accès web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ED78B39-7BDB-AFA1-B08E-675478816E75}"/>
              </a:ext>
            </a:extLst>
          </p:cNvPr>
          <p:cNvSpPr txBox="1"/>
          <p:nvPr/>
        </p:nvSpPr>
        <p:spPr>
          <a:xfrm>
            <a:off x="4877910" y="3698346"/>
            <a:ext cx="1135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HTTPS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792685A-844C-7C67-596C-61D3661C1085}"/>
              </a:ext>
            </a:extLst>
          </p:cNvPr>
          <p:cNvSpPr txBox="1"/>
          <p:nvPr/>
        </p:nvSpPr>
        <p:spPr>
          <a:xfrm>
            <a:off x="7928062" y="3746509"/>
            <a:ext cx="1135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Requête 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9F4BDACA-BFE3-5385-2EF8-8AF8718F37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7805" y="3567484"/>
            <a:ext cx="1482139" cy="1482139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14C4224F-4100-4460-7988-4EC76230FF47}"/>
              </a:ext>
            </a:extLst>
          </p:cNvPr>
          <p:cNvSpPr txBox="1"/>
          <p:nvPr/>
        </p:nvSpPr>
        <p:spPr>
          <a:xfrm>
            <a:off x="9173442" y="5014087"/>
            <a:ext cx="2711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Couche backend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603DB8-E4C0-B394-1FF7-2B9441A85834}"/>
              </a:ext>
            </a:extLst>
          </p:cNvPr>
          <p:cNvSpPr/>
          <p:nvPr/>
        </p:nvSpPr>
        <p:spPr>
          <a:xfrm>
            <a:off x="8920716" y="3429000"/>
            <a:ext cx="2141748" cy="21743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1143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E5BED-9351-FF6C-F040-EAE6EF4CC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A686C86-D866-8CAE-2366-4A89AEAC4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996" y="3395914"/>
            <a:ext cx="1331398" cy="1331398"/>
          </a:xfrm>
          <a:prstGeom prst="rect">
            <a:avLst/>
          </a:prstGeom>
        </p:spPr>
      </p:pic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3603398A-4659-FFD3-E1A7-47D29BA31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F51F3500-B9F1-8FB5-1A77-D0790FAD81A6}"/>
              </a:ext>
            </a:extLst>
          </p:cNvPr>
          <p:cNvGrpSpPr>
            <a:grpSpLocks/>
          </p:cNvGrpSpPr>
          <p:nvPr/>
        </p:nvGrpSpPr>
        <p:grpSpPr bwMode="auto">
          <a:xfrm>
            <a:off x="3189288" y="252413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A3CABC32-FE48-93DE-6A33-4D407193E09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D8FFAE4D-F5BC-65F1-70C7-896FD00C81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03043AD6-2C98-0A7A-BCA5-2AD351E85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0F13293A-B29E-F644-8CC5-563694F5B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700" y="281386"/>
            <a:ext cx="5545138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Analyse et conception</a:t>
            </a: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9F905430-729C-D28F-D5ED-A81128AB5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6F4CCADD-55D2-1663-590F-70B2E8546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7475" y="234950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79D2020F-7FF2-365A-0FE1-08F9A340E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C31A8590-BBDF-40CD-51C1-D8EEBC19C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106CB3B0-705A-8B62-04E3-9F12D429B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92C285CD-1E32-D77F-9179-02A6441C6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13B041E5-A580-BB53-1AE5-00E4BC028D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EB609A77-B1E7-4220-2157-E7A3D50E3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6F608D01-3AA9-F0DF-B98B-834032F56245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95A38CCA-4487-3C6E-5B97-1C791E6CF111}"/>
              </a:ext>
            </a:extLst>
          </p:cNvPr>
          <p:cNvSpPr txBox="1">
            <a:spLocks/>
          </p:cNvSpPr>
          <p:nvPr/>
        </p:nvSpPr>
        <p:spPr bwMode="auto">
          <a:xfrm>
            <a:off x="10233025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18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65990803-DC14-7ABB-1D4E-DA9E4A306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5B48AA5-0D54-CFD8-4584-8593F3312392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2B831EF-DFD0-3E83-1587-85DBF9AEF477}"/>
              </a:ext>
            </a:extLst>
          </p:cNvPr>
          <p:cNvSpPr txBox="1"/>
          <p:nvPr/>
        </p:nvSpPr>
        <p:spPr>
          <a:xfrm>
            <a:off x="827235" y="4860198"/>
            <a:ext cx="2711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SAP Fiori </a:t>
            </a:r>
            <a:r>
              <a:rPr lang="fr-FR" dirty="0" err="1"/>
              <a:t>Launchpad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3EABB23-FF79-8599-F06E-77EFAB4DB191}"/>
              </a:ext>
            </a:extLst>
          </p:cNvPr>
          <p:cNvSpPr txBox="1"/>
          <p:nvPr/>
        </p:nvSpPr>
        <p:spPr>
          <a:xfrm>
            <a:off x="6740822" y="5758071"/>
            <a:ext cx="2711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Processus backend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9F68FA1-83A6-DB17-6FF4-ADA1FCD0A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969" y="2541540"/>
            <a:ext cx="1188638" cy="65912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A026835-84D7-55B3-C052-ECE4F3CD31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966" y="2549171"/>
            <a:ext cx="685603" cy="685603"/>
          </a:xfrm>
          <a:prstGeom prst="rect">
            <a:avLst/>
          </a:prstGeom>
        </p:spPr>
      </p:pic>
      <p:pic>
        <p:nvPicPr>
          <p:cNvPr id="4098" name="Picture 2" descr="Result validation icon monochrome simple business – Royalty-Free Vector |  VectorStock">
            <a:extLst>
              <a:ext uri="{FF2B5EF4-FFF2-40B4-BE49-F238E27FC236}">
                <a16:creationId xmlns:a16="http://schemas.microsoft.com/office/drawing/2014/main" id="{DE21D8DB-E76F-6098-E5C0-10586408C6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9" t="14012" r="23109" b="33505"/>
          <a:stretch>
            <a:fillRect/>
          </a:stretch>
        </p:blipFill>
        <p:spPr bwMode="auto">
          <a:xfrm>
            <a:off x="8105513" y="2467692"/>
            <a:ext cx="875563" cy="87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Backend Icon Design 20121474 Vector Art at Vecteezy">
            <a:extLst>
              <a:ext uri="{FF2B5EF4-FFF2-40B4-BE49-F238E27FC236}">
                <a16:creationId xmlns:a16="http://schemas.microsoft.com/office/drawing/2014/main" id="{DDD0BD6C-B97C-39FA-5898-4819EF989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660289" y="2398140"/>
            <a:ext cx="985235" cy="985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7B766654-874D-6CA7-7429-A93E5D492B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3269" y="4179883"/>
            <a:ext cx="960325" cy="960325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7964DA1E-0E58-224D-AFFB-C25EA7F9AC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2717" y="4204869"/>
            <a:ext cx="991745" cy="991745"/>
          </a:xfrm>
          <a:prstGeom prst="rect">
            <a:avLst/>
          </a:prstGeom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FBAADA45-CDF6-1C22-45B6-00F8CB0A0285}"/>
              </a:ext>
            </a:extLst>
          </p:cNvPr>
          <p:cNvSpPr txBox="1"/>
          <p:nvPr/>
        </p:nvSpPr>
        <p:spPr>
          <a:xfrm>
            <a:off x="5412142" y="2679129"/>
            <a:ext cx="10403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Lecture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4DF31CC1-6809-224D-0D8D-2BD1025DB76C}"/>
              </a:ext>
            </a:extLst>
          </p:cNvPr>
          <p:cNvSpPr txBox="1"/>
          <p:nvPr/>
        </p:nvSpPr>
        <p:spPr>
          <a:xfrm>
            <a:off x="7208923" y="2692972"/>
            <a:ext cx="10403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Validation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D71BD06F-CBE3-6DD0-4A64-73408F363DE2}"/>
              </a:ext>
            </a:extLst>
          </p:cNvPr>
          <p:cNvSpPr txBox="1"/>
          <p:nvPr/>
        </p:nvSpPr>
        <p:spPr>
          <a:xfrm>
            <a:off x="8818122" y="2676249"/>
            <a:ext cx="10403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Appel BAPI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1D91C3DB-95BC-CA64-BB4D-529D2C066950}"/>
              </a:ext>
            </a:extLst>
          </p:cNvPr>
          <p:cNvSpPr txBox="1"/>
          <p:nvPr/>
        </p:nvSpPr>
        <p:spPr>
          <a:xfrm>
            <a:off x="9593975" y="3577687"/>
            <a:ext cx="10403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création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3A44ACCB-4B2B-BF7D-CE83-8ACF498F6A43}"/>
              </a:ext>
            </a:extLst>
          </p:cNvPr>
          <p:cNvSpPr txBox="1"/>
          <p:nvPr/>
        </p:nvSpPr>
        <p:spPr>
          <a:xfrm>
            <a:off x="5800168" y="4393222"/>
            <a:ext cx="10403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résultat</a:t>
            </a:r>
          </a:p>
        </p:txBody>
      </p: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BDA573A7-90A7-7DDE-94A3-1F53A7D58610}"/>
              </a:ext>
            </a:extLst>
          </p:cNvPr>
          <p:cNvCxnSpPr>
            <a:cxnSpLocks/>
          </p:cNvCxnSpPr>
          <p:nvPr/>
        </p:nvCxnSpPr>
        <p:spPr>
          <a:xfrm flipV="1">
            <a:off x="5367117" y="2955465"/>
            <a:ext cx="875567" cy="9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D78417ED-C1D4-EA32-B9CD-E03A4660BC66}"/>
              </a:ext>
            </a:extLst>
          </p:cNvPr>
          <p:cNvCxnSpPr>
            <a:cxnSpLocks/>
          </p:cNvCxnSpPr>
          <p:nvPr/>
        </p:nvCxnSpPr>
        <p:spPr>
          <a:xfrm>
            <a:off x="10233025" y="3499411"/>
            <a:ext cx="0" cy="545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D4F3FBD7-9716-E2D4-8EA5-A06192029C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7465" y="4207719"/>
            <a:ext cx="960325" cy="1039581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A78EF6A7-EDAE-D5A3-CCB0-AA190F48FC6E}"/>
              </a:ext>
            </a:extLst>
          </p:cNvPr>
          <p:cNvSpPr txBox="1"/>
          <p:nvPr/>
        </p:nvSpPr>
        <p:spPr>
          <a:xfrm>
            <a:off x="8455382" y="4379897"/>
            <a:ext cx="10513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enregistrement </a:t>
            </a:r>
          </a:p>
        </p:txBody>
      </p:sp>
      <p:grpSp>
        <p:nvGrpSpPr>
          <p:cNvPr id="18" name="Group 26">
            <a:extLst>
              <a:ext uri="{FF2B5EF4-FFF2-40B4-BE49-F238E27FC236}">
                <a16:creationId xmlns:a16="http://schemas.microsoft.com/office/drawing/2014/main" id="{70F40AC2-7B82-0128-6805-A606D00147F4}"/>
              </a:ext>
            </a:extLst>
          </p:cNvPr>
          <p:cNvGrpSpPr/>
          <p:nvPr/>
        </p:nvGrpSpPr>
        <p:grpSpPr>
          <a:xfrm>
            <a:off x="2408879" y="2819068"/>
            <a:ext cx="1381668" cy="523292"/>
            <a:chOff x="2728794" y="2877511"/>
            <a:chExt cx="1381668" cy="523292"/>
          </a:xfrm>
        </p:grpSpPr>
        <p:cxnSp>
          <p:nvCxnSpPr>
            <p:cNvPr id="19" name="Straight Arrow Connector 40">
              <a:extLst>
                <a:ext uri="{FF2B5EF4-FFF2-40B4-BE49-F238E27FC236}">
                  <a16:creationId xmlns:a16="http://schemas.microsoft.com/office/drawing/2014/main" id="{93885D04-8B36-C347-BDD2-D9C208335498}"/>
                </a:ext>
              </a:extLst>
            </p:cNvPr>
            <p:cNvCxnSpPr/>
            <p:nvPr/>
          </p:nvCxnSpPr>
          <p:spPr>
            <a:xfrm flipV="1">
              <a:off x="2823034" y="3130040"/>
              <a:ext cx="1287428" cy="2707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4096">
              <a:extLst>
                <a:ext uri="{FF2B5EF4-FFF2-40B4-BE49-F238E27FC236}">
                  <a16:creationId xmlns:a16="http://schemas.microsoft.com/office/drawing/2014/main" id="{C3D03242-1ED2-A310-2A89-F6E6D7D1C71D}"/>
                </a:ext>
              </a:extLst>
            </p:cNvPr>
            <p:cNvSpPr txBox="1"/>
            <p:nvPr/>
          </p:nvSpPr>
          <p:spPr>
            <a:xfrm rot="20875895">
              <a:off x="2728794" y="2877511"/>
              <a:ext cx="12686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/>
                <a:t>Requête</a:t>
              </a:r>
              <a:r>
                <a:rPr lang="fr-FR" dirty="0"/>
                <a:t> </a:t>
              </a:r>
            </a:p>
          </p:txBody>
        </p:sp>
      </p:grpSp>
      <p:grpSp>
        <p:nvGrpSpPr>
          <p:cNvPr id="42" name="Group 25">
            <a:extLst>
              <a:ext uri="{FF2B5EF4-FFF2-40B4-BE49-F238E27FC236}">
                <a16:creationId xmlns:a16="http://schemas.microsoft.com/office/drawing/2014/main" id="{B71C9BC2-8E99-4F46-7FFC-913EC1953393}"/>
              </a:ext>
            </a:extLst>
          </p:cNvPr>
          <p:cNvGrpSpPr/>
          <p:nvPr/>
        </p:nvGrpSpPr>
        <p:grpSpPr>
          <a:xfrm rot="2723314">
            <a:off x="2398863" y="4384672"/>
            <a:ext cx="1323942" cy="513076"/>
            <a:chOff x="2849092" y="3308369"/>
            <a:chExt cx="1323942" cy="513076"/>
          </a:xfrm>
        </p:grpSpPr>
        <p:cxnSp>
          <p:nvCxnSpPr>
            <p:cNvPr id="48" name="Straight Arrow Connector 45">
              <a:extLst>
                <a:ext uri="{FF2B5EF4-FFF2-40B4-BE49-F238E27FC236}">
                  <a16:creationId xmlns:a16="http://schemas.microsoft.com/office/drawing/2014/main" id="{F37DA417-F1D3-A5B3-4AE0-DA7AE6B47D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49092" y="3308369"/>
              <a:ext cx="1261370" cy="2738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TextBox 4104">
              <a:extLst>
                <a:ext uri="{FF2B5EF4-FFF2-40B4-BE49-F238E27FC236}">
                  <a16:creationId xmlns:a16="http://schemas.microsoft.com/office/drawing/2014/main" id="{126F57B8-BBF5-F056-EAA6-540B037C1DAB}"/>
                </a:ext>
              </a:extLst>
            </p:cNvPr>
            <p:cNvSpPr txBox="1"/>
            <p:nvPr/>
          </p:nvSpPr>
          <p:spPr>
            <a:xfrm rot="20869876">
              <a:off x="2897251" y="3452113"/>
              <a:ext cx="12757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/>
                <a:t>Réponse</a:t>
              </a:r>
              <a:r>
                <a:rPr lang="fr-FR" dirty="0"/>
                <a:t> </a:t>
              </a:r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43061B60-968B-D4B8-E126-FE56605B044E}"/>
              </a:ext>
            </a:extLst>
          </p:cNvPr>
          <p:cNvSpPr/>
          <p:nvPr/>
        </p:nvSpPr>
        <p:spPr>
          <a:xfrm>
            <a:off x="4006291" y="2260900"/>
            <a:ext cx="7056173" cy="33424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Google Shape;1461;p20">
            <a:extLst>
              <a:ext uri="{FF2B5EF4-FFF2-40B4-BE49-F238E27FC236}">
                <a16:creationId xmlns:a16="http://schemas.microsoft.com/office/drawing/2014/main" id="{AB02846D-0D7F-C4BF-9770-C367957D1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620" y="1254642"/>
            <a:ext cx="1866900" cy="46037"/>
          </a:xfrm>
          <a:prstGeom prst="rect">
            <a:avLst/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57" name="Google Shape;1463;p20">
            <a:extLst>
              <a:ext uri="{FF2B5EF4-FFF2-40B4-BE49-F238E27FC236}">
                <a16:creationId xmlns:a16="http://schemas.microsoft.com/office/drawing/2014/main" id="{D5844520-3F48-281D-CBD7-0A7CA2AC5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6647" y="1243031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58" name="Google Shape;1464;p20">
            <a:extLst>
              <a:ext uri="{FF2B5EF4-FFF2-40B4-BE49-F238E27FC236}">
                <a16:creationId xmlns:a16="http://schemas.microsoft.com/office/drawing/2014/main" id="{A23536E8-2284-063F-EB67-C3D817AB3024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5470882" y="1074014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59" name="Google Shape;1465;p20">
            <a:extLst>
              <a:ext uri="{FF2B5EF4-FFF2-40B4-BE49-F238E27FC236}">
                <a16:creationId xmlns:a16="http://schemas.microsoft.com/office/drawing/2014/main" id="{D8B22C79-BF81-17A0-3190-4A97B1024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620" y="1307029"/>
            <a:ext cx="1866900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EC3A3B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Architecture technique</a:t>
            </a:r>
            <a:endParaRPr lang="fr-FR" altLang="fr-FR" dirty="0"/>
          </a:p>
        </p:txBody>
      </p:sp>
      <p:sp>
        <p:nvSpPr>
          <p:cNvPr id="60" name="Google Shape;1467;p20">
            <a:extLst>
              <a:ext uri="{FF2B5EF4-FFF2-40B4-BE49-F238E27FC236}">
                <a16:creationId xmlns:a16="http://schemas.microsoft.com/office/drawing/2014/main" id="{CE79F6C5-B48B-68F2-79FA-76306AC1D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7520" y="131655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Conception</a:t>
            </a:r>
            <a:endParaRPr lang="fr-FR" altLang="fr-FR" dirty="0"/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5EDB9713-247D-C717-59EF-DD4360580DD2}"/>
              </a:ext>
            </a:extLst>
          </p:cNvPr>
          <p:cNvCxnSpPr>
            <a:cxnSpLocks/>
          </p:cNvCxnSpPr>
          <p:nvPr/>
        </p:nvCxnSpPr>
        <p:spPr>
          <a:xfrm flipV="1">
            <a:off x="7162795" y="2939987"/>
            <a:ext cx="875567" cy="9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2CAAE7E3-31BB-7C95-DCBC-5D9E32547688}"/>
              </a:ext>
            </a:extLst>
          </p:cNvPr>
          <p:cNvCxnSpPr>
            <a:cxnSpLocks/>
          </p:cNvCxnSpPr>
          <p:nvPr/>
        </p:nvCxnSpPr>
        <p:spPr>
          <a:xfrm>
            <a:off x="8885168" y="2964298"/>
            <a:ext cx="719091" cy="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3E5BA0C3-EEFF-5047-F5EB-F7930D21ABAE}"/>
              </a:ext>
            </a:extLst>
          </p:cNvPr>
          <p:cNvCxnSpPr>
            <a:cxnSpLocks/>
          </p:cNvCxnSpPr>
          <p:nvPr/>
        </p:nvCxnSpPr>
        <p:spPr>
          <a:xfrm flipH="1">
            <a:off x="8293835" y="4678376"/>
            <a:ext cx="1310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3BEE73C2-6635-6FB3-6B6F-6FCF4E64972C}"/>
              </a:ext>
            </a:extLst>
          </p:cNvPr>
          <p:cNvCxnSpPr>
            <a:cxnSpLocks/>
          </p:cNvCxnSpPr>
          <p:nvPr/>
        </p:nvCxnSpPr>
        <p:spPr>
          <a:xfrm flipH="1">
            <a:off x="5440788" y="4678376"/>
            <a:ext cx="1310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3127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77544-BF13-5F37-59B8-03034DD9C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C34621C1-EB7F-C8CF-AF29-98F54FB31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ADC44B8A-3B2E-BDFA-C692-9302A1228BC8}"/>
              </a:ext>
            </a:extLst>
          </p:cNvPr>
          <p:cNvGrpSpPr>
            <a:grpSpLocks/>
          </p:cNvGrpSpPr>
          <p:nvPr/>
        </p:nvGrpSpPr>
        <p:grpSpPr bwMode="auto">
          <a:xfrm>
            <a:off x="3189288" y="252413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9DFC2238-5C75-A57F-435D-F331FCFC39E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5DA1F545-3956-BB6A-F003-B3125C86F4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CAD03848-7B0A-63F1-335E-66375981D2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757399CE-78D8-A88F-23A7-838EF5605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700" y="281386"/>
            <a:ext cx="5545138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Analyse et conception</a:t>
            </a: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97E5CD56-FBA6-F48E-AEDE-B09BA83EC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9EDAD738-E536-22E7-4F21-0A558D967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7475" y="234950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D441AC8D-07F3-2065-7548-0B01DCA48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90B218E3-7E2E-B0FA-3A1D-5971F12ED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1D27AD3D-AF53-621C-F422-E38FEFF1C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C7613B7A-BE12-0D18-8EE8-006D4B5E2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33804" name="Google Shape;1463;p20">
            <a:extLst>
              <a:ext uri="{FF2B5EF4-FFF2-40B4-BE49-F238E27FC236}">
                <a16:creationId xmlns:a16="http://schemas.microsoft.com/office/drawing/2014/main" id="{42D31E53-7EAA-22CC-3D11-EE7C7F28E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303" y="1263078"/>
            <a:ext cx="1947862" cy="46037"/>
          </a:xfrm>
          <a:prstGeom prst="rect">
            <a:avLst/>
          </a:prstGeom>
          <a:solidFill>
            <a:srgbClr val="E93C3D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FD1743CB-9E23-0D72-0EB1-784D476A8A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A082C977-6DBC-2C6A-56ED-EE710078C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DC363D5B-F134-8E71-3EA5-77DD8D91AFE2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3935D731-8B79-6D97-0D09-BA1920BC8183}"/>
              </a:ext>
            </a:extLst>
          </p:cNvPr>
          <p:cNvSpPr txBox="1">
            <a:spLocks/>
          </p:cNvSpPr>
          <p:nvPr/>
        </p:nvSpPr>
        <p:spPr bwMode="auto">
          <a:xfrm>
            <a:off x="10233025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19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1885178A-1C61-30B7-BBC5-1B6A098F9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EC009C8-FF0F-0426-78FE-A9EAA31BB852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B85FEB-4DE4-FBE6-7087-B777D5F27CD5}"/>
              </a:ext>
            </a:extLst>
          </p:cNvPr>
          <p:cNvSpPr/>
          <p:nvPr/>
        </p:nvSpPr>
        <p:spPr>
          <a:xfrm>
            <a:off x="9331840" y="3429000"/>
            <a:ext cx="543998" cy="18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Google Shape;1461;p20">
            <a:extLst>
              <a:ext uri="{FF2B5EF4-FFF2-40B4-BE49-F238E27FC236}">
                <a16:creationId xmlns:a16="http://schemas.microsoft.com/office/drawing/2014/main" id="{35ED690E-FA72-60E0-6EF9-2E34FF7E7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1263079"/>
            <a:ext cx="1866900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6" name="Google Shape;1464;p20">
            <a:extLst>
              <a:ext uri="{FF2B5EF4-FFF2-40B4-BE49-F238E27FC236}">
                <a16:creationId xmlns:a16="http://schemas.microsoft.com/office/drawing/2014/main" id="{1B6F8E3C-B519-8EDA-0CAF-99D90F5CCC3F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7437438" y="1078928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7" name="Google Shape;1465;p20">
            <a:extLst>
              <a:ext uri="{FF2B5EF4-FFF2-40B4-BE49-F238E27FC236}">
                <a16:creationId xmlns:a16="http://schemas.microsoft.com/office/drawing/2014/main" id="{639496AA-9A4C-3826-7E7F-AD63A3400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1315466"/>
            <a:ext cx="1866900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Architecture technique</a:t>
            </a:r>
            <a:endParaRPr lang="fr-FR" altLang="fr-FR" dirty="0">
              <a:solidFill>
                <a:srgbClr val="BFBFBF"/>
              </a:solidFill>
            </a:endParaRPr>
          </a:p>
        </p:txBody>
      </p:sp>
      <p:sp>
        <p:nvSpPr>
          <p:cNvPr id="13" name="Google Shape;1467;p20">
            <a:extLst>
              <a:ext uri="{FF2B5EF4-FFF2-40B4-BE49-F238E27FC236}">
                <a16:creationId xmlns:a16="http://schemas.microsoft.com/office/drawing/2014/main" id="{B13E0F6D-6D85-E7E7-E60D-34DDEDD8E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1324991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EC3A3B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Conception</a:t>
            </a:r>
            <a:endParaRPr lang="fr-FR" altLang="fr-FR" dirty="0">
              <a:solidFill>
                <a:srgbClr val="EC3A3B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8BE30DD-C5F4-016C-726C-853CD174C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109" y="1744813"/>
            <a:ext cx="9200191" cy="4858986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6174C03A-8C36-190F-79BD-678B0107D74B}"/>
              </a:ext>
            </a:extLst>
          </p:cNvPr>
          <p:cNvSpPr txBox="1"/>
          <p:nvPr/>
        </p:nvSpPr>
        <p:spPr>
          <a:xfrm>
            <a:off x="468737" y="3368387"/>
            <a:ext cx="2390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1- Diagramme de cas d'utilisation générale</a:t>
            </a:r>
          </a:p>
        </p:txBody>
      </p:sp>
    </p:spTree>
    <p:extLst>
      <p:ext uri="{BB962C8B-B14F-4D97-AF65-F5344CB8AC3E}">
        <p14:creationId xmlns:p14="http://schemas.microsoft.com/office/powerpoint/2010/main" val="7981651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FC4E8-0B93-7133-34DA-49795444F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39C9D19C-B6FA-D656-6B64-9CF2BABED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E917CD0E-67D4-0C06-42CD-38771F528F33}"/>
              </a:ext>
            </a:extLst>
          </p:cNvPr>
          <p:cNvGrpSpPr>
            <a:grpSpLocks/>
          </p:cNvGrpSpPr>
          <p:nvPr/>
        </p:nvGrpSpPr>
        <p:grpSpPr bwMode="auto">
          <a:xfrm>
            <a:off x="3189288" y="252413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B2AB470D-1D23-ACD5-1A3F-AAB1F5F5F4F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A82E7A7C-8C4A-DB2A-F6FF-66C6C5D75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8490CDBF-5FB6-D28D-DE68-A3E6F83C53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2E60AD58-5B09-3FD5-7A65-0BD03A327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700" y="281386"/>
            <a:ext cx="5545138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Analyse et conception</a:t>
            </a: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0C77338B-D16B-16AD-6F63-CAD988CB0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D9E1F966-C728-7317-1C78-BBFF7A11B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7475" y="234950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A0DD43A3-844A-F7BC-318E-091B2FC51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9ECAF63B-A211-A070-CB84-45B8843D5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FC4C1C77-99C5-315E-78A4-CF1478E6B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BC32CB15-400A-8857-7CAF-4D0469BAD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33804" name="Google Shape;1463;p20">
            <a:extLst>
              <a:ext uri="{FF2B5EF4-FFF2-40B4-BE49-F238E27FC236}">
                <a16:creationId xmlns:a16="http://schemas.microsoft.com/office/drawing/2014/main" id="{2215DB1F-73AE-DCFE-60F3-43B43465D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303" y="1263078"/>
            <a:ext cx="1947862" cy="46037"/>
          </a:xfrm>
          <a:prstGeom prst="rect">
            <a:avLst/>
          </a:prstGeom>
          <a:solidFill>
            <a:srgbClr val="E93C3D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B0FC89AD-7FC4-A571-5F09-A58A78BACD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03E50BB2-B305-88A6-0BF0-CB79617F1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8190FA6B-5CFA-CE29-C3D3-D6A8D7486A23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11409440-4709-33B4-8BEC-05B57B8DE89A}"/>
              </a:ext>
            </a:extLst>
          </p:cNvPr>
          <p:cNvSpPr txBox="1">
            <a:spLocks/>
          </p:cNvSpPr>
          <p:nvPr/>
        </p:nvSpPr>
        <p:spPr bwMode="auto">
          <a:xfrm>
            <a:off x="10233025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20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ED561F67-58E9-EF4C-155F-B6BF6CAAC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7B9619F-AF79-B52C-CEBB-5540A5CDB78F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84C5F7-B6E5-4E93-27F0-E288F5C79211}"/>
              </a:ext>
            </a:extLst>
          </p:cNvPr>
          <p:cNvSpPr/>
          <p:nvPr/>
        </p:nvSpPr>
        <p:spPr>
          <a:xfrm>
            <a:off x="9331840" y="3429000"/>
            <a:ext cx="543998" cy="18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Google Shape;1461;p20">
            <a:extLst>
              <a:ext uri="{FF2B5EF4-FFF2-40B4-BE49-F238E27FC236}">
                <a16:creationId xmlns:a16="http://schemas.microsoft.com/office/drawing/2014/main" id="{7F9EA56A-9E21-2D7D-1B97-B28CEBA76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1263079"/>
            <a:ext cx="1866900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6" name="Google Shape;1464;p20">
            <a:extLst>
              <a:ext uri="{FF2B5EF4-FFF2-40B4-BE49-F238E27FC236}">
                <a16:creationId xmlns:a16="http://schemas.microsoft.com/office/drawing/2014/main" id="{D5F01FD6-F8F7-FA17-1EB2-D24EE938E679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7437438" y="1078928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7" name="Google Shape;1465;p20">
            <a:extLst>
              <a:ext uri="{FF2B5EF4-FFF2-40B4-BE49-F238E27FC236}">
                <a16:creationId xmlns:a16="http://schemas.microsoft.com/office/drawing/2014/main" id="{5E641875-DACF-F59E-283B-BD3B0C5C3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1315466"/>
            <a:ext cx="1866900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Architecture technique</a:t>
            </a:r>
            <a:endParaRPr lang="fr-FR" altLang="fr-FR" dirty="0">
              <a:solidFill>
                <a:srgbClr val="BFBFBF"/>
              </a:solidFill>
            </a:endParaRPr>
          </a:p>
        </p:txBody>
      </p:sp>
      <p:sp>
        <p:nvSpPr>
          <p:cNvPr id="13" name="Google Shape;1467;p20">
            <a:extLst>
              <a:ext uri="{FF2B5EF4-FFF2-40B4-BE49-F238E27FC236}">
                <a16:creationId xmlns:a16="http://schemas.microsoft.com/office/drawing/2014/main" id="{0D685DC6-E680-EEA2-5C37-CB2CC4A55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1324991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EC3A3B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Conception</a:t>
            </a:r>
            <a:endParaRPr lang="fr-FR" altLang="fr-FR" dirty="0">
              <a:solidFill>
                <a:srgbClr val="EC3A3B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A73D793-3D10-3CF1-FAD7-820C58F82DA3}"/>
              </a:ext>
            </a:extLst>
          </p:cNvPr>
          <p:cNvSpPr txBox="1"/>
          <p:nvPr/>
        </p:nvSpPr>
        <p:spPr>
          <a:xfrm>
            <a:off x="969538" y="3152944"/>
            <a:ext cx="3299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1- Diagramme de séquence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BF4FDCD-44BC-9D4A-1C63-0343BD80B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425" y="1841029"/>
            <a:ext cx="7225997" cy="47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8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A28CA-764F-E452-E9C1-F2AD83919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336AA91-D9C5-B7F5-237F-41E88A2DCEB6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pPr>
              <a:defRPr/>
            </a:pPr>
            <a:r>
              <a:rPr lang="fr-FR" altLang="fr-FR" dirty="0">
                <a:solidFill>
                  <a:schemeClr val="tx1"/>
                </a:solidFill>
              </a:rPr>
              <a:t>20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0775F34-EDF9-0D5C-4E44-B6FC0437B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807" y="554713"/>
            <a:ext cx="7224386" cy="630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072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970AF-2410-7C9A-1EFD-02E250D9B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0AF59CD-4D49-029E-C9B4-3A528162762D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pPr>
              <a:defRPr/>
            </a:pPr>
            <a:r>
              <a:rPr lang="fr-FR" altLang="fr-FR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22FCC93-78E5-D6B0-4540-AB42B92EC6EE}"/>
              </a:ext>
            </a:extLst>
          </p:cNvPr>
          <p:cNvSpPr txBox="1"/>
          <p:nvPr/>
        </p:nvSpPr>
        <p:spPr>
          <a:xfrm>
            <a:off x="3746500" y="123825"/>
            <a:ext cx="22415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>
                <a:solidFill>
                  <a:srgbClr val="FF0000"/>
                </a:solidFill>
              </a:rPr>
              <a:t>Service </a:t>
            </a:r>
            <a:r>
              <a:rPr lang="fr-FR" sz="1100" b="1" dirty="0" err="1">
                <a:solidFill>
                  <a:srgbClr val="FF0000"/>
                </a:solidFill>
              </a:rPr>
              <a:t>OData</a:t>
            </a:r>
            <a:r>
              <a:rPr lang="fr-FR" sz="1100" b="1" dirty="0">
                <a:solidFill>
                  <a:srgbClr val="FF0000"/>
                </a:solidFill>
              </a:rPr>
              <a:t> ( approche 1)</a:t>
            </a:r>
          </a:p>
          <a:p>
            <a:endParaRPr lang="fr-FR" sz="1100" b="1" dirty="0">
              <a:solidFill>
                <a:srgbClr val="FF0000"/>
              </a:solidFill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E339ED1C-D2DD-55BF-B5E5-B533531EE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807" y="554713"/>
            <a:ext cx="7224386" cy="6303288"/>
          </a:xfrm>
          <a:prstGeom prst="rect">
            <a:avLst/>
          </a:prstGeom>
        </p:spPr>
      </p:pic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D27F8162-250D-61CB-C71C-C22CF6466437}"/>
              </a:ext>
            </a:extLst>
          </p:cNvPr>
          <p:cNvCxnSpPr>
            <a:cxnSpLocks/>
          </p:cNvCxnSpPr>
          <p:nvPr/>
        </p:nvCxnSpPr>
        <p:spPr>
          <a:xfrm>
            <a:off x="4762500" y="444500"/>
            <a:ext cx="609600" cy="5207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F825C10-B625-85E3-400C-AAD57A94DEBA}"/>
              </a:ext>
            </a:extLst>
          </p:cNvPr>
          <p:cNvSpPr/>
          <p:nvPr/>
        </p:nvSpPr>
        <p:spPr>
          <a:xfrm>
            <a:off x="2590800" y="1346200"/>
            <a:ext cx="2006600" cy="876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ADE481FB-BECA-4F1A-37BD-471E41733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00" y="2336800"/>
            <a:ext cx="2123534" cy="13081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9D8FB01-8288-8596-72B8-E9B18BC3B145}"/>
              </a:ext>
            </a:extLst>
          </p:cNvPr>
          <p:cNvSpPr/>
          <p:nvPr/>
        </p:nvSpPr>
        <p:spPr>
          <a:xfrm>
            <a:off x="2590800" y="4635500"/>
            <a:ext cx="6172200" cy="20859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12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027EE-533C-9354-C774-11A75D6CB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17E94697-11E6-F28E-D354-E950305EA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B0E94973-5D40-5829-CBD6-791E5CA2265B}"/>
              </a:ext>
            </a:extLst>
          </p:cNvPr>
          <p:cNvGrpSpPr>
            <a:grpSpLocks/>
          </p:cNvGrpSpPr>
          <p:nvPr/>
        </p:nvGrpSpPr>
        <p:grpSpPr bwMode="auto">
          <a:xfrm>
            <a:off x="3189288" y="252413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37200833-3C52-6086-0FE6-E511EC4A0C0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9F7AB452-2F2D-2D24-338D-B458B9B129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763512B4-B37A-10F1-149A-294B1526FB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BC5DC069-CB53-2AE8-D7B9-D81C6CFEB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700" y="281386"/>
            <a:ext cx="5545138" cy="36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8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Analyse et conception</a:t>
            </a: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BA9EE756-EF2D-7EE2-4E84-60D5872C4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51CC4631-84EA-9A31-2FA0-B4401022D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7475" y="234950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7C17C1DF-EB82-DA18-255C-5F74AEB70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EA18CDA9-AE07-937B-8817-39BCBFC0F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AF968437-B467-5134-11EB-CB3547896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A87F84BF-23A6-3F53-A9DB-2C9E8779E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33804" name="Google Shape;1463;p20">
            <a:extLst>
              <a:ext uri="{FF2B5EF4-FFF2-40B4-BE49-F238E27FC236}">
                <a16:creationId xmlns:a16="http://schemas.microsoft.com/office/drawing/2014/main" id="{C867AA8B-B7C7-60E7-A227-7205F4E5E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303" y="1263078"/>
            <a:ext cx="1947862" cy="46037"/>
          </a:xfrm>
          <a:prstGeom prst="rect">
            <a:avLst/>
          </a:prstGeom>
          <a:solidFill>
            <a:srgbClr val="E93C3D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9FCA924C-579D-B2D6-2452-F032572FF59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3935E417-E669-8C37-7A94-399108452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221F9CB8-E92D-B238-08DF-1307E8CF0567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5A452DA4-B90B-0676-751E-42580BD56BAE}"/>
              </a:ext>
            </a:extLst>
          </p:cNvPr>
          <p:cNvSpPr txBox="1">
            <a:spLocks/>
          </p:cNvSpPr>
          <p:nvPr/>
        </p:nvSpPr>
        <p:spPr bwMode="auto">
          <a:xfrm>
            <a:off x="10233025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21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A0CEE33D-0FA6-A44E-6F1C-ACF4C5C0E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B0C58C-13D6-190F-03DA-A3B7878FA825}"/>
              </a:ext>
            </a:extLst>
          </p:cNvPr>
          <p:cNvSpPr txBox="1"/>
          <p:nvPr/>
        </p:nvSpPr>
        <p:spPr>
          <a:xfrm>
            <a:off x="0" y="6584443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1937A5-63B4-33EC-47E3-E1E958A1C6E8}"/>
              </a:ext>
            </a:extLst>
          </p:cNvPr>
          <p:cNvSpPr/>
          <p:nvPr/>
        </p:nvSpPr>
        <p:spPr>
          <a:xfrm>
            <a:off x="9331840" y="3429000"/>
            <a:ext cx="543998" cy="186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Google Shape;1461;p20">
            <a:extLst>
              <a:ext uri="{FF2B5EF4-FFF2-40B4-BE49-F238E27FC236}">
                <a16:creationId xmlns:a16="http://schemas.microsoft.com/office/drawing/2014/main" id="{D9414647-547A-8B83-9C38-4081A3D5B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1263079"/>
            <a:ext cx="1866900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6" name="Google Shape;1464;p20">
            <a:extLst>
              <a:ext uri="{FF2B5EF4-FFF2-40B4-BE49-F238E27FC236}">
                <a16:creationId xmlns:a16="http://schemas.microsoft.com/office/drawing/2014/main" id="{42C59D0E-A011-BF40-6B05-9D401D31DBC7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7437438" y="1078928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7" name="Google Shape;1465;p20">
            <a:extLst>
              <a:ext uri="{FF2B5EF4-FFF2-40B4-BE49-F238E27FC236}">
                <a16:creationId xmlns:a16="http://schemas.microsoft.com/office/drawing/2014/main" id="{F9D36F3D-B0BC-85D5-D65F-760F7BF33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1315466"/>
            <a:ext cx="1866900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Architecture technique</a:t>
            </a:r>
            <a:endParaRPr lang="fr-FR" altLang="fr-FR" dirty="0">
              <a:solidFill>
                <a:srgbClr val="BFBFBF"/>
              </a:solidFill>
            </a:endParaRPr>
          </a:p>
        </p:txBody>
      </p:sp>
      <p:sp>
        <p:nvSpPr>
          <p:cNvPr id="13" name="Google Shape;1467;p20">
            <a:extLst>
              <a:ext uri="{FF2B5EF4-FFF2-40B4-BE49-F238E27FC236}">
                <a16:creationId xmlns:a16="http://schemas.microsoft.com/office/drawing/2014/main" id="{B8D4A13A-6CB6-EDA4-EDAE-88EAC0A72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1324991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EC3A3B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Conception</a:t>
            </a:r>
            <a:endParaRPr lang="fr-FR" altLang="fr-FR" dirty="0">
              <a:solidFill>
                <a:srgbClr val="EC3A3B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5EB0210-86E5-1E1F-79CD-C5EE55967428}"/>
              </a:ext>
            </a:extLst>
          </p:cNvPr>
          <p:cNvSpPr txBox="1"/>
          <p:nvPr/>
        </p:nvSpPr>
        <p:spPr>
          <a:xfrm>
            <a:off x="950119" y="3121223"/>
            <a:ext cx="31107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1- Diagramme de classe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7202C36-2739-DAC1-9E50-55D4AAA5E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55" y="1846538"/>
            <a:ext cx="6703045" cy="470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037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F9018-EBB3-C46C-56CB-F91656F8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7209EA9C-D863-C164-34DA-4D6C0048C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4D010523-644B-2FBC-A0AB-094207A26AAA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265114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1D28A5B2-5F8A-D599-E412-8BCD41616E4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C19EA6D2-7738-41F3-7C10-5499BC1C6E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2E05F1BA-6F4B-ADD3-2706-16E637534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26123524-27B5-C700-7862-0B4F091D7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281" y="315618"/>
            <a:ext cx="3573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20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 et mise en œuvre</a:t>
            </a:r>
            <a:endParaRPr lang="fr-FR" altLang="fr-FR" dirty="0">
              <a:solidFill>
                <a:schemeClr val="tx1"/>
              </a:solidFill>
            </a:endParaRP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EC0F5729-C3C0-1A79-0C40-BA83EBC88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 dirty="0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81C66D35-DAB4-738F-8617-F64AEECE8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1360" y="247213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 dirty="0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FBA6A1EB-0DE8-B4AB-7A5A-7E95E99EB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7BA6A398-47B1-3D49-E9B7-26E5B1BEC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 dirty="0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10D5B93D-9D30-AA66-E84B-2E677C793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 dirty="0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14639DFD-5461-E5DE-2F3D-D37D42C87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 dirty="0"/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BC48FC2D-775F-CBBE-F313-C24EBA93D90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0F6AB96F-9106-0D7E-AC7D-228B090DC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E3196745-8A79-36CA-F4A1-2CAB5D73CF3D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4FE08C09-BC26-16EF-342E-25DF7860D4A3}"/>
              </a:ext>
            </a:extLst>
          </p:cNvPr>
          <p:cNvSpPr txBox="1">
            <a:spLocks/>
          </p:cNvSpPr>
          <p:nvPr/>
        </p:nvSpPr>
        <p:spPr bwMode="auto">
          <a:xfrm>
            <a:off x="10316581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22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74360E72-D306-5C08-D3D4-94450601D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9410946-0F2D-3878-2E0F-61EE477FC10D}"/>
              </a:ext>
            </a:extLst>
          </p:cNvPr>
          <p:cNvSpPr txBox="1"/>
          <p:nvPr/>
        </p:nvSpPr>
        <p:spPr>
          <a:xfrm>
            <a:off x="0" y="6595904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7" name="Google Shape;1464;p20">
            <a:extLst>
              <a:ext uri="{FF2B5EF4-FFF2-40B4-BE49-F238E27FC236}">
                <a16:creationId xmlns:a16="http://schemas.microsoft.com/office/drawing/2014/main" id="{9740AC8A-38FA-71FB-6DD6-A89658C15993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6178310" y="1102776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8" name="Google Shape;1463;p20">
            <a:extLst>
              <a:ext uri="{FF2B5EF4-FFF2-40B4-BE49-F238E27FC236}">
                <a16:creationId xmlns:a16="http://schemas.microsoft.com/office/drawing/2014/main" id="{B74C291C-3607-D4B3-81DE-702C42E46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7254" y="1248825"/>
            <a:ext cx="1947862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2" name="Google Shape;1467;p20">
            <a:extLst>
              <a:ext uri="{FF2B5EF4-FFF2-40B4-BE49-F238E27FC236}">
                <a16:creationId xmlns:a16="http://schemas.microsoft.com/office/drawing/2014/main" id="{73F6CB94-6914-C10E-C0F4-1F6069B6F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804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Outils techniques</a:t>
            </a:r>
            <a:endParaRPr lang="fr-FR" altLang="fr-FR" dirty="0">
              <a:solidFill>
                <a:srgbClr val="FF0000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3557E48-0BAC-F19E-B480-E5C4BEF80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578" y="2039774"/>
            <a:ext cx="10040751" cy="3791479"/>
          </a:xfrm>
          <a:prstGeom prst="rect">
            <a:avLst/>
          </a:prstGeom>
        </p:spPr>
      </p:pic>
      <p:sp>
        <p:nvSpPr>
          <p:cNvPr id="16" name="Google Shape;1463;p20">
            <a:extLst>
              <a:ext uri="{FF2B5EF4-FFF2-40B4-BE49-F238E27FC236}">
                <a16:creationId xmlns:a16="http://schemas.microsoft.com/office/drawing/2014/main" id="{7624E738-6C58-E146-C374-671F01B9F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1882" y="1243643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Google Shape;1467;p20">
            <a:extLst>
              <a:ext uri="{FF2B5EF4-FFF2-40B4-BE49-F238E27FC236}">
                <a16:creationId xmlns:a16="http://schemas.microsoft.com/office/drawing/2014/main" id="{5CE834AB-2D75-C614-4975-C22F0333F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9917" y="1305556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</a:t>
            </a:r>
            <a:endParaRPr lang="fr-FR" altLang="fr-FR" dirty="0"/>
          </a:p>
        </p:txBody>
      </p:sp>
    </p:spTree>
    <p:extLst>
      <p:ext uri="{BB962C8B-B14F-4D97-AF65-F5344CB8AC3E}">
        <p14:creationId xmlns:p14="http://schemas.microsoft.com/office/powerpoint/2010/main" val="2433336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0754C-3CEA-8531-FC26-6C7CB4588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E0E0460D-4520-FEAC-093B-55E2E77DC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30033761-5F19-E077-9BFA-FE27E11381F7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265114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8B258EAD-6FC1-ACFD-1D8A-962E3431F4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5934F92A-9464-BF28-0E0D-1BF1D176D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21334DC0-5974-3912-7968-5DC206896E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DD9639E8-F8E6-298F-AF8B-A09CA4493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281" y="315618"/>
            <a:ext cx="3573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20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 et mise en œuvre</a:t>
            </a:r>
            <a:endParaRPr lang="fr-FR" altLang="fr-FR" dirty="0">
              <a:solidFill>
                <a:schemeClr val="tx1"/>
              </a:solidFill>
            </a:endParaRP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7319D61E-CA5C-DDAE-21E0-9853A7CD2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 dirty="0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626C1AE6-40E8-1BE0-8C7F-F3DEB4C51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1360" y="247213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 dirty="0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CC521D0F-A64A-A4D1-1A5D-297AEB117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1AE3CC92-A8EB-4603-2116-CA482A34F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 dirty="0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E01B2C0D-96E3-5052-507E-140821283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 dirty="0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AC068F08-9FCA-D8AA-A8D8-1C821DC72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 dirty="0"/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210F0480-5CD3-38B4-1A66-02CCB295EE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C60F857D-200D-665A-AD1D-A1DAEFF3A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5B29CB42-89F3-747F-7940-A2DCAE23716F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E06FAE67-9092-69CB-140B-38CE0A695F8F}"/>
              </a:ext>
            </a:extLst>
          </p:cNvPr>
          <p:cNvSpPr txBox="1">
            <a:spLocks/>
          </p:cNvSpPr>
          <p:nvPr/>
        </p:nvSpPr>
        <p:spPr bwMode="auto">
          <a:xfrm>
            <a:off x="10316581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23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8323CA2E-A3FA-9776-2C43-F71524F84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0607943-858D-2A30-8310-B8B3CDFF7449}"/>
              </a:ext>
            </a:extLst>
          </p:cNvPr>
          <p:cNvSpPr txBox="1"/>
          <p:nvPr/>
        </p:nvSpPr>
        <p:spPr>
          <a:xfrm>
            <a:off x="0" y="6595904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7" name="Google Shape;1464;p20">
            <a:extLst>
              <a:ext uri="{FF2B5EF4-FFF2-40B4-BE49-F238E27FC236}">
                <a16:creationId xmlns:a16="http://schemas.microsoft.com/office/drawing/2014/main" id="{08030313-0824-0062-4CEB-FAC1C262D199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8445241" y="1090841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8" name="Google Shape;1463;p20">
            <a:extLst>
              <a:ext uri="{FF2B5EF4-FFF2-40B4-BE49-F238E27FC236}">
                <a16:creationId xmlns:a16="http://schemas.microsoft.com/office/drawing/2014/main" id="{1934CE3D-B58B-6F80-549B-080FDEBF6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7254" y="1248825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1" name="Google Shape;1463;p20">
            <a:extLst>
              <a:ext uri="{FF2B5EF4-FFF2-40B4-BE49-F238E27FC236}">
                <a16:creationId xmlns:a16="http://schemas.microsoft.com/office/drawing/2014/main" id="{20201AB8-84CE-52F6-59AB-53ECF9808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4185" y="1248826"/>
            <a:ext cx="1947862" cy="46037"/>
          </a:xfrm>
          <a:prstGeom prst="rect">
            <a:avLst/>
          </a:prstGeom>
          <a:solidFill>
            <a:srgbClr val="EC3A3B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2" name="Google Shape;1467;p20">
            <a:extLst>
              <a:ext uri="{FF2B5EF4-FFF2-40B4-BE49-F238E27FC236}">
                <a16:creationId xmlns:a16="http://schemas.microsoft.com/office/drawing/2014/main" id="{6FACC6BA-2F68-9066-187C-03DE5CC2B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804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Outils techniques</a:t>
            </a:r>
            <a:endParaRPr lang="fr-FR" altLang="fr-FR" dirty="0">
              <a:solidFill>
                <a:srgbClr val="BFBFBF"/>
              </a:solidFill>
            </a:endParaRPr>
          </a:p>
        </p:txBody>
      </p:sp>
      <p:sp>
        <p:nvSpPr>
          <p:cNvPr id="14" name="Google Shape;1467;p20">
            <a:extLst>
              <a:ext uri="{FF2B5EF4-FFF2-40B4-BE49-F238E27FC236}">
                <a16:creationId xmlns:a16="http://schemas.microsoft.com/office/drawing/2014/main" id="{F16A6E8B-9607-E040-31A7-AA560F558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9735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31BCCF3-2851-8575-9581-FFC34209273E}"/>
              </a:ext>
            </a:extLst>
          </p:cNvPr>
          <p:cNvSpPr txBox="1"/>
          <p:nvPr/>
        </p:nvSpPr>
        <p:spPr>
          <a:xfrm>
            <a:off x="2316956" y="1860799"/>
            <a:ext cx="8353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u="sng" dirty="0"/>
              <a:t>Première approche:</a:t>
            </a:r>
            <a:r>
              <a:rPr lang="fr-FR" sz="1600" b="1" i="1" dirty="0"/>
              <a:t> </a:t>
            </a:r>
            <a:r>
              <a:rPr lang="fr-FR" sz="1600" i="1" dirty="0"/>
              <a:t>L’extension de l’application standard « Import Sales Orders »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CFD1E371-EA03-9505-2918-8B2680CB0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19" y="2300763"/>
            <a:ext cx="10860493" cy="415156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E90B3C9-E76D-6E21-0356-3A4D845D4FB4}"/>
              </a:ext>
            </a:extLst>
          </p:cNvPr>
          <p:cNvSpPr/>
          <p:nvPr/>
        </p:nvSpPr>
        <p:spPr>
          <a:xfrm>
            <a:off x="886968" y="2761488"/>
            <a:ext cx="1874520" cy="32186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7915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91C14-12CE-99E1-7B9B-5FAF48ADD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A8FFEE93-C0BC-F042-235E-688C790D8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707EA1C8-BB4C-97CD-E49C-EBE9862C6F58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265114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AECF614B-BD79-B19D-6602-660739699FC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2D9BE3C4-B640-B555-086B-AC9BBAFD5E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7A3C399C-5F3F-1CF6-2A5F-B1631EFB3D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D6D0E0B6-C6A3-3BF1-4343-BD351B565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281" y="315618"/>
            <a:ext cx="3573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20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 et mise en œuvre</a:t>
            </a:r>
            <a:endParaRPr lang="fr-FR" altLang="fr-FR" dirty="0">
              <a:solidFill>
                <a:schemeClr val="tx1"/>
              </a:solidFill>
            </a:endParaRP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CCE63DBD-148D-DB3F-1633-F1F24E64A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 dirty="0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7449456B-A552-835F-B706-F619BAC00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1360" y="247213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 dirty="0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011E5FF0-D6D3-9B1B-F2AF-CBEC5E977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FF7C2290-BD79-2BFD-4B67-F63AA0DC0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 dirty="0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AF334FB8-DCF2-9245-142E-7D500AC2E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 dirty="0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69C3F001-E816-10FF-392E-66FEA4B0C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 dirty="0"/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AE505EE6-CCD8-A335-A14F-0107C1A81E1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295010AF-FFE3-7B0E-285F-BE57D0E20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F23EF94B-B96C-0E26-B952-58DDCB576C22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1E46E94D-2C5A-0A13-00DF-3D8FD99DCF88}"/>
              </a:ext>
            </a:extLst>
          </p:cNvPr>
          <p:cNvSpPr txBox="1">
            <a:spLocks/>
          </p:cNvSpPr>
          <p:nvPr/>
        </p:nvSpPr>
        <p:spPr bwMode="auto">
          <a:xfrm>
            <a:off x="10316581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23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819B242B-D9FD-2D19-DA7A-7D4C37CE6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35F0049-8B8B-030F-7DD2-DF1D538D4540}"/>
              </a:ext>
            </a:extLst>
          </p:cNvPr>
          <p:cNvSpPr txBox="1"/>
          <p:nvPr/>
        </p:nvSpPr>
        <p:spPr>
          <a:xfrm>
            <a:off x="0" y="6595904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7" name="Google Shape;1464;p20">
            <a:extLst>
              <a:ext uri="{FF2B5EF4-FFF2-40B4-BE49-F238E27FC236}">
                <a16:creationId xmlns:a16="http://schemas.microsoft.com/office/drawing/2014/main" id="{D5CDB615-9D26-5626-2C7B-FC319EE1AF96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8445241" y="1090841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8" name="Google Shape;1463;p20">
            <a:extLst>
              <a:ext uri="{FF2B5EF4-FFF2-40B4-BE49-F238E27FC236}">
                <a16:creationId xmlns:a16="http://schemas.microsoft.com/office/drawing/2014/main" id="{37F78750-CCB8-DD33-2433-E47DB094A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7254" y="1248825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1" name="Google Shape;1463;p20">
            <a:extLst>
              <a:ext uri="{FF2B5EF4-FFF2-40B4-BE49-F238E27FC236}">
                <a16:creationId xmlns:a16="http://schemas.microsoft.com/office/drawing/2014/main" id="{94E2C31B-71EE-CB76-BDF7-7E04CA452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4185" y="1248826"/>
            <a:ext cx="1947862" cy="46037"/>
          </a:xfrm>
          <a:prstGeom prst="rect">
            <a:avLst/>
          </a:prstGeom>
          <a:solidFill>
            <a:srgbClr val="EC3A3B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2" name="Google Shape;1467;p20">
            <a:extLst>
              <a:ext uri="{FF2B5EF4-FFF2-40B4-BE49-F238E27FC236}">
                <a16:creationId xmlns:a16="http://schemas.microsoft.com/office/drawing/2014/main" id="{5293B924-FDB7-D56A-0E4A-0F89F8BE5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804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Outils techniques</a:t>
            </a:r>
            <a:endParaRPr lang="fr-FR" altLang="fr-FR" dirty="0">
              <a:solidFill>
                <a:srgbClr val="BFBFBF"/>
              </a:solidFill>
            </a:endParaRPr>
          </a:p>
        </p:txBody>
      </p:sp>
      <p:sp>
        <p:nvSpPr>
          <p:cNvPr id="14" name="Google Shape;1467;p20">
            <a:extLst>
              <a:ext uri="{FF2B5EF4-FFF2-40B4-BE49-F238E27FC236}">
                <a16:creationId xmlns:a16="http://schemas.microsoft.com/office/drawing/2014/main" id="{F09D307F-3E30-207C-8C17-D2DD6BF26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9735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F8A0E9A-03CB-453B-045F-B5F27F994471}"/>
              </a:ext>
            </a:extLst>
          </p:cNvPr>
          <p:cNvSpPr txBox="1"/>
          <p:nvPr/>
        </p:nvSpPr>
        <p:spPr>
          <a:xfrm>
            <a:off x="2316956" y="1860799"/>
            <a:ext cx="8353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u="sng" dirty="0"/>
              <a:t>Première approche:</a:t>
            </a:r>
            <a:r>
              <a:rPr lang="fr-FR" sz="1600" b="1" i="1" dirty="0"/>
              <a:t> </a:t>
            </a:r>
            <a:r>
              <a:rPr lang="fr-FR" sz="1600" i="1" dirty="0"/>
              <a:t>L’extension de l’application standard « Import Sales Orders »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407F83D7-8F6B-BB15-105D-32754E890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19" y="2300763"/>
            <a:ext cx="10860493" cy="415156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460557D-150B-9007-5BE9-86718A14D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4767" y="2765289"/>
            <a:ext cx="1809772" cy="325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779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7D3D-0C75-A2C5-C5D6-EEBA8C16B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51682D33-A886-1D27-A86D-264693473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29292DD5-AD1F-8765-3DEC-44B98D96D2DB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265114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3FC2DB32-B472-927A-CEB6-DDD2726D9F0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5BC792F2-08EA-483A-D90C-C42E45F0A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B4101687-C546-FAE0-4E4F-14762A8E7A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F5F62E31-7769-2050-C814-DFD1CD117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281" y="315618"/>
            <a:ext cx="3573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20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 et mise en œuvre</a:t>
            </a:r>
            <a:endParaRPr lang="fr-FR" altLang="fr-FR" dirty="0">
              <a:solidFill>
                <a:schemeClr val="tx1"/>
              </a:solidFill>
            </a:endParaRP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B46FD655-6832-7CDA-886F-1B274FB35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 dirty="0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A8405BB7-1AEA-CF2F-FE38-8520F9044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1360" y="247213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 dirty="0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0E39311A-B503-9285-257D-0F16C66A9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32C2876F-9F58-3E4B-E285-6C24FCDAA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 dirty="0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275C9412-ED77-8879-64D1-5448BBD67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 dirty="0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FF40E746-0BC8-018D-B4A3-C5585AA52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 dirty="0"/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4F394C3B-0852-405F-ED51-835734A812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BD8BBECF-59D7-0070-448E-BB4EBC5D3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3CCFDB67-6693-2F8B-B529-273D526CC6CF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12A5B443-78DD-1859-C423-7FBE96956A51}"/>
              </a:ext>
            </a:extLst>
          </p:cNvPr>
          <p:cNvSpPr txBox="1">
            <a:spLocks/>
          </p:cNvSpPr>
          <p:nvPr/>
        </p:nvSpPr>
        <p:spPr bwMode="auto">
          <a:xfrm>
            <a:off x="10316581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23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F4B2FD7D-99CE-958C-2B0F-9809C4224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C82F077-2160-DF1F-C565-3836D008AE80}"/>
              </a:ext>
            </a:extLst>
          </p:cNvPr>
          <p:cNvSpPr txBox="1"/>
          <p:nvPr/>
        </p:nvSpPr>
        <p:spPr>
          <a:xfrm>
            <a:off x="0" y="6595904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7" name="Google Shape;1464;p20">
            <a:extLst>
              <a:ext uri="{FF2B5EF4-FFF2-40B4-BE49-F238E27FC236}">
                <a16:creationId xmlns:a16="http://schemas.microsoft.com/office/drawing/2014/main" id="{D6B96828-2358-4A85-9E62-D26761FA4199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8445241" y="1090841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8" name="Google Shape;1463;p20">
            <a:extLst>
              <a:ext uri="{FF2B5EF4-FFF2-40B4-BE49-F238E27FC236}">
                <a16:creationId xmlns:a16="http://schemas.microsoft.com/office/drawing/2014/main" id="{0C3CBAC0-D0B4-F27A-A1D7-8D7AEAE4F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7254" y="1248825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1" name="Google Shape;1463;p20">
            <a:extLst>
              <a:ext uri="{FF2B5EF4-FFF2-40B4-BE49-F238E27FC236}">
                <a16:creationId xmlns:a16="http://schemas.microsoft.com/office/drawing/2014/main" id="{DBD250F1-916E-1882-614B-B797CEA91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4185" y="1248826"/>
            <a:ext cx="1947862" cy="46037"/>
          </a:xfrm>
          <a:prstGeom prst="rect">
            <a:avLst/>
          </a:prstGeom>
          <a:solidFill>
            <a:srgbClr val="EC3A3B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2" name="Google Shape;1467;p20">
            <a:extLst>
              <a:ext uri="{FF2B5EF4-FFF2-40B4-BE49-F238E27FC236}">
                <a16:creationId xmlns:a16="http://schemas.microsoft.com/office/drawing/2014/main" id="{A725B596-E679-0DA6-B72A-B6F67FAD8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804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Outils techniques</a:t>
            </a:r>
            <a:endParaRPr lang="fr-FR" altLang="fr-FR" dirty="0">
              <a:solidFill>
                <a:srgbClr val="BFBFBF"/>
              </a:solidFill>
            </a:endParaRPr>
          </a:p>
        </p:txBody>
      </p:sp>
      <p:sp>
        <p:nvSpPr>
          <p:cNvPr id="14" name="Google Shape;1467;p20">
            <a:extLst>
              <a:ext uri="{FF2B5EF4-FFF2-40B4-BE49-F238E27FC236}">
                <a16:creationId xmlns:a16="http://schemas.microsoft.com/office/drawing/2014/main" id="{6BB5B230-C9FB-82A1-3EF5-009B62ADA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9735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0116084-4B93-472F-69A0-DEF6CE8EC821}"/>
              </a:ext>
            </a:extLst>
          </p:cNvPr>
          <p:cNvSpPr txBox="1"/>
          <p:nvPr/>
        </p:nvSpPr>
        <p:spPr>
          <a:xfrm>
            <a:off x="2316956" y="1860799"/>
            <a:ext cx="8353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u="sng" dirty="0"/>
              <a:t>Première approche:</a:t>
            </a:r>
            <a:r>
              <a:rPr lang="fr-FR" sz="1600" b="1" i="1" dirty="0"/>
              <a:t> </a:t>
            </a:r>
            <a:r>
              <a:rPr lang="fr-FR" sz="1600" i="1" dirty="0"/>
              <a:t>L’extension de l’application standard « Import Sales Orders »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EF142B5-1CF6-0397-0201-3AA8BF6D5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19" y="2300763"/>
            <a:ext cx="10860493" cy="415156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5DE520D9-8500-EEA0-0862-8904B9951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851087"/>
            <a:ext cx="1866840" cy="317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3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A39B2-8901-06B0-6B71-F6573583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70F6BDBA-9179-C259-6E74-091953439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465A240B-B774-C245-B805-B68C9DA99F53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265114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59A2806B-B10A-E7BC-2ECC-15CB42E096A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426BEE79-B10B-7B78-4A13-955BD2E10B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897F3B36-9E9B-AF6E-25B5-1646CB9AF7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4676B0D3-BFC3-60AD-56F6-229F083BC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281" y="315618"/>
            <a:ext cx="3573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20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 et mise en œuvre</a:t>
            </a:r>
            <a:endParaRPr lang="fr-FR" altLang="fr-FR" dirty="0">
              <a:solidFill>
                <a:schemeClr val="tx1"/>
              </a:solidFill>
            </a:endParaRP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7BD82234-844C-429D-0E41-C4746751A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 dirty="0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7F6DAFBA-1D9E-293C-937F-3866AA4F9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1360" y="247213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 dirty="0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96CC203B-F235-FFF1-6EAA-0537C44F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4010F1F8-6BE6-3535-9EDE-6861CA75A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 dirty="0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4881A09B-8DFC-792B-9E61-0B3451735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 dirty="0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6548B4B9-E47E-8F85-E3F1-621C00233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 dirty="0"/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866219E2-9962-ED85-1E7D-66171AE539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D4039DDE-856C-C00E-42C8-4E66F14F5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C97C41C3-A44F-AC9A-7A50-B146619858D5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11595283-E8D8-35F2-D44C-95B5AA77CA4F}"/>
              </a:ext>
            </a:extLst>
          </p:cNvPr>
          <p:cNvSpPr txBox="1">
            <a:spLocks/>
          </p:cNvSpPr>
          <p:nvPr/>
        </p:nvSpPr>
        <p:spPr bwMode="auto">
          <a:xfrm>
            <a:off x="10316581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23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2B6F50BA-2937-0B6F-DF0D-6B075FB35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F2DD1BA-62AD-D8B0-6B10-72786D773BE5}"/>
              </a:ext>
            </a:extLst>
          </p:cNvPr>
          <p:cNvSpPr txBox="1"/>
          <p:nvPr/>
        </p:nvSpPr>
        <p:spPr>
          <a:xfrm>
            <a:off x="0" y="6595904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7" name="Google Shape;1464;p20">
            <a:extLst>
              <a:ext uri="{FF2B5EF4-FFF2-40B4-BE49-F238E27FC236}">
                <a16:creationId xmlns:a16="http://schemas.microsoft.com/office/drawing/2014/main" id="{0E28B40F-73B3-6DD2-0375-BF8105180B9E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8445241" y="1090841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8" name="Google Shape;1463;p20">
            <a:extLst>
              <a:ext uri="{FF2B5EF4-FFF2-40B4-BE49-F238E27FC236}">
                <a16:creationId xmlns:a16="http://schemas.microsoft.com/office/drawing/2014/main" id="{587CA053-9075-711E-0BB1-AF38216DB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7254" y="1248825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1" name="Google Shape;1463;p20">
            <a:extLst>
              <a:ext uri="{FF2B5EF4-FFF2-40B4-BE49-F238E27FC236}">
                <a16:creationId xmlns:a16="http://schemas.microsoft.com/office/drawing/2014/main" id="{7F54F5B1-8FDF-195B-F1EF-1999CD10A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4185" y="1248826"/>
            <a:ext cx="1947862" cy="46037"/>
          </a:xfrm>
          <a:prstGeom prst="rect">
            <a:avLst/>
          </a:prstGeom>
          <a:solidFill>
            <a:srgbClr val="EC3A3B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2" name="Google Shape;1467;p20">
            <a:extLst>
              <a:ext uri="{FF2B5EF4-FFF2-40B4-BE49-F238E27FC236}">
                <a16:creationId xmlns:a16="http://schemas.microsoft.com/office/drawing/2014/main" id="{EFCA24A9-7D8E-57BF-BA37-04F541163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804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Outils techniques</a:t>
            </a:r>
            <a:endParaRPr lang="fr-FR" altLang="fr-FR" dirty="0">
              <a:solidFill>
                <a:srgbClr val="BFBFBF"/>
              </a:solidFill>
            </a:endParaRPr>
          </a:p>
        </p:txBody>
      </p:sp>
      <p:sp>
        <p:nvSpPr>
          <p:cNvPr id="14" name="Google Shape;1467;p20">
            <a:extLst>
              <a:ext uri="{FF2B5EF4-FFF2-40B4-BE49-F238E27FC236}">
                <a16:creationId xmlns:a16="http://schemas.microsoft.com/office/drawing/2014/main" id="{D1DBD200-EB8A-48E6-79B0-7605F61FA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9735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C824A3B-E7D1-CC9E-6D56-AC20B30F5AFC}"/>
              </a:ext>
            </a:extLst>
          </p:cNvPr>
          <p:cNvSpPr txBox="1"/>
          <p:nvPr/>
        </p:nvSpPr>
        <p:spPr>
          <a:xfrm>
            <a:off x="2316956" y="1860799"/>
            <a:ext cx="8353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u="sng" dirty="0"/>
              <a:t>Première approche:</a:t>
            </a:r>
            <a:r>
              <a:rPr lang="fr-FR" sz="1600" b="1" i="1" dirty="0"/>
              <a:t> </a:t>
            </a:r>
            <a:r>
              <a:rPr lang="fr-FR" sz="1600" i="1" dirty="0"/>
              <a:t>L’extension de l’application standard « Import Sales Orders »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2EB2BBC-439F-90B6-DD31-84ED18ABC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19" y="2300763"/>
            <a:ext cx="10860493" cy="415156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18F92E3E-6CB3-23B8-7961-098487DCC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735" y="2827273"/>
            <a:ext cx="1865538" cy="31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672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8F2DA-EA31-2E29-DF2D-D67827CF1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E65CABC6-9252-3B47-D9F3-04D08A858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26DF44F0-3296-E4F6-489D-69A113346F62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265114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3723AE9C-C8F5-8CE6-A7AD-A644C0C3574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C400B473-A7D4-13F2-E882-2BB69D943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6D1FDBDF-E21F-0B5F-FE0F-BBF1B601DA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B1BB4E16-E6CD-EFF3-D4AC-D4B7F2413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281" y="315618"/>
            <a:ext cx="3573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20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 et mise en œuvre</a:t>
            </a:r>
            <a:endParaRPr lang="fr-FR" altLang="fr-FR" dirty="0">
              <a:solidFill>
                <a:schemeClr val="tx1"/>
              </a:solidFill>
            </a:endParaRP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5B5244B3-6FF6-F000-C887-F55E7B856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 dirty="0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FF8FFBE5-F8DE-6356-3234-EF639A9EE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1360" y="247213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 dirty="0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3691E5F8-03DC-C84B-4BB9-E507DBE18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24D28038-713C-ADAF-CC03-829B99B70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 dirty="0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FE52CA16-3780-8485-FE84-6058FF0D9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 dirty="0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F1C6D69D-E17C-00D2-5812-A2474496B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 dirty="0"/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D48D579F-C042-C901-4946-19B8301B9A4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37061727-40A4-96F9-1BED-9458EA013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3E2AAC60-21C7-D70E-D7BC-55E02AEC4A2C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59D27315-ADB8-CC4B-BE2E-907208560930}"/>
              </a:ext>
            </a:extLst>
          </p:cNvPr>
          <p:cNvSpPr txBox="1">
            <a:spLocks/>
          </p:cNvSpPr>
          <p:nvPr/>
        </p:nvSpPr>
        <p:spPr bwMode="auto">
          <a:xfrm>
            <a:off x="10316581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23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158693AA-553F-410A-42DE-AA5B178EE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9882513-3CD9-2EF5-CB2A-B5326ABF3C5A}"/>
              </a:ext>
            </a:extLst>
          </p:cNvPr>
          <p:cNvSpPr txBox="1"/>
          <p:nvPr/>
        </p:nvSpPr>
        <p:spPr>
          <a:xfrm>
            <a:off x="0" y="6595904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7" name="Google Shape;1464;p20">
            <a:extLst>
              <a:ext uri="{FF2B5EF4-FFF2-40B4-BE49-F238E27FC236}">
                <a16:creationId xmlns:a16="http://schemas.microsoft.com/office/drawing/2014/main" id="{9A1D8C0F-2D47-826A-37C0-2E3600405C7B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8445241" y="1090841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8" name="Google Shape;1463;p20">
            <a:extLst>
              <a:ext uri="{FF2B5EF4-FFF2-40B4-BE49-F238E27FC236}">
                <a16:creationId xmlns:a16="http://schemas.microsoft.com/office/drawing/2014/main" id="{890BBE08-19BE-85A3-1134-B3262C06C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7254" y="1248825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1" name="Google Shape;1463;p20">
            <a:extLst>
              <a:ext uri="{FF2B5EF4-FFF2-40B4-BE49-F238E27FC236}">
                <a16:creationId xmlns:a16="http://schemas.microsoft.com/office/drawing/2014/main" id="{FA7EBCD6-EA74-06A2-DE7A-38F8CDF2C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4185" y="1248826"/>
            <a:ext cx="1947862" cy="46037"/>
          </a:xfrm>
          <a:prstGeom prst="rect">
            <a:avLst/>
          </a:prstGeom>
          <a:solidFill>
            <a:srgbClr val="EC3A3B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2" name="Google Shape;1467;p20">
            <a:extLst>
              <a:ext uri="{FF2B5EF4-FFF2-40B4-BE49-F238E27FC236}">
                <a16:creationId xmlns:a16="http://schemas.microsoft.com/office/drawing/2014/main" id="{1BBD3C26-A687-9532-5286-094F2171F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804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Outils techniques</a:t>
            </a:r>
            <a:endParaRPr lang="fr-FR" altLang="fr-FR" dirty="0">
              <a:solidFill>
                <a:srgbClr val="BFBFBF"/>
              </a:solidFill>
            </a:endParaRPr>
          </a:p>
        </p:txBody>
      </p:sp>
      <p:sp>
        <p:nvSpPr>
          <p:cNvPr id="14" name="Google Shape;1467;p20">
            <a:extLst>
              <a:ext uri="{FF2B5EF4-FFF2-40B4-BE49-F238E27FC236}">
                <a16:creationId xmlns:a16="http://schemas.microsoft.com/office/drawing/2014/main" id="{4C74DAFF-07D8-719C-A337-07658D79D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9735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E9F1DAA-3EA8-7170-DB24-37BD44FB48BB}"/>
              </a:ext>
            </a:extLst>
          </p:cNvPr>
          <p:cNvSpPr txBox="1"/>
          <p:nvPr/>
        </p:nvSpPr>
        <p:spPr>
          <a:xfrm>
            <a:off x="2316956" y="1860799"/>
            <a:ext cx="8353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u="sng" dirty="0"/>
              <a:t>Première approche:</a:t>
            </a:r>
            <a:r>
              <a:rPr lang="fr-FR" sz="1600" b="1" i="1" dirty="0"/>
              <a:t> </a:t>
            </a:r>
            <a:r>
              <a:rPr lang="fr-FR" sz="1600" i="1" dirty="0"/>
              <a:t>L’extension de l’application standard « Import Sales Orders »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878D662-F877-188A-FA8B-872C3F73A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19" y="2300763"/>
            <a:ext cx="10860493" cy="415156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76F749A-68AA-7156-4E91-757D984D9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474" y="2827274"/>
            <a:ext cx="1865538" cy="31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71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3131-8A31-2665-A936-899EE4DCA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4D16BB3F-0471-1AB8-B480-BD9FC2138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EE4C702A-D279-91F1-33EC-0053A2B9C93C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265114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965C440A-0A1D-2232-5980-ED7F4470B3D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27D847E3-8254-C8F6-F892-B3A7968197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75AA964D-DFA0-E3A0-6487-34D996773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B676BAF4-E822-EE5F-AD32-713F5433F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281" y="315618"/>
            <a:ext cx="3573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20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 et mise en œuvre</a:t>
            </a:r>
            <a:endParaRPr lang="fr-FR" altLang="fr-FR" dirty="0">
              <a:solidFill>
                <a:schemeClr val="tx1"/>
              </a:solidFill>
            </a:endParaRP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F166FFA3-F1C6-0E74-E176-394432BB4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 dirty="0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948619E8-1054-F68E-1556-8E0059EA9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1360" y="247213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 dirty="0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EDAED8CB-CFCC-1BD6-2B79-6C3716569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74A56D02-9290-32E5-945D-65F95AF48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 dirty="0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166CD950-6579-2629-C6CB-9580A2218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 dirty="0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43904144-F712-4B89-1E4D-D76DFA127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 dirty="0"/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9DFE0DB4-4855-334C-A990-9C0B9B32C6B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5B803E65-3920-8DDF-3B18-89D6C8718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CA93978C-DDC1-1588-9A77-C4967A364BE0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16B15DC0-D1B4-0000-71D5-D3F9F77CF955}"/>
              </a:ext>
            </a:extLst>
          </p:cNvPr>
          <p:cNvSpPr txBox="1">
            <a:spLocks/>
          </p:cNvSpPr>
          <p:nvPr/>
        </p:nvSpPr>
        <p:spPr bwMode="auto">
          <a:xfrm>
            <a:off x="10316581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23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CA951FEE-D3A7-5EC1-DB11-CAA625E16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D87FA95-B029-84E8-DFC0-39CDA95FD872}"/>
              </a:ext>
            </a:extLst>
          </p:cNvPr>
          <p:cNvSpPr txBox="1"/>
          <p:nvPr/>
        </p:nvSpPr>
        <p:spPr>
          <a:xfrm>
            <a:off x="0" y="6595904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7" name="Google Shape;1464;p20">
            <a:extLst>
              <a:ext uri="{FF2B5EF4-FFF2-40B4-BE49-F238E27FC236}">
                <a16:creationId xmlns:a16="http://schemas.microsoft.com/office/drawing/2014/main" id="{3637E130-F82F-3FCD-3ADA-C9EB767DDEBD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8445241" y="1090841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8" name="Google Shape;1463;p20">
            <a:extLst>
              <a:ext uri="{FF2B5EF4-FFF2-40B4-BE49-F238E27FC236}">
                <a16:creationId xmlns:a16="http://schemas.microsoft.com/office/drawing/2014/main" id="{4E752778-83A6-A44D-6990-54994F336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7254" y="1248825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1" name="Google Shape;1463;p20">
            <a:extLst>
              <a:ext uri="{FF2B5EF4-FFF2-40B4-BE49-F238E27FC236}">
                <a16:creationId xmlns:a16="http://schemas.microsoft.com/office/drawing/2014/main" id="{B63F1152-4482-2B09-63D5-89ACBDAD6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4185" y="1248826"/>
            <a:ext cx="1947862" cy="46037"/>
          </a:xfrm>
          <a:prstGeom prst="rect">
            <a:avLst/>
          </a:prstGeom>
          <a:solidFill>
            <a:srgbClr val="EC3A3B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2" name="Google Shape;1467;p20">
            <a:extLst>
              <a:ext uri="{FF2B5EF4-FFF2-40B4-BE49-F238E27FC236}">
                <a16:creationId xmlns:a16="http://schemas.microsoft.com/office/drawing/2014/main" id="{6FB4AB77-8946-C5E6-D0C1-C4AA6FC17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804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Outils techniques</a:t>
            </a:r>
            <a:endParaRPr lang="fr-FR" altLang="fr-FR" dirty="0">
              <a:solidFill>
                <a:srgbClr val="BFBFBF"/>
              </a:solidFill>
            </a:endParaRPr>
          </a:p>
        </p:txBody>
      </p:sp>
      <p:sp>
        <p:nvSpPr>
          <p:cNvPr id="14" name="Google Shape;1467;p20">
            <a:extLst>
              <a:ext uri="{FF2B5EF4-FFF2-40B4-BE49-F238E27FC236}">
                <a16:creationId xmlns:a16="http://schemas.microsoft.com/office/drawing/2014/main" id="{023F1F02-795B-7068-D4FA-AB9B1C1B3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9735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C259479-4531-13CA-F763-DD48A00673BF}"/>
              </a:ext>
            </a:extLst>
          </p:cNvPr>
          <p:cNvSpPr txBox="1"/>
          <p:nvPr/>
        </p:nvSpPr>
        <p:spPr>
          <a:xfrm>
            <a:off x="2316956" y="1860799"/>
            <a:ext cx="8353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u="sng" dirty="0"/>
              <a:t>Première approche:</a:t>
            </a:r>
            <a:r>
              <a:rPr lang="fr-FR" sz="1600" b="1" i="1" dirty="0"/>
              <a:t> </a:t>
            </a:r>
            <a:r>
              <a:rPr lang="fr-FR" sz="1600" i="1" dirty="0"/>
              <a:t>L’extension de l’application standard « Import Sales Orders »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484B2140-1475-E68D-7625-3D633B648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19" y="2300763"/>
            <a:ext cx="10860493" cy="415156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B7A400E-6325-331C-99FE-24A2DFE1C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838" y="2788398"/>
            <a:ext cx="1768474" cy="31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361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F922C-0840-7F73-D545-C543EF575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46DDAAA9-E41A-A68F-158C-0E52CC23A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A3311632-6CB7-D528-6C7E-611F468D8959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265114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5DE57190-07C7-1AD6-090D-866E96D698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47A9BEDA-DA05-7EA1-8FDE-8DE82D38F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F74996C1-D59F-D06E-67EB-08FCE12451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7386A207-74EA-B516-BC75-829007FE4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281" y="315618"/>
            <a:ext cx="3573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20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 et mise en œuvre</a:t>
            </a:r>
            <a:endParaRPr lang="fr-FR" altLang="fr-FR" dirty="0">
              <a:solidFill>
                <a:schemeClr val="tx1"/>
              </a:solidFill>
            </a:endParaRP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EEC5D293-713B-E609-6382-D7631B72D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 dirty="0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D402CC75-7813-0056-339E-70D105036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1360" y="247213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 dirty="0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4AB6C371-B31C-CF54-7380-82FA0A577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02AEA02E-9745-A81F-23D6-B9E6D8E77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 dirty="0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5790F71E-41AC-7B83-B760-AD976EFE5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 dirty="0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7F5C695F-6EB9-F2C2-1393-53549A2C6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 dirty="0"/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1E78B6AC-66EA-EB7E-9512-EF719357EBF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608437A2-B42A-DB28-4E55-B500D835A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84F6621D-B4EF-13C6-8EA2-C7F8EFD2A555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64049493-E146-8635-9A8B-3B8CBC7850B3}"/>
              </a:ext>
            </a:extLst>
          </p:cNvPr>
          <p:cNvSpPr txBox="1">
            <a:spLocks/>
          </p:cNvSpPr>
          <p:nvPr/>
        </p:nvSpPr>
        <p:spPr bwMode="auto">
          <a:xfrm>
            <a:off x="10316581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24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25175310-FF7B-1E0E-2AE1-0FE1761B8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9F7D6F1-945A-300F-8E9A-E8C61C744AB0}"/>
              </a:ext>
            </a:extLst>
          </p:cNvPr>
          <p:cNvSpPr txBox="1"/>
          <p:nvPr/>
        </p:nvSpPr>
        <p:spPr>
          <a:xfrm>
            <a:off x="0" y="6595904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7" name="Google Shape;1464;p20">
            <a:extLst>
              <a:ext uri="{FF2B5EF4-FFF2-40B4-BE49-F238E27FC236}">
                <a16:creationId xmlns:a16="http://schemas.microsoft.com/office/drawing/2014/main" id="{9EA559B9-A1B5-4BE6-4573-10DE666EE5FB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8445241" y="1090841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8" name="Google Shape;1463;p20">
            <a:extLst>
              <a:ext uri="{FF2B5EF4-FFF2-40B4-BE49-F238E27FC236}">
                <a16:creationId xmlns:a16="http://schemas.microsoft.com/office/drawing/2014/main" id="{BDB15BF5-D757-C758-91E0-97F327412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7254" y="1248825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1" name="Google Shape;1463;p20">
            <a:extLst>
              <a:ext uri="{FF2B5EF4-FFF2-40B4-BE49-F238E27FC236}">
                <a16:creationId xmlns:a16="http://schemas.microsoft.com/office/drawing/2014/main" id="{05134253-0A0B-3A09-2E07-EA0BC4B19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4185" y="1248826"/>
            <a:ext cx="1947862" cy="46037"/>
          </a:xfrm>
          <a:prstGeom prst="rect">
            <a:avLst/>
          </a:prstGeom>
          <a:solidFill>
            <a:srgbClr val="EC3A3B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2" name="Google Shape;1467;p20">
            <a:extLst>
              <a:ext uri="{FF2B5EF4-FFF2-40B4-BE49-F238E27FC236}">
                <a16:creationId xmlns:a16="http://schemas.microsoft.com/office/drawing/2014/main" id="{D81FD317-E022-80A3-80EC-9C0E61426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804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Outils techniques</a:t>
            </a:r>
            <a:endParaRPr lang="fr-FR" altLang="fr-FR" dirty="0">
              <a:solidFill>
                <a:srgbClr val="BFBFBF"/>
              </a:solidFill>
            </a:endParaRPr>
          </a:p>
        </p:txBody>
      </p:sp>
      <p:sp>
        <p:nvSpPr>
          <p:cNvPr id="14" name="Google Shape;1467;p20">
            <a:extLst>
              <a:ext uri="{FF2B5EF4-FFF2-40B4-BE49-F238E27FC236}">
                <a16:creationId xmlns:a16="http://schemas.microsoft.com/office/drawing/2014/main" id="{C5010056-1A0A-D6BD-762A-D2C0E50C1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9735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5835875-2A04-9936-A7F2-E3C812F6C2D7}"/>
              </a:ext>
            </a:extLst>
          </p:cNvPr>
          <p:cNvSpPr txBox="1"/>
          <p:nvPr/>
        </p:nvSpPr>
        <p:spPr>
          <a:xfrm>
            <a:off x="2316956" y="1860799"/>
            <a:ext cx="8353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u="sng" dirty="0"/>
              <a:t>Première approche:</a:t>
            </a:r>
            <a:r>
              <a:rPr lang="fr-FR" sz="1600" b="1" i="1" dirty="0"/>
              <a:t> </a:t>
            </a:r>
            <a:r>
              <a:rPr lang="fr-FR" sz="1600" i="1" dirty="0"/>
              <a:t>L’extension de l’application standard « Import Sales Orders »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82EECF8-B0CA-7FE0-4AA0-2383A002B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652" y="2800512"/>
            <a:ext cx="10540898" cy="380348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250CF31-CD1C-9079-DAE3-BF38DF23AA54}"/>
              </a:ext>
            </a:extLst>
          </p:cNvPr>
          <p:cNvSpPr txBox="1"/>
          <p:nvPr/>
        </p:nvSpPr>
        <p:spPr>
          <a:xfrm>
            <a:off x="5302804" y="2440051"/>
            <a:ext cx="25092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u="sng" dirty="0">
                <a:solidFill>
                  <a:srgbClr val="FF0000"/>
                </a:solidFill>
              </a:rPr>
              <a:t>contrainte technique</a:t>
            </a:r>
          </a:p>
        </p:txBody>
      </p:sp>
    </p:spTree>
    <p:extLst>
      <p:ext uri="{BB962C8B-B14F-4D97-AF65-F5344CB8AC3E}">
        <p14:creationId xmlns:p14="http://schemas.microsoft.com/office/powerpoint/2010/main" val="324732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CC609-50EE-180D-8C1D-6458A491C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71653479-D484-BB65-3CE3-FA665AFDF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576F68E3-A142-D28D-EB48-EA575FF7145E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265114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A1620BCF-4A8A-2771-4BD0-21B527D2C3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F2C25584-55A0-A826-154D-A62AC53A60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B8C556D2-64FF-2F33-905B-180625244F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7F98F0CB-5790-EE63-D203-B09862A92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281" y="315618"/>
            <a:ext cx="3573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20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 et mise en œuvre</a:t>
            </a:r>
            <a:endParaRPr lang="fr-FR" altLang="fr-FR" dirty="0">
              <a:solidFill>
                <a:schemeClr val="tx1"/>
              </a:solidFill>
            </a:endParaRP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A0C984DB-5EB9-C1FA-9D55-B8A11CB8D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 dirty="0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365F0F5B-1C9E-D23D-930F-350B80D87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1360" y="247213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 dirty="0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90A701AC-030B-2CD7-F9DE-55127FAAF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EAA3FAA6-1B18-68B9-AE80-2A68D0AEC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 dirty="0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D92187F3-8200-6738-EDB9-7750275A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 dirty="0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B2CA5D65-26F9-BA52-25D7-4DF8D7B7F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 dirty="0"/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94596C22-0919-7A3F-F64D-C1E637AB8F3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0794096F-3DDE-F8D1-A254-8C3B641C0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833720DD-75EC-D646-300B-29A22CFF058E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D1EFD599-D00E-16D1-D0B0-02BF493D1314}"/>
              </a:ext>
            </a:extLst>
          </p:cNvPr>
          <p:cNvSpPr txBox="1">
            <a:spLocks/>
          </p:cNvSpPr>
          <p:nvPr/>
        </p:nvSpPr>
        <p:spPr bwMode="auto">
          <a:xfrm>
            <a:off x="10316581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25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86522B15-F24E-09E7-BA7B-FBAC9379E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8DC37CC-DE14-11B0-0937-F7F32F5580E1}"/>
              </a:ext>
            </a:extLst>
          </p:cNvPr>
          <p:cNvSpPr txBox="1"/>
          <p:nvPr/>
        </p:nvSpPr>
        <p:spPr>
          <a:xfrm>
            <a:off x="0" y="6595904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7" name="Google Shape;1464;p20">
            <a:extLst>
              <a:ext uri="{FF2B5EF4-FFF2-40B4-BE49-F238E27FC236}">
                <a16:creationId xmlns:a16="http://schemas.microsoft.com/office/drawing/2014/main" id="{C58F6D01-3229-4B32-DD74-C3FA34A1DC33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8445241" y="1090841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8" name="Google Shape;1463;p20">
            <a:extLst>
              <a:ext uri="{FF2B5EF4-FFF2-40B4-BE49-F238E27FC236}">
                <a16:creationId xmlns:a16="http://schemas.microsoft.com/office/drawing/2014/main" id="{99D7937A-5A2B-C42D-9710-400308B2A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7254" y="1248825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1" name="Google Shape;1463;p20">
            <a:extLst>
              <a:ext uri="{FF2B5EF4-FFF2-40B4-BE49-F238E27FC236}">
                <a16:creationId xmlns:a16="http://schemas.microsoft.com/office/drawing/2014/main" id="{1EF1193B-444F-615D-5BC7-24579A2CC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4185" y="1248826"/>
            <a:ext cx="1947862" cy="46037"/>
          </a:xfrm>
          <a:prstGeom prst="rect">
            <a:avLst/>
          </a:prstGeom>
          <a:solidFill>
            <a:srgbClr val="EC3A3B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2" name="Google Shape;1467;p20">
            <a:extLst>
              <a:ext uri="{FF2B5EF4-FFF2-40B4-BE49-F238E27FC236}">
                <a16:creationId xmlns:a16="http://schemas.microsoft.com/office/drawing/2014/main" id="{AD41A289-EFEA-37DA-0569-9D03E99D9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804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Outils techniques</a:t>
            </a:r>
            <a:endParaRPr lang="fr-FR" altLang="fr-FR" dirty="0">
              <a:solidFill>
                <a:srgbClr val="BFBFBF"/>
              </a:solidFill>
            </a:endParaRPr>
          </a:p>
        </p:txBody>
      </p:sp>
      <p:sp>
        <p:nvSpPr>
          <p:cNvPr id="14" name="Google Shape;1467;p20">
            <a:extLst>
              <a:ext uri="{FF2B5EF4-FFF2-40B4-BE49-F238E27FC236}">
                <a16:creationId xmlns:a16="http://schemas.microsoft.com/office/drawing/2014/main" id="{4F621005-6B86-1670-A97E-D71F1F9A0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9735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54EA036-DB3D-E6B0-857B-7A00241A4405}"/>
              </a:ext>
            </a:extLst>
          </p:cNvPr>
          <p:cNvSpPr txBox="1"/>
          <p:nvPr/>
        </p:nvSpPr>
        <p:spPr>
          <a:xfrm>
            <a:off x="2316956" y="1860799"/>
            <a:ext cx="8353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u="sng" dirty="0"/>
              <a:t>Première approche:</a:t>
            </a:r>
            <a:r>
              <a:rPr lang="fr-FR" sz="1600" b="1" i="1" dirty="0"/>
              <a:t> </a:t>
            </a:r>
            <a:r>
              <a:rPr lang="fr-FR" sz="1600" i="1" dirty="0"/>
              <a:t>L’extension de l’application standard « Import Sales Orders »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BE5F7EA-3664-431B-5779-978FA5615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721" y="2690642"/>
            <a:ext cx="10297939" cy="377592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6853DF1-78BD-275F-C9AD-6CBFFFA216AA}"/>
              </a:ext>
            </a:extLst>
          </p:cNvPr>
          <p:cNvSpPr/>
          <p:nvPr/>
        </p:nvSpPr>
        <p:spPr>
          <a:xfrm>
            <a:off x="1214846" y="4454434"/>
            <a:ext cx="10032592" cy="15152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6336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9068-EEDC-C565-FB79-B2691D666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AF5BF908-4EA9-C729-4ECE-DFF7A787F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9678A485-A5D0-FDCA-125C-803722CE24BC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265114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93B118F1-B3B7-AB67-05A7-0B5E2729CF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14066A53-B98D-8A4E-9B09-A3F493E12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38E98ACF-42AC-CA1A-691C-52C7780A4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069FB5CC-21A0-8C7F-A518-5F8651AEE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281" y="315618"/>
            <a:ext cx="3573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20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 et mise en œuvre</a:t>
            </a:r>
            <a:endParaRPr lang="fr-FR" altLang="fr-FR" dirty="0">
              <a:solidFill>
                <a:schemeClr val="tx1"/>
              </a:solidFill>
            </a:endParaRP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1F0EE019-A13B-5328-1738-D7DB1696B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 dirty="0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264D51DD-8605-1567-5F9C-991810F2C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1360" y="247213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 dirty="0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403393EB-AE67-F8C0-771E-CC2DE8C2F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7C2FCBC9-BCE6-6714-BB3F-623293D8A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 dirty="0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A77347D1-51F9-4291-2057-8629C9047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 dirty="0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B10F3565-1D7F-DA8E-F215-BAB80EFCC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 dirty="0"/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34FBAFF4-59FA-75A2-8183-AA1827535C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C5055765-87C8-AE08-8668-5AD1931FB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C1C6CFFC-8671-F0C6-75F6-D2640B47D433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E9F8405F-F237-6BBF-F022-A6775B4B21E6}"/>
              </a:ext>
            </a:extLst>
          </p:cNvPr>
          <p:cNvSpPr txBox="1">
            <a:spLocks/>
          </p:cNvSpPr>
          <p:nvPr/>
        </p:nvSpPr>
        <p:spPr bwMode="auto">
          <a:xfrm>
            <a:off x="10316581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26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AC630219-9312-BC66-4C05-1B39A2129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41C6CFE-DA6D-822D-0E88-D0B1C46B9467}"/>
              </a:ext>
            </a:extLst>
          </p:cNvPr>
          <p:cNvSpPr txBox="1"/>
          <p:nvPr/>
        </p:nvSpPr>
        <p:spPr>
          <a:xfrm>
            <a:off x="0" y="6595904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7" name="Google Shape;1464;p20">
            <a:extLst>
              <a:ext uri="{FF2B5EF4-FFF2-40B4-BE49-F238E27FC236}">
                <a16:creationId xmlns:a16="http://schemas.microsoft.com/office/drawing/2014/main" id="{2B059150-620A-D362-5899-8F0F7C878BF9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8445241" y="1090841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8" name="Google Shape;1463;p20">
            <a:extLst>
              <a:ext uri="{FF2B5EF4-FFF2-40B4-BE49-F238E27FC236}">
                <a16:creationId xmlns:a16="http://schemas.microsoft.com/office/drawing/2014/main" id="{4C690AD4-59CA-226D-8834-23B57A53B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7254" y="1248825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1" name="Google Shape;1463;p20">
            <a:extLst>
              <a:ext uri="{FF2B5EF4-FFF2-40B4-BE49-F238E27FC236}">
                <a16:creationId xmlns:a16="http://schemas.microsoft.com/office/drawing/2014/main" id="{22CDF17C-67E2-064F-9167-F67BD189D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4185" y="1248826"/>
            <a:ext cx="1947862" cy="46037"/>
          </a:xfrm>
          <a:prstGeom prst="rect">
            <a:avLst/>
          </a:prstGeom>
          <a:solidFill>
            <a:srgbClr val="EC3A3B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2" name="Google Shape;1467;p20">
            <a:extLst>
              <a:ext uri="{FF2B5EF4-FFF2-40B4-BE49-F238E27FC236}">
                <a16:creationId xmlns:a16="http://schemas.microsoft.com/office/drawing/2014/main" id="{87DD7E9F-0EBF-752B-FF52-6C581798F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804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Outils techniques</a:t>
            </a:r>
            <a:endParaRPr lang="fr-FR" altLang="fr-FR" dirty="0">
              <a:solidFill>
                <a:srgbClr val="BFBFBF"/>
              </a:solidFill>
            </a:endParaRPr>
          </a:p>
        </p:txBody>
      </p:sp>
      <p:sp>
        <p:nvSpPr>
          <p:cNvPr id="14" name="Google Shape;1467;p20">
            <a:extLst>
              <a:ext uri="{FF2B5EF4-FFF2-40B4-BE49-F238E27FC236}">
                <a16:creationId xmlns:a16="http://schemas.microsoft.com/office/drawing/2014/main" id="{083651EA-15E7-6C99-737D-AC5DB9F25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9735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DE4E0CD-5FC1-08CD-44EB-D077E43777C7}"/>
              </a:ext>
            </a:extLst>
          </p:cNvPr>
          <p:cNvSpPr txBox="1"/>
          <p:nvPr/>
        </p:nvSpPr>
        <p:spPr>
          <a:xfrm>
            <a:off x="2253456" y="1658878"/>
            <a:ext cx="8353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u="sng" dirty="0"/>
              <a:t>Deuxième approche </a:t>
            </a:r>
            <a:r>
              <a:rPr lang="fr-FR" sz="1600" b="1" i="1" dirty="0"/>
              <a:t>: </a:t>
            </a:r>
            <a:r>
              <a:rPr lang="fr-FR" sz="1600" i="1" dirty="0"/>
              <a:t>Développement de l’application « </a:t>
            </a:r>
            <a:r>
              <a:rPr lang="fr-FR" sz="1600" i="1" dirty="0" err="1"/>
              <a:t>Upload</a:t>
            </a:r>
            <a:r>
              <a:rPr lang="fr-FR" sz="1600" i="1" dirty="0"/>
              <a:t> Reverse Document »</a:t>
            </a:r>
            <a:endParaRPr lang="fr-FR" sz="1600" b="1" i="1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8476A04-72E5-FB5C-6D0C-A91516914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39" y="2206027"/>
            <a:ext cx="5508734" cy="4340890"/>
          </a:xfrm>
          <a:prstGeom prst="rect">
            <a:avLst/>
          </a:prstGeom>
        </p:spPr>
      </p:pic>
      <p:pic>
        <p:nvPicPr>
          <p:cNvPr id="13" name="Graphique 12" descr="Flèche vers la droite avec un remplissage uni">
            <a:extLst>
              <a:ext uri="{FF2B5EF4-FFF2-40B4-BE49-F238E27FC236}">
                <a16:creationId xmlns:a16="http://schemas.microsoft.com/office/drawing/2014/main" id="{420F42CA-46F6-F800-8415-A93C92B8DF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49116" y="3372275"/>
            <a:ext cx="914400" cy="91440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C39ED16-C580-7A24-ECE7-AB64B6DB1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6159" y="2185388"/>
            <a:ext cx="5033543" cy="436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80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F1C28-1B03-A0B8-82B2-FBA9E05CB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AF6C2BD2-5FC8-2441-4207-E8524D864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3D5E5107-B85C-A8B3-BD1E-4311FFD839BF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265114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44C0746C-C1A5-3B42-C20F-E768E341554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7DC21AFF-B263-2EEA-4D7D-E23C0D11BB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82611CB2-8942-DEFB-89AA-FC90763B77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40D0EE16-3FB7-5DB7-57B2-6A0D9251E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281" y="315618"/>
            <a:ext cx="3573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20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 et mise en œuvre</a:t>
            </a:r>
            <a:endParaRPr lang="fr-FR" altLang="fr-FR" dirty="0">
              <a:solidFill>
                <a:schemeClr val="tx1"/>
              </a:solidFill>
            </a:endParaRP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D6A92BEF-09B2-2689-61A1-E8C60FA8F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 dirty="0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FF6329A2-5A5E-3EE7-92FA-575479E5A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1360" y="247213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 dirty="0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C503EA51-54DD-7C52-A23B-8028CB51E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59A5BE55-B23A-5F99-57FD-D3EAA4A26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 dirty="0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B4A7B895-4F9A-1188-C93F-6534D5F95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 dirty="0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EF659449-F36E-BC6A-E1B4-199122DB1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 dirty="0"/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CBADA86D-EC2F-1CBC-607E-5C480664C09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E6D038CD-B8B4-065A-C277-8EBF2422B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33FC8817-DD27-44DB-AE21-CE8EBA1D6B74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A5BEA6C7-E2C5-1F29-32F0-BC1A9A475CFA}"/>
              </a:ext>
            </a:extLst>
          </p:cNvPr>
          <p:cNvSpPr txBox="1">
            <a:spLocks/>
          </p:cNvSpPr>
          <p:nvPr/>
        </p:nvSpPr>
        <p:spPr bwMode="auto">
          <a:xfrm>
            <a:off x="10316581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27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2CB29A2C-1249-8698-4DE3-2E72BA793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B78061B-2E26-0352-9D71-C870C4480BE9}"/>
              </a:ext>
            </a:extLst>
          </p:cNvPr>
          <p:cNvSpPr txBox="1"/>
          <p:nvPr/>
        </p:nvSpPr>
        <p:spPr>
          <a:xfrm>
            <a:off x="0" y="6595904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7" name="Google Shape;1464;p20">
            <a:extLst>
              <a:ext uri="{FF2B5EF4-FFF2-40B4-BE49-F238E27FC236}">
                <a16:creationId xmlns:a16="http://schemas.microsoft.com/office/drawing/2014/main" id="{2A97EB50-D050-AADC-824A-A6952D66A0D3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8445241" y="1090841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8" name="Google Shape;1463;p20">
            <a:extLst>
              <a:ext uri="{FF2B5EF4-FFF2-40B4-BE49-F238E27FC236}">
                <a16:creationId xmlns:a16="http://schemas.microsoft.com/office/drawing/2014/main" id="{C115A441-E1FE-AF0A-244D-321AADB1C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7254" y="1248825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1" name="Google Shape;1463;p20">
            <a:extLst>
              <a:ext uri="{FF2B5EF4-FFF2-40B4-BE49-F238E27FC236}">
                <a16:creationId xmlns:a16="http://schemas.microsoft.com/office/drawing/2014/main" id="{8967A0CA-43EE-334F-3666-FB8A83387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4185" y="1248826"/>
            <a:ext cx="1947862" cy="46037"/>
          </a:xfrm>
          <a:prstGeom prst="rect">
            <a:avLst/>
          </a:prstGeom>
          <a:solidFill>
            <a:srgbClr val="EC3A3B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2" name="Google Shape;1467;p20">
            <a:extLst>
              <a:ext uri="{FF2B5EF4-FFF2-40B4-BE49-F238E27FC236}">
                <a16:creationId xmlns:a16="http://schemas.microsoft.com/office/drawing/2014/main" id="{F4EBA941-DDEE-BA6D-DD8F-2875ACD60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804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Outils techniques</a:t>
            </a:r>
            <a:endParaRPr lang="fr-FR" altLang="fr-FR" dirty="0">
              <a:solidFill>
                <a:srgbClr val="BFBFBF"/>
              </a:solidFill>
            </a:endParaRPr>
          </a:p>
        </p:txBody>
      </p:sp>
      <p:sp>
        <p:nvSpPr>
          <p:cNvPr id="14" name="Google Shape;1467;p20">
            <a:extLst>
              <a:ext uri="{FF2B5EF4-FFF2-40B4-BE49-F238E27FC236}">
                <a16:creationId xmlns:a16="http://schemas.microsoft.com/office/drawing/2014/main" id="{EA259E4E-DD1D-ED39-1B42-81EBC9212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9735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EB080F3-324E-AEF3-4048-530201927F03}"/>
              </a:ext>
            </a:extLst>
          </p:cNvPr>
          <p:cNvSpPr txBox="1"/>
          <p:nvPr/>
        </p:nvSpPr>
        <p:spPr>
          <a:xfrm>
            <a:off x="2253456" y="1658878"/>
            <a:ext cx="8353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u="sng" dirty="0"/>
              <a:t>Deuxième approche :</a:t>
            </a:r>
            <a:r>
              <a:rPr lang="fr-FR" sz="1600" b="1" i="1" dirty="0"/>
              <a:t> </a:t>
            </a:r>
            <a:r>
              <a:rPr lang="fr-FR" sz="1600" i="1" dirty="0"/>
              <a:t>Développement de l’application « </a:t>
            </a:r>
            <a:r>
              <a:rPr lang="fr-FR" sz="1600" i="1" dirty="0" err="1"/>
              <a:t>Upload</a:t>
            </a:r>
            <a:r>
              <a:rPr lang="fr-FR" sz="1600" i="1" dirty="0"/>
              <a:t> Reverse Document »</a:t>
            </a:r>
            <a:endParaRPr lang="fr-FR" sz="1600" b="1" i="1" dirty="0"/>
          </a:p>
        </p:txBody>
      </p:sp>
      <p:pic>
        <p:nvPicPr>
          <p:cNvPr id="2" name="Image 1" descr="Une image contenant texte, logiciel, Icône d’ordinateur, Page web&#10;&#10;Le contenu généré par l’IA peut être incorrect.">
            <a:extLst>
              <a:ext uri="{FF2B5EF4-FFF2-40B4-BE49-F238E27FC236}">
                <a16:creationId xmlns:a16="http://schemas.microsoft.com/office/drawing/2014/main" id="{B4AB9387-D2AC-B5EC-341D-DF5AE03021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45" b="9923"/>
          <a:stretch>
            <a:fillRect/>
          </a:stretch>
        </p:blipFill>
        <p:spPr>
          <a:xfrm>
            <a:off x="291061" y="2185388"/>
            <a:ext cx="11475489" cy="40947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3E5041-DF9D-D4D9-846F-D2586860754B}"/>
              </a:ext>
            </a:extLst>
          </p:cNvPr>
          <p:cNvSpPr/>
          <p:nvPr/>
        </p:nvSpPr>
        <p:spPr>
          <a:xfrm>
            <a:off x="2087563" y="3542942"/>
            <a:ext cx="1135062" cy="1103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8272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EAE85-CFAF-A0B8-E9AB-CDC6A99BD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85AD2B62-2038-8055-17B6-74BF3F745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2548D04E-A019-DFD9-E957-6334CCFA555D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265114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4BD65DE5-0F3B-AB41-D494-B297582C549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FAE89082-C1BA-6182-5B4E-944B8161F2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868B1AA7-5720-F8AB-7C68-43BB05EE7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7E4F4535-5E30-B211-0BAE-889E0F249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281" y="315618"/>
            <a:ext cx="3573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20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 et mise en œuvre</a:t>
            </a:r>
            <a:endParaRPr lang="fr-FR" altLang="fr-FR" dirty="0">
              <a:solidFill>
                <a:schemeClr val="tx1"/>
              </a:solidFill>
            </a:endParaRPr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27687332-7B7C-47A4-87DD-C15D284F7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 dirty="0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CF6CDDC0-8081-C5BE-40B6-BDD17BE3F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1360" y="247213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 dirty="0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61E67B82-5D60-8275-D271-F3E1A75DA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55BCC4AA-63EF-8136-642B-D2182CC6C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 dirty="0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450A5297-FC9E-6823-C168-9F8D8FCBA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 dirty="0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4DBF7FCA-B0AD-B655-9680-9AEB0CFE9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 dirty="0"/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4DBB55A4-F5C3-8537-CAA5-7634DC41714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189B5774-1D5D-A3D6-A689-FC2F4318B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5864ED6C-832B-C01A-AF6B-A5134B412FA1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A4E813CE-06D3-1C0B-507B-5A4DB81127FD}"/>
              </a:ext>
            </a:extLst>
          </p:cNvPr>
          <p:cNvSpPr txBox="1">
            <a:spLocks/>
          </p:cNvSpPr>
          <p:nvPr/>
        </p:nvSpPr>
        <p:spPr bwMode="auto">
          <a:xfrm>
            <a:off x="10316581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27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6D5E08ED-C2F9-7320-D05C-B01B515CD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D676298-A82E-8ABC-DA0C-CF85CC3FDF5C}"/>
              </a:ext>
            </a:extLst>
          </p:cNvPr>
          <p:cNvSpPr txBox="1"/>
          <p:nvPr/>
        </p:nvSpPr>
        <p:spPr>
          <a:xfrm>
            <a:off x="0" y="6595904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7" name="Google Shape;1464;p20">
            <a:extLst>
              <a:ext uri="{FF2B5EF4-FFF2-40B4-BE49-F238E27FC236}">
                <a16:creationId xmlns:a16="http://schemas.microsoft.com/office/drawing/2014/main" id="{5B81EDAC-CB77-B782-B91A-0A8917E3C12F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8445241" y="1090841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8" name="Google Shape;1463;p20">
            <a:extLst>
              <a:ext uri="{FF2B5EF4-FFF2-40B4-BE49-F238E27FC236}">
                <a16:creationId xmlns:a16="http://schemas.microsoft.com/office/drawing/2014/main" id="{8D85E557-E014-0525-9194-61602F93F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7254" y="1248825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1" name="Google Shape;1463;p20">
            <a:extLst>
              <a:ext uri="{FF2B5EF4-FFF2-40B4-BE49-F238E27FC236}">
                <a16:creationId xmlns:a16="http://schemas.microsoft.com/office/drawing/2014/main" id="{7D1467FD-E649-70E6-26FD-08D1C2933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4185" y="1248826"/>
            <a:ext cx="1947862" cy="46037"/>
          </a:xfrm>
          <a:prstGeom prst="rect">
            <a:avLst/>
          </a:prstGeom>
          <a:solidFill>
            <a:srgbClr val="EC3A3B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2" name="Google Shape;1467;p20">
            <a:extLst>
              <a:ext uri="{FF2B5EF4-FFF2-40B4-BE49-F238E27FC236}">
                <a16:creationId xmlns:a16="http://schemas.microsoft.com/office/drawing/2014/main" id="{21AC3DD5-4B5F-4FCA-BB58-803E7CFF8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804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BFBFB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Outils techniques</a:t>
            </a:r>
            <a:endParaRPr lang="fr-FR" altLang="fr-FR" dirty="0">
              <a:solidFill>
                <a:srgbClr val="BFBFBF"/>
              </a:solidFill>
            </a:endParaRPr>
          </a:p>
        </p:txBody>
      </p:sp>
      <p:sp>
        <p:nvSpPr>
          <p:cNvPr id="14" name="Google Shape;1467;p20">
            <a:extLst>
              <a:ext uri="{FF2B5EF4-FFF2-40B4-BE49-F238E27FC236}">
                <a16:creationId xmlns:a16="http://schemas.microsoft.com/office/drawing/2014/main" id="{3519D97F-F389-BBE4-6727-C07915FCAD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9735" y="1306094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8AEF4B1-F792-B967-0AF6-0E3E936AC29B}"/>
              </a:ext>
            </a:extLst>
          </p:cNvPr>
          <p:cNvSpPr txBox="1"/>
          <p:nvPr/>
        </p:nvSpPr>
        <p:spPr>
          <a:xfrm>
            <a:off x="2253456" y="1658878"/>
            <a:ext cx="8353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u="sng" dirty="0"/>
              <a:t>Deuxième approche :</a:t>
            </a:r>
            <a:r>
              <a:rPr lang="fr-FR" sz="1600" b="1" i="1" dirty="0"/>
              <a:t> </a:t>
            </a:r>
            <a:r>
              <a:rPr lang="fr-FR" sz="1600" i="1" dirty="0"/>
              <a:t>Développement de l’application « </a:t>
            </a:r>
            <a:r>
              <a:rPr lang="fr-FR" sz="1600" i="1" dirty="0" err="1"/>
              <a:t>Upload</a:t>
            </a:r>
            <a:r>
              <a:rPr lang="fr-FR" sz="1600" i="1" dirty="0"/>
              <a:t> Reverse Document »</a:t>
            </a:r>
            <a:endParaRPr lang="fr-FR" sz="1600" b="1" i="1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FF55FEF-D904-EB35-11DD-1D9AA40B043B}"/>
              </a:ext>
            </a:extLst>
          </p:cNvPr>
          <p:cNvSpPr txBox="1"/>
          <p:nvPr/>
        </p:nvSpPr>
        <p:spPr>
          <a:xfrm>
            <a:off x="4853412" y="2908597"/>
            <a:ext cx="7937500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FR" sz="1600" b="1" dirty="0"/>
              <a:t>1- Authentification</a:t>
            </a:r>
          </a:p>
          <a:p>
            <a:pPr>
              <a:lnSpc>
                <a:spcPct val="200000"/>
              </a:lnSpc>
            </a:pPr>
            <a:r>
              <a:rPr lang="fr-FR" sz="1600" b="1" dirty="0"/>
              <a:t>2- Page d’import des fichiers Excel</a:t>
            </a:r>
          </a:p>
          <a:p>
            <a:pPr>
              <a:lnSpc>
                <a:spcPct val="200000"/>
              </a:lnSpc>
            </a:pPr>
            <a:r>
              <a:rPr lang="fr-FR" sz="1600" b="1" dirty="0"/>
              <a:t>3- Download des fichiers Excel</a:t>
            </a:r>
          </a:p>
          <a:p>
            <a:pPr>
              <a:lnSpc>
                <a:spcPct val="200000"/>
              </a:lnSpc>
            </a:pPr>
            <a:r>
              <a:rPr lang="fr-FR" sz="1600" b="1" dirty="0"/>
              <a:t>4- </a:t>
            </a:r>
            <a:r>
              <a:rPr lang="fr-FR" sz="1600" b="1" dirty="0" err="1"/>
              <a:t>Upload</a:t>
            </a:r>
            <a:r>
              <a:rPr lang="fr-FR" sz="1600" b="1" dirty="0"/>
              <a:t> des fichiers </a:t>
            </a:r>
            <a:r>
              <a:rPr lang="fr-FR" sz="1600" b="1" dirty="0" err="1"/>
              <a:t>excel</a:t>
            </a:r>
            <a:endParaRPr lang="fr-FR" sz="1600" b="1" dirty="0"/>
          </a:p>
          <a:p>
            <a:pPr>
              <a:lnSpc>
                <a:spcPct val="200000"/>
              </a:lnSpc>
            </a:pPr>
            <a:r>
              <a:rPr lang="fr-FR" sz="1600" b="1" dirty="0"/>
              <a:t>5- Import des fichiers </a:t>
            </a:r>
            <a:r>
              <a:rPr lang="fr-FR" sz="1600" b="1" dirty="0" err="1"/>
              <a:t>excel</a:t>
            </a:r>
            <a:endParaRPr lang="fr-FR" sz="1600" b="1" dirty="0"/>
          </a:p>
          <a:p>
            <a:pPr>
              <a:lnSpc>
                <a:spcPct val="200000"/>
              </a:lnSpc>
            </a:pPr>
            <a:r>
              <a:rPr lang="fr-FR" sz="1600" b="1" dirty="0"/>
              <a:t>6- Consultation des logs</a:t>
            </a:r>
          </a:p>
          <a:p>
            <a:pPr>
              <a:lnSpc>
                <a:spcPct val="200000"/>
              </a:lnSpc>
            </a:pPr>
            <a:r>
              <a:rPr lang="fr-FR" sz="1600" b="1" dirty="0"/>
              <a:t>7- Consultation de l’historique des imports</a:t>
            </a:r>
          </a:p>
          <a:p>
            <a:pPr>
              <a:lnSpc>
                <a:spcPct val="200000"/>
              </a:lnSpc>
            </a:pPr>
            <a:endParaRPr lang="fr-FR" sz="1600" b="1" dirty="0"/>
          </a:p>
          <a:p>
            <a:pPr>
              <a:lnSpc>
                <a:spcPct val="200000"/>
              </a:lnSpc>
            </a:pPr>
            <a:endParaRPr lang="fr-FR" sz="1600" b="1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200950D-DFBF-C227-365E-A1760F2B5860}"/>
              </a:ext>
            </a:extLst>
          </p:cNvPr>
          <p:cNvSpPr txBox="1"/>
          <p:nvPr/>
        </p:nvSpPr>
        <p:spPr>
          <a:xfrm>
            <a:off x="3596371" y="2378005"/>
            <a:ext cx="544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b="1" i="1" u="sng" dirty="0">
                <a:solidFill>
                  <a:schemeClr val="accent6"/>
                </a:solidFill>
              </a:rPr>
              <a:t>Scénario de démonstration</a:t>
            </a:r>
          </a:p>
        </p:txBody>
      </p:sp>
    </p:spTree>
    <p:extLst>
      <p:ext uri="{BB962C8B-B14F-4D97-AF65-F5344CB8AC3E}">
        <p14:creationId xmlns:p14="http://schemas.microsoft.com/office/powerpoint/2010/main" val="1508004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43;p20">
            <a:extLst>
              <a:ext uri="{FF2B5EF4-FFF2-40B4-BE49-F238E27FC236}">
                <a16:creationId xmlns:a16="http://schemas.microsoft.com/office/drawing/2014/main" id="{6C400A6E-355F-EF84-F3C8-18901219B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5" name="Google Shape;1444;p20">
            <a:extLst>
              <a:ext uri="{FF2B5EF4-FFF2-40B4-BE49-F238E27FC236}">
                <a16:creationId xmlns:a16="http://schemas.microsoft.com/office/drawing/2014/main" id="{2A6B129F-4200-F0C2-81AB-D15A1B4EE11A}"/>
              </a:ext>
            </a:extLst>
          </p:cNvPr>
          <p:cNvGrpSpPr>
            <a:grpSpLocks/>
          </p:cNvGrpSpPr>
          <p:nvPr/>
        </p:nvGrpSpPr>
        <p:grpSpPr bwMode="auto">
          <a:xfrm>
            <a:off x="4373563" y="241300"/>
            <a:ext cx="7473950" cy="503237"/>
            <a:chOff x="841108" y="1294358"/>
            <a:chExt cx="7475308" cy="508077"/>
          </a:xfrm>
        </p:grpSpPr>
        <p:sp>
          <p:nvSpPr>
            <p:cNvPr id="6" name="Google Shape;1445;p20">
              <a:extLst>
                <a:ext uri="{FF2B5EF4-FFF2-40B4-BE49-F238E27FC236}">
                  <a16:creationId xmlns:a16="http://schemas.microsoft.com/office/drawing/2014/main" id="{E652D40E-E137-4274-52EE-C01EB31DBAA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7" name="Google Shape;1446;p20">
              <a:extLst>
                <a:ext uri="{FF2B5EF4-FFF2-40B4-BE49-F238E27FC236}">
                  <a16:creationId xmlns:a16="http://schemas.microsoft.com/office/drawing/2014/main" id="{F119D7D3-E755-8700-A5CA-5932DF3EE2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8" name="Google Shape;1447;p20">
              <a:extLst>
                <a:ext uri="{FF2B5EF4-FFF2-40B4-BE49-F238E27FC236}">
                  <a16:creationId xmlns:a16="http://schemas.microsoft.com/office/drawing/2014/main" id="{C34DDF26-2A7F-81CD-D5F2-65360618C3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9" name="Google Shape;1449;p20">
            <a:extLst>
              <a:ext uri="{FF2B5EF4-FFF2-40B4-BE49-F238E27FC236}">
                <a16:creationId xmlns:a16="http://schemas.microsoft.com/office/drawing/2014/main" id="{43709CCB-19BF-1450-87B0-745A8BBAA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/>
          </a:p>
        </p:txBody>
      </p:sp>
      <p:sp>
        <p:nvSpPr>
          <p:cNvPr id="10" name="Google Shape;1450;p20">
            <a:extLst>
              <a:ext uri="{FF2B5EF4-FFF2-40B4-BE49-F238E27FC236}">
                <a16:creationId xmlns:a16="http://schemas.microsoft.com/office/drawing/2014/main" id="{73B37D12-671B-5710-2903-6008A26B7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725" y="234949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/>
          </a:p>
        </p:txBody>
      </p:sp>
      <p:sp>
        <p:nvSpPr>
          <p:cNvPr id="11" name="Google Shape;1451;p20">
            <a:extLst>
              <a:ext uri="{FF2B5EF4-FFF2-40B4-BE49-F238E27FC236}">
                <a16:creationId xmlns:a16="http://schemas.microsoft.com/office/drawing/2014/main" id="{48CD7AA8-71A7-B70B-5A72-656BC0D2C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/>
          </a:p>
        </p:txBody>
      </p:sp>
      <p:sp>
        <p:nvSpPr>
          <p:cNvPr id="12" name="Google Shape;1452;p20">
            <a:extLst>
              <a:ext uri="{FF2B5EF4-FFF2-40B4-BE49-F238E27FC236}">
                <a16:creationId xmlns:a16="http://schemas.microsoft.com/office/drawing/2014/main" id="{9375D9D3-C0FF-AFBB-CE65-3C9F3B5B1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/>
          </a:p>
        </p:txBody>
      </p:sp>
      <p:sp>
        <p:nvSpPr>
          <p:cNvPr id="13" name="Google Shape;1453;p20">
            <a:extLst>
              <a:ext uri="{FF2B5EF4-FFF2-40B4-BE49-F238E27FC236}">
                <a16:creationId xmlns:a16="http://schemas.microsoft.com/office/drawing/2014/main" id="{B6946EA4-621F-2ACD-E31B-5D830DD0E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/>
          </a:p>
        </p:txBody>
      </p:sp>
      <p:sp>
        <p:nvSpPr>
          <p:cNvPr id="14" name="Google Shape;1457;p20">
            <a:extLst>
              <a:ext uri="{FF2B5EF4-FFF2-40B4-BE49-F238E27FC236}">
                <a16:creationId xmlns:a16="http://schemas.microsoft.com/office/drawing/2014/main" id="{24B7E866-7AAD-967A-69AB-924CAC746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450" y="234949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/>
          </a:p>
        </p:txBody>
      </p:sp>
      <p:sp>
        <p:nvSpPr>
          <p:cNvPr id="15" name="Google Shape;1469;p20">
            <a:extLst>
              <a:ext uri="{FF2B5EF4-FFF2-40B4-BE49-F238E27FC236}">
                <a16:creationId xmlns:a16="http://schemas.microsoft.com/office/drawing/2014/main" id="{B0D2085C-CB2F-E08A-03A6-B16112E7DB43}"/>
              </a:ext>
            </a:extLst>
          </p:cNvPr>
          <p:cNvSpPr txBox="1">
            <a:spLocks/>
          </p:cNvSpPr>
          <p:nvPr/>
        </p:nvSpPr>
        <p:spPr bwMode="auto">
          <a:xfrm>
            <a:off x="4554538" y="6594475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None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" name="Google Shape;1470;p20">
            <a:extLst>
              <a:ext uri="{FF2B5EF4-FFF2-40B4-BE49-F238E27FC236}">
                <a16:creationId xmlns:a16="http://schemas.microsoft.com/office/drawing/2014/main" id="{05A3B37C-7D77-4668-892D-9AA443A93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17" name="Google Shape;836;p4">
            <a:extLst>
              <a:ext uri="{FF2B5EF4-FFF2-40B4-BE49-F238E27FC236}">
                <a16:creationId xmlns:a16="http://schemas.microsoft.com/office/drawing/2014/main" id="{749C2A4B-51F3-69B2-E0D6-6A1210EFE01C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Google Shape;1338;p16">
            <a:extLst>
              <a:ext uri="{FF2B5EF4-FFF2-40B4-BE49-F238E27FC236}">
                <a16:creationId xmlns:a16="http://schemas.microsoft.com/office/drawing/2014/main" id="{98E6E5E6-6600-FC62-490C-5F9CEBEDFA2A}"/>
              </a:ext>
            </a:extLst>
          </p:cNvPr>
          <p:cNvSpPr txBox="1">
            <a:spLocks/>
          </p:cNvSpPr>
          <p:nvPr/>
        </p:nvSpPr>
        <p:spPr bwMode="auto">
          <a:xfrm>
            <a:off x="10317163" y="6615906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29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" name="Google Shape;945;p6">
            <a:extLst>
              <a:ext uri="{FF2B5EF4-FFF2-40B4-BE49-F238E27FC236}">
                <a16:creationId xmlns:a16="http://schemas.microsoft.com/office/drawing/2014/main" id="{227CD86F-C67D-334B-54BB-C579B9329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20" name="Google Shape;2086;p38">
            <a:extLst>
              <a:ext uri="{FF2B5EF4-FFF2-40B4-BE49-F238E27FC236}">
                <a16:creationId xmlns:a16="http://schemas.microsoft.com/office/drawing/2014/main" id="{32713252-213C-062C-7928-AEA900A2A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0538" y="270497"/>
            <a:ext cx="4171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2000" b="1" dirty="0">
                <a:solidFill>
                  <a:schemeClr val="tx1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Conclusion et perspectives</a:t>
            </a:r>
            <a:endParaRPr lang="fr-FR" altLang="fr-FR" dirty="0">
              <a:solidFill>
                <a:schemeClr val="tx1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F6FBCE3-4C84-5DD8-DA14-BE035A37C366}"/>
              </a:ext>
            </a:extLst>
          </p:cNvPr>
          <p:cNvSpPr txBox="1"/>
          <p:nvPr/>
        </p:nvSpPr>
        <p:spPr>
          <a:xfrm>
            <a:off x="0" y="6595904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1034" name="Picture 10" descr="774 Sap System Icons Royalty-Free Images, Stock Photos &amp; Pictures |  Shutterstock">
            <a:extLst>
              <a:ext uri="{FF2B5EF4-FFF2-40B4-BE49-F238E27FC236}">
                <a16:creationId xmlns:a16="http://schemas.microsoft.com/office/drawing/2014/main" id="{206BE11F-5272-368E-D0D5-FAA5129CA6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27"/>
          <a:stretch>
            <a:fillRect/>
          </a:stretch>
        </p:blipFill>
        <p:spPr bwMode="auto">
          <a:xfrm>
            <a:off x="2010508" y="2714946"/>
            <a:ext cx="2534119" cy="1844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Excel Icon Imágenes y Fotos - 123RF">
            <a:extLst>
              <a:ext uri="{FF2B5EF4-FFF2-40B4-BE49-F238E27FC236}">
                <a16:creationId xmlns:a16="http://schemas.microsoft.com/office/drawing/2014/main" id="{7EC3A244-EED6-BC23-8BF9-2F197F723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771" y="2537133"/>
            <a:ext cx="676244" cy="676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Download Free Import document Icons in PNG &amp; SVG">
            <a:extLst>
              <a:ext uri="{FF2B5EF4-FFF2-40B4-BE49-F238E27FC236}">
                <a16:creationId xmlns:a16="http://schemas.microsoft.com/office/drawing/2014/main" id="{017F9901-36EC-EED3-1529-2F6A8A8FB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48" y="4606286"/>
            <a:ext cx="731875" cy="73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Graphique 26" descr="Retour contour">
            <a:extLst>
              <a:ext uri="{FF2B5EF4-FFF2-40B4-BE49-F238E27FC236}">
                <a16:creationId xmlns:a16="http://schemas.microsoft.com/office/drawing/2014/main" id="{9A53A1EF-2BD7-30CC-3050-CED660C5D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0299" y="1626264"/>
            <a:ext cx="914400" cy="914400"/>
          </a:xfrm>
          <a:prstGeom prst="rect">
            <a:avLst/>
          </a:prstGeom>
        </p:spPr>
      </p:pic>
      <p:pic>
        <p:nvPicPr>
          <p:cNvPr id="29" name="Graphique 28" descr="Retour contour">
            <a:extLst>
              <a:ext uri="{FF2B5EF4-FFF2-40B4-BE49-F238E27FC236}">
                <a16:creationId xmlns:a16="http://schemas.microsoft.com/office/drawing/2014/main" id="{AB1316B3-BDC6-7689-A82B-4164D9763D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3416013">
            <a:off x="3860767" y="1644029"/>
            <a:ext cx="914400" cy="914400"/>
          </a:xfrm>
          <a:prstGeom prst="rect">
            <a:avLst/>
          </a:prstGeom>
        </p:spPr>
      </p:pic>
      <p:pic>
        <p:nvPicPr>
          <p:cNvPr id="30" name="Graphique 29" descr="Retour contour">
            <a:extLst>
              <a:ext uri="{FF2B5EF4-FFF2-40B4-BE49-F238E27FC236}">
                <a16:creationId xmlns:a16="http://schemas.microsoft.com/office/drawing/2014/main" id="{FE8CACC3-DE9F-A036-E687-16D973CA57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857963">
            <a:off x="4708159" y="3437604"/>
            <a:ext cx="914400" cy="914400"/>
          </a:xfrm>
          <a:prstGeom prst="rect">
            <a:avLst/>
          </a:prstGeom>
        </p:spPr>
      </p:pic>
      <p:pic>
        <p:nvPicPr>
          <p:cNvPr id="31" name="Graphique 30" descr="Retour contour">
            <a:extLst>
              <a:ext uri="{FF2B5EF4-FFF2-40B4-BE49-F238E27FC236}">
                <a16:creationId xmlns:a16="http://schemas.microsoft.com/office/drawing/2014/main" id="{2252BA3E-6E84-A46C-862C-B38603B98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829279">
            <a:off x="741024" y="3403413"/>
            <a:ext cx="914400" cy="914400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ED954480-F779-94AD-C85F-C033EC472D1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717606" y="1571940"/>
            <a:ext cx="920934" cy="844190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0978702C-CD2E-B258-AC90-07185BCF866B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93342" y="2270933"/>
            <a:ext cx="950320" cy="950320"/>
          </a:xfrm>
          <a:prstGeom prst="rect">
            <a:avLst/>
          </a:prstGeom>
        </p:spPr>
      </p:pic>
      <p:cxnSp>
        <p:nvCxnSpPr>
          <p:cNvPr id="42" name="Straight Connector 4">
            <a:extLst>
              <a:ext uri="{FF2B5EF4-FFF2-40B4-BE49-F238E27FC236}">
                <a16:creationId xmlns:a16="http://schemas.microsoft.com/office/drawing/2014/main" id="{694E941F-3F5F-F642-0D0F-C38CB4F414E7}"/>
              </a:ext>
            </a:extLst>
          </p:cNvPr>
          <p:cNvCxnSpPr>
            <a:cxnSpLocks/>
          </p:cNvCxnSpPr>
          <p:nvPr/>
        </p:nvCxnSpPr>
        <p:spPr>
          <a:xfrm flipV="1">
            <a:off x="6094413" y="1646579"/>
            <a:ext cx="0" cy="442806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Image 47">
            <a:extLst>
              <a:ext uri="{FF2B5EF4-FFF2-40B4-BE49-F238E27FC236}">
                <a16:creationId xmlns:a16="http://schemas.microsoft.com/office/drawing/2014/main" id="{62AA7027-C935-E38B-21CD-8BBF72B34F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8289" y="1515346"/>
            <a:ext cx="4572000" cy="4572000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ED4C02AA-FD7E-7399-8131-7224F3255F67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19277" t="8536" b="18108"/>
          <a:stretch>
            <a:fillRect/>
          </a:stretch>
        </p:blipFill>
        <p:spPr>
          <a:xfrm>
            <a:off x="4598194" y="4405743"/>
            <a:ext cx="994492" cy="108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11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Google Shape;2127;p40"/>
          <p:cNvSpPr>
            <a:spLocks noChangeArrowheads="1"/>
          </p:cNvSpPr>
          <p:nvPr/>
        </p:nvSpPr>
        <p:spPr bwMode="auto">
          <a:xfrm rot="10800000" flipH="1">
            <a:off x="2234441" y="1615394"/>
            <a:ext cx="8232173" cy="4012293"/>
          </a:xfrm>
          <a:prstGeom prst="rect">
            <a:avLst/>
          </a:prstGeom>
          <a:solidFill>
            <a:srgbClr val="F2F2F2"/>
          </a:solidFill>
          <a:ln w="19050">
            <a:noFill/>
            <a:prstDash val="lgDash"/>
            <a:miter lim="800000"/>
            <a:headEnd type="none" w="sm" len="sm"/>
            <a:tailEnd type="none" w="sm" len="sm"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2000" dirty="0">
              <a:latin typeface="Georgia" panose="02040502050405020303" pitchFamily="18" charset="0"/>
              <a:sym typeface="Georgia" panose="020405020504050203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B022DC-FA66-6E72-6CCC-39CD1B985C08}"/>
              </a:ext>
            </a:extLst>
          </p:cNvPr>
          <p:cNvSpPr/>
          <p:nvPr/>
        </p:nvSpPr>
        <p:spPr>
          <a:xfrm>
            <a:off x="2236482" y="1996371"/>
            <a:ext cx="8230132" cy="31391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dirty="0"/>
          </a:p>
        </p:txBody>
      </p:sp>
      <p:sp>
        <p:nvSpPr>
          <p:cNvPr id="41986" name="Google Shape;2124;p40"/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1988" name="Google Shape;2126;p40"/>
          <p:cNvSpPr>
            <a:spLocks noChangeArrowheads="1"/>
          </p:cNvSpPr>
          <p:nvPr/>
        </p:nvSpPr>
        <p:spPr bwMode="auto">
          <a:xfrm>
            <a:off x="474663" y="5135563"/>
            <a:ext cx="12588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41990" name="Google Shape;2128;p40"/>
          <p:cNvSpPr txBox="1">
            <a:spLocks noChangeArrowheads="1"/>
          </p:cNvSpPr>
          <p:nvPr/>
        </p:nvSpPr>
        <p:spPr bwMode="auto">
          <a:xfrm>
            <a:off x="2840831" y="2879568"/>
            <a:ext cx="6583363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6000" b="1" dirty="0">
                <a:solidFill>
                  <a:srgbClr val="002060"/>
                </a:solidFill>
                <a:latin typeface="Garamond" panose="02020404030301010803" pitchFamily="18" charset="0"/>
                <a:sym typeface="Garamond" panose="02020404030301010803" pitchFamily="18" charset="0"/>
              </a:rPr>
              <a:t>Merci pour votre attention</a:t>
            </a:r>
            <a:endParaRPr lang="fr-FR" altLang="fr-FR" sz="6600" b="1" dirty="0">
              <a:solidFill>
                <a:srgbClr val="002060"/>
              </a:solidFill>
              <a:latin typeface="Garamond" panose="02020404030301010803" pitchFamily="18" charset="0"/>
              <a:sym typeface="Garamond" panose="02020404030301010803" pitchFamily="18" charset="0"/>
            </a:endParaRPr>
          </a:p>
        </p:txBody>
      </p:sp>
      <p:sp>
        <p:nvSpPr>
          <p:cNvPr id="41991" name="Google Shape;2129;p40"/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pic>
        <p:nvPicPr>
          <p:cNvPr id="41993" name="Picture 4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5773470" y="1891044"/>
            <a:ext cx="1154113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Google Shape;2117;p39"/>
          <p:cNvSpPr>
            <a:spLocks noGrp="1"/>
          </p:cNvSpPr>
          <p:nvPr>
            <p:ph type="sldNum" sz="quarter" idx="13"/>
          </p:nvPr>
        </p:nvSpPr>
        <p:spPr>
          <a:xfrm>
            <a:off x="10238582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30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85A1FF-3964-94EC-9BA5-670FAC015CFD}"/>
              </a:ext>
            </a:extLst>
          </p:cNvPr>
          <p:cNvSpPr txBox="1"/>
          <p:nvPr/>
        </p:nvSpPr>
        <p:spPr>
          <a:xfrm>
            <a:off x="0" y="6595904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55BFC0E-F9BD-2FB7-D07A-76D72123A4B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2" y="44706"/>
            <a:ext cx="2818404" cy="747753"/>
          </a:xfrm>
          <a:prstGeom prst="rect">
            <a:avLst/>
          </a:prstGeom>
        </p:spPr>
      </p:pic>
      <p:pic>
        <p:nvPicPr>
          <p:cNvPr id="7" name="Picture 2" descr="APO Group - Africa Newsroom / Communiqué de presse | Honoris United  Universities enrichit son réseau panafricain avec une nouvelle école en  sciences de la santé et un centre de simulation médicale ultra-moderne">
            <a:extLst>
              <a:ext uri="{FF2B5EF4-FFF2-40B4-BE49-F238E27FC236}">
                <a16:creationId xmlns:a16="http://schemas.microsoft.com/office/drawing/2014/main" id="{1DECA1FF-473D-1CBD-196D-4E4B0184E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555" y="22430"/>
            <a:ext cx="2701445" cy="923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9" grpId="0" animBg="1"/>
      <p:bldP spid="2" grpId="0" animBg="1"/>
      <p:bldP spid="4199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FDAC6-2B5D-959E-A588-F4AD06F4B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Google Shape;2137;p41">
            <a:extLst>
              <a:ext uri="{FF2B5EF4-FFF2-40B4-BE49-F238E27FC236}">
                <a16:creationId xmlns:a16="http://schemas.microsoft.com/office/drawing/2014/main" id="{5A093230-9FB9-9B98-24EA-31731F24455C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78" name="Google Shape;2140;p41">
            <a:extLst>
              <a:ext uri="{FF2B5EF4-FFF2-40B4-BE49-F238E27FC236}">
                <a16:creationId xmlns:a16="http://schemas.microsoft.com/office/drawing/2014/main" id="{76B7C9F6-BC43-3D04-C007-B00A6A59E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7793" y="4105031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84" name="Google Shape;2146;p41" descr="Title 1">
            <a:extLst>
              <a:ext uri="{FF2B5EF4-FFF2-40B4-BE49-F238E27FC236}">
                <a16:creationId xmlns:a16="http://schemas.microsoft.com/office/drawing/2014/main" id="{C0337CE3-AB56-3800-F3E8-8D4128801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2881" y="2693694"/>
            <a:ext cx="9042766" cy="60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sz="1800" b="1" dirty="0">
                <a:solidFill>
                  <a:schemeClr val="tx1"/>
                </a:solidFill>
              </a:rPr>
              <a:t>5éme Année en Ingénierie Informatique et Réseaux                                          </a:t>
            </a:r>
            <a:r>
              <a:rPr lang="fr-FR" sz="1800" dirty="0">
                <a:solidFill>
                  <a:schemeClr val="tx1"/>
                </a:solidFill>
              </a:rPr>
              <a:t>Option MIAGE</a:t>
            </a:r>
          </a:p>
        </p:txBody>
      </p:sp>
      <p:sp>
        <p:nvSpPr>
          <p:cNvPr id="3085" name="Google Shape;2147;p41" descr="Title 1">
            <a:extLst>
              <a:ext uri="{FF2B5EF4-FFF2-40B4-BE49-F238E27FC236}">
                <a16:creationId xmlns:a16="http://schemas.microsoft.com/office/drawing/2014/main" id="{30B94259-8EB5-370F-64C6-7437146EB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264" y="2157225"/>
            <a:ext cx="9144000" cy="4318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200" b="1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Soutenance de Projet de Fin d’Etude</a:t>
            </a:r>
            <a:endParaRPr lang="fr-FR" altLang="fr-FR" dirty="0"/>
          </a:p>
        </p:txBody>
      </p:sp>
      <p:sp>
        <p:nvSpPr>
          <p:cNvPr id="3088" name="Google Shape;2150;p41">
            <a:extLst>
              <a:ext uri="{FF2B5EF4-FFF2-40B4-BE49-F238E27FC236}">
                <a16:creationId xmlns:a16="http://schemas.microsoft.com/office/drawing/2014/main" id="{644ABF4A-6FD3-D546-CDE4-2516FBC74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2264" y="3442174"/>
            <a:ext cx="9144000" cy="1200288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sz="2400" b="1" dirty="0">
                <a:solidFill>
                  <a:schemeClr val="tx1"/>
                </a:solidFill>
              </a:rPr>
              <a:t>Sujet: Conception et implémentation d'une application SAP Fiori pour l'automatisation du chargement des documents de vente</a:t>
            </a:r>
          </a:p>
        </p:txBody>
      </p:sp>
      <p:sp>
        <p:nvSpPr>
          <p:cNvPr id="3094" name="Google Shape;2156;p41">
            <a:extLst>
              <a:ext uri="{FF2B5EF4-FFF2-40B4-BE49-F238E27FC236}">
                <a16:creationId xmlns:a16="http://schemas.microsoft.com/office/drawing/2014/main" id="{A42B302E-855D-6A38-7F79-A54F8B5EA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dirty="0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BD021E5B-3D4E-2399-7736-DEF933128D1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2" y="44706"/>
            <a:ext cx="2818404" cy="747753"/>
          </a:xfrm>
          <a:prstGeom prst="rect">
            <a:avLst/>
          </a:prstGeom>
        </p:spPr>
      </p:pic>
      <p:pic>
        <p:nvPicPr>
          <p:cNvPr id="5122" name="Picture 2" descr="APO Group - Africa Newsroom / Communiqué de presse | Honoris United  Universities enrichit son réseau panafricain avec une nouvelle école en  sciences de la santé et un centre de simulation médicale ultra-moderne">
            <a:extLst>
              <a:ext uri="{FF2B5EF4-FFF2-40B4-BE49-F238E27FC236}">
                <a16:creationId xmlns:a16="http://schemas.microsoft.com/office/drawing/2014/main" id="{6009E538-75D4-8E04-0711-D35ABB370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555" y="22430"/>
            <a:ext cx="2701445" cy="923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F2BCF0C-1251-DA62-A900-E0C3C7C1D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0558" y="792459"/>
            <a:ext cx="4800432" cy="1044094"/>
          </a:xfrm>
          <a:prstGeom prst="rect">
            <a:avLst/>
          </a:prstGeom>
        </p:spPr>
      </p:pic>
      <p:sp>
        <p:nvSpPr>
          <p:cNvPr id="2" name="Google Shape;2142;p41">
            <a:extLst>
              <a:ext uri="{FF2B5EF4-FFF2-40B4-BE49-F238E27FC236}">
                <a16:creationId xmlns:a16="http://schemas.microsoft.com/office/drawing/2014/main" id="{467FB766-0354-B3BE-074A-FA46819BA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9526" y="5137436"/>
            <a:ext cx="3419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rgbClr val="3F3F3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Encadrées Par:</a:t>
            </a:r>
            <a:endParaRPr lang="fr-FR" altLang="fr-FR" dirty="0"/>
          </a:p>
        </p:txBody>
      </p:sp>
      <p:sp>
        <p:nvSpPr>
          <p:cNvPr id="3" name="Google Shape;2143;p41">
            <a:extLst>
              <a:ext uri="{FF2B5EF4-FFF2-40B4-BE49-F238E27FC236}">
                <a16:creationId xmlns:a16="http://schemas.microsoft.com/office/drawing/2014/main" id="{4A7B210C-E614-C68A-F365-303ED1672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083" y="5166117"/>
            <a:ext cx="34194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rgbClr val="3F3F3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Réalisée par : </a:t>
            </a:r>
            <a:endParaRPr lang="fr-FR" altLang="fr-FR" sz="1800" dirty="0"/>
          </a:p>
        </p:txBody>
      </p:sp>
      <p:sp>
        <p:nvSpPr>
          <p:cNvPr id="6" name="Google Shape;2151;p41">
            <a:extLst>
              <a:ext uri="{FF2B5EF4-FFF2-40B4-BE49-F238E27FC236}">
                <a16:creationId xmlns:a16="http://schemas.microsoft.com/office/drawing/2014/main" id="{4B77079D-794A-44D3-FBD5-F32B96F0269C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8489526" y="5578716"/>
            <a:ext cx="3016250" cy="460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2800">
              <a:solidFill>
                <a:srgbClr val="6699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7" name="Google Shape;2152;p41">
            <a:extLst>
              <a:ext uri="{FF2B5EF4-FFF2-40B4-BE49-F238E27FC236}">
                <a16:creationId xmlns:a16="http://schemas.microsoft.com/office/drawing/2014/main" id="{F827118E-3274-D7DB-1138-3E65274AB962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347908" y="5595101"/>
            <a:ext cx="2936875" cy="5238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2800">
              <a:solidFill>
                <a:srgbClr val="6699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339729B-8ED6-81C0-46B6-902359BB1AE6}"/>
              </a:ext>
            </a:extLst>
          </p:cNvPr>
          <p:cNvSpPr txBox="1"/>
          <p:nvPr/>
        </p:nvSpPr>
        <p:spPr>
          <a:xfrm>
            <a:off x="347908" y="5706585"/>
            <a:ext cx="37279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Mlle. Loubna LAASRI</a:t>
            </a:r>
          </a:p>
        </p:txBody>
      </p:sp>
      <p:sp>
        <p:nvSpPr>
          <p:cNvPr id="9" name="Google Shape;2139;p41">
            <a:extLst>
              <a:ext uri="{FF2B5EF4-FFF2-40B4-BE49-F238E27FC236}">
                <a16:creationId xmlns:a16="http://schemas.microsoft.com/office/drawing/2014/main" id="{D55AFDF1-F893-F959-3FC6-B1822792A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9923" y="5619105"/>
            <a:ext cx="5252915" cy="523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b="1" dirty="0">
                <a:latin typeface="Cambria" panose="02040503050406030204" pitchFamily="18" charset="0"/>
              </a:rPr>
              <a:t>Mme. Mariam CHERRABI 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(EMSI)</a:t>
            </a:r>
            <a:endParaRPr lang="fr-FR" altLang="fr-FR" dirty="0">
              <a:latin typeface="Cambria" panose="02040503050406030204" pitchFamily="18" charset="0"/>
              <a:ea typeface="Cambria" panose="02040503050406030204" pitchFamily="18" charset="0"/>
              <a:sym typeface="Cambria" panose="02040503050406030204" pitchFamily="18" charset="0"/>
            </a:endParaRPr>
          </a:p>
          <a:p>
            <a:pPr eaLnBrk="1" hangingPunct="1"/>
            <a:r>
              <a:rPr lang="fr-FR" b="1" dirty="0">
                <a:latin typeface="Cambria" panose="02040503050406030204" pitchFamily="18" charset="0"/>
                <a:ea typeface="Cambria" panose="02040503050406030204" pitchFamily="18" charset="0"/>
              </a:rPr>
              <a:t>Mme. Kawtar SLIMANI 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(Deloitte)</a:t>
            </a:r>
            <a:endParaRPr lang="fr-FR" altLang="fr-FR" b="1" dirty="0">
              <a:latin typeface="Cambria" panose="02040503050406030204" pitchFamily="18" charset="0"/>
              <a:ea typeface="Cambria" panose="02040503050406030204" pitchFamily="18" charset="0"/>
              <a:sym typeface="Cambria" panose="02040503050406030204" pitchFamily="18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DF03DB3-9380-C57B-4717-6081D402FC82}"/>
              </a:ext>
            </a:extLst>
          </p:cNvPr>
          <p:cNvSpPr txBox="1"/>
          <p:nvPr/>
        </p:nvSpPr>
        <p:spPr>
          <a:xfrm>
            <a:off x="3722077" y="4701559"/>
            <a:ext cx="4747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fr-FR" sz="1800" b="1" dirty="0">
                <a:solidFill>
                  <a:srgbClr val="3F3F3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Soutenu le: 18 -07-2026</a:t>
            </a:r>
          </a:p>
        </p:txBody>
      </p:sp>
      <p:sp>
        <p:nvSpPr>
          <p:cNvPr id="4" name="Google Shape;2142;p41">
            <a:extLst>
              <a:ext uri="{FF2B5EF4-FFF2-40B4-BE49-F238E27FC236}">
                <a16:creationId xmlns:a16="http://schemas.microsoft.com/office/drawing/2014/main" id="{B3A5B36E-1543-10DA-D6C7-2E6B61313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811" y="5137436"/>
            <a:ext cx="3419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solidFill>
                  <a:srgbClr val="3F3F3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Devant les jurys :</a:t>
            </a:r>
            <a:endParaRPr lang="fr-FR" altLang="fr-FR" dirty="0"/>
          </a:p>
        </p:txBody>
      </p:sp>
      <p:sp>
        <p:nvSpPr>
          <p:cNvPr id="11" name="Google Shape;2151;p41">
            <a:extLst>
              <a:ext uri="{FF2B5EF4-FFF2-40B4-BE49-F238E27FC236}">
                <a16:creationId xmlns:a16="http://schemas.microsoft.com/office/drawing/2014/main" id="{A1F618AB-D876-9EEE-304A-6D96E3EECDEC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656811" y="5578716"/>
            <a:ext cx="3016250" cy="460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2800">
              <a:solidFill>
                <a:srgbClr val="6699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2" name="Google Shape;2139;p41">
            <a:extLst>
              <a:ext uri="{FF2B5EF4-FFF2-40B4-BE49-F238E27FC236}">
                <a16:creationId xmlns:a16="http://schemas.microsoft.com/office/drawing/2014/main" id="{ECF29B60-EFCA-4A5A-8BAB-494A9321C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7208" y="5619105"/>
            <a:ext cx="5252915" cy="523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b="1" dirty="0">
                <a:latin typeface="Cambria" panose="02040503050406030204" pitchFamily="18" charset="0"/>
                <a:sym typeface="Cambria" panose="02040503050406030204" pitchFamily="18" charset="0"/>
              </a:rPr>
              <a:t>Mme. Ibtissame AOURAGHE</a:t>
            </a:r>
          </a:p>
          <a:p>
            <a:pPr eaLnBrk="1" hangingPunct="1"/>
            <a:r>
              <a:rPr lang="fr-FR" altLang="fr-FR" b="1" dirty="0">
                <a:latin typeface="Cambria" panose="02040503050406030204" pitchFamily="18" charset="0"/>
                <a:sym typeface="Cambria" panose="02040503050406030204" pitchFamily="18" charset="0"/>
              </a:rPr>
              <a:t>Mr. Said WAHID</a:t>
            </a:r>
          </a:p>
        </p:txBody>
      </p:sp>
    </p:spTree>
    <p:extLst>
      <p:ext uri="{BB962C8B-B14F-4D97-AF65-F5344CB8AC3E}">
        <p14:creationId xmlns:p14="http://schemas.microsoft.com/office/powerpoint/2010/main" val="204639638"/>
      </p:ext>
    </p:extLst>
  </p:cSld>
  <p:clrMapOvr>
    <a:masterClrMapping/>
  </p:clrMapOvr>
  <p:transition spd="slow">
    <p:wip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45766-CADC-C5D6-5DD8-637EF044F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38998723-1787-B51B-201F-7F023B706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1E5A59E3-D7D4-F61F-6C5C-36D83142C3A4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265114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2C45E8B3-4243-BB44-3862-67D21B2AD8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03B95E10-9332-C8BC-DBE5-7156191DDF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EDF33826-CCAC-C092-448B-A0B8EE36A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E0C0A7C0-46F7-A02B-A68A-FBF3A0B9F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281" y="315618"/>
            <a:ext cx="3573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2000" b="1" dirty="0">
                <a:solidFill>
                  <a:srgbClr val="00206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 et mise en œuvre</a:t>
            </a:r>
            <a:endParaRPr lang="fr-FR" altLang="fr-FR" dirty="0"/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EB34C566-C962-DFC8-1593-5805C0695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 dirty="0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4435D21D-DE2A-2C93-C09D-D7FE840C2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1360" y="247213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 dirty="0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A4B94ED1-211D-D66E-2596-30E4CABC9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3A6AEC83-B2B4-A492-701E-D9864D4EB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 dirty="0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EAD15785-21AB-5E25-591B-884E74BC3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 dirty="0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8A1819AA-BDAA-3079-DAAA-EDC9382B5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 dirty="0"/>
          </a:p>
        </p:txBody>
      </p:sp>
      <p:sp>
        <p:nvSpPr>
          <p:cNvPr id="33804" name="Google Shape;1463;p20">
            <a:extLst>
              <a:ext uri="{FF2B5EF4-FFF2-40B4-BE49-F238E27FC236}">
                <a16:creationId xmlns:a16="http://schemas.microsoft.com/office/drawing/2014/main" id="{D0AE30C7-083E-7FB5-41DA-1F10230F3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38" y="960438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3805" name="Google Shape;1464;p20">
            <a:extLst>
              <a:ext uri="{FF2B5EF4-FFF2-40B4-BE49-F238E27FC236}">
                <a16:creationId xmlns:a16="http://schemas.microsoft.com/office/drawing/2014/main" id="{C4860F29-624D-90A8-EB97-9EBAA73816CA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9130028" y="798515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3807" name="Google Shape;1467;p20">
            <a:extLst>
              <a:ext uri="{FF2B5EF4-FFF2-40B4-BE49-F238E27FC236}">
                <a16:creationId xmlns:a16="http://schemas.microsoft.com/office/drawing/2014/main" id="{13C49322-4FE1-DAD2-4496-750702B78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1015" y="983456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Approche 1</a:t>
            </a:r>
            <a:endParaRPr lang="fr-FR" altLang="fr-F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822A34F7-537F-DBD5-B409-BADB0B6583D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5FFF2971-24E7-F4EE-9111-193893326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FD408478-36D6-341E-3D5D-35F375CA87A9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CB5294B9-2818-B6B4-A1E6-AFC581EF142A}"/>
              </a:ext>
            </a:extLst>
          </p:cNvPr>
          <p:cNvSpPr txBox="1">
            <a:spLocks/>
          </p:cNvSpPr>
          <p:nvPr/>
        </p:nvSpPr>
        <p:spPr bwMode="auto">
          <a:xfrm>
            <a:off x="10305948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22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DFC7B437-D89A-EC05-B6B9-9C6CE91A9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2" name="Google Shape;1463;p20">
            <a:extLst>
              <a:ext uri="{FF2B5EF4-FFF2-40B4-BE49-F238E27FC236}">
                <a16:creationId xmlns:a16="http://schemas.microsoft.com/office/drawing/2014/main" id="{4E11C523-14C8-F0C1-679D-0CB06C07C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4522" y="960438"/>
            <a:ext cx="1947862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" name="Google Shape;1467;p20">
            <a:extLst>
              <a:ext uri="{FF2B5EF4-FFF2-40B4-BE49-F238E27FC236}">
                <a16:creationId xmlns:a16="http://schemas.microsoft.com/office/drawing/2014/main" id="{942B00C9-6451-C291-D620-02F3D6CDD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5813" y="963753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Approche 2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D6A4694-CFF9-AF95-EFF9-B4D2B1B24E23}"/>
              </a:ext>
            </a:extLst>
          </p:cNvPr>
          <p:cNvSpPr txBox="1"/>
          <p:nvPr/>
        </p:nvSpPr>
        <p:spPr>
          <a:xfrm>
            <a:off x="0" y="6595904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E2A5AF-7639-F6A7-5A70-288C9F5F2DA7}"/>
              </a:ext>
            </a:extLst>
          </p:cNvPr>
          <p:cNvSpPr/>
          <p:nvPr/>
        </p:nvSpPr>
        <p:spPr>
          <a:xfrm>
            <a:off x="6641910" y="3400426"/>
            <a:ext cx="1132765" cy="102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D1D6EC8-CDA1-B605-7146-DA4AD6182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200" y="1414873"/>
            <a:ext cx="9195491" cy="497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689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C4AB1-6F3E-A3A9-CB84-EA8E863DF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443;p20">
            <a:extLst>
              <a:ext uri="{FF2B5EF4-FFF2-40B4-BE49-F238E27FC236}">
                <a16:creationId xmlns:a16="http://schemas.microsoft.com/office/drawing/2014/main" id="{A0359E88-D8F4-2108-D81C-662013AE6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80188"/>
            <a:ext cx="2014538" cy="2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Projet de Génie Logiciel</a:t>
            </a:r>
            <a:endParaRPr lang="fr-FR" altLang="fr-FR" dirty="0"/>
          </a:p>
        </p:txBody>
      </p:sp>
      <p:grpSp>
        <p:nvGrpSpPr>
          <p:cNvPr id="33795" name="Google Shape;1444;p20">
            <a:extLst>
              <a:ext uri="{FF2B5EF4-FFF2-40B4-BE49-F238E27FC236}">
                <a16:creationId xmlns:a16="http://schemas.microsoft.com/office/drawing/2014/main" id="{76779B50-12D0-66CC-6E56-A10A5678EFDC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265114"/>
            <a:ext cx="7473950" cy="503237"/>
            <a:chOff x="841108" y="1294358"/>
            <a:chExt cx="7475308" cy="508077"/>
          </a:xfrm>
        </p:grpSpPr>
        <p:sp>
          <p:nvSpPr>
            <p:cNvPr id="33820" name="Google Shape;1445;p20">
              <a:extLst>
                <a:ext uri="{FF2B5EF4-FFF2-40B4-BE49-F238E27FC236}">
                  <a16:creationId xmlns:a16="http://schemas.microsoft.com/office/drawing/2014/main" id="{C203C296-5792-C164-091E-2A654F1EFE0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1921228" y="1294358"/>
              <a:ext cx="6008359" cy="50807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 anchor="ctr"/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000">
                <a:solidFill>
                  <a:srgbClr val="FFFFFF"/>
                </a:solidFill>
                <a:latin typeface="Georgia" panose="02040502050405020303" pitchFamily="18" charset="0"/>
                <a:sym typeface="Georgia" panose="02040502050405020303" pitchFamily="18" charset="0"/>
              </a:endParaRPr>
            </a:p>
          </p:txBody>
        </p:sp>
        <p:sp>
          <p:nvSpPr>
            <p:cNvPr id="33821" name="Google Shape;1446;p20">
              <a:extLst>
                <a:ext uri="{FF2B5EF4-FFF2-40B4-BE49-F238E27FC236}">
                  <a16:creationId xmlns:a16="http://schemas.microsoft.com/office/drawing/2014/main" id="{F4F66B9A-5027-7A43-EF82-4885BCB6B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108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  <p:sp>
          <p:nvSpPr>
            <p:cNvPr id="33822" name="Google Shape;1447;p20">
              <a:extLst>
                <a:ext uri="{FF2B5EF4-FFF2-40B4-BE49-F238E27FC236}">
                  <a16:creationId xmlns:a16="http://schemas.microsoft.com/office/drawing/2014/main" id="{AA7518AB-C51C-6703-5427-D4A7666FF0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776" y="1340769"/>
              <a:ext cx="1331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 panose="020B0604020202020204" pitchFamily="34" charset="0"/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 sz="2400">
                <a:solidFill>
                  <a:srgbClr val="FFFFFF"/>
                </a:solidFill>
                <a:latin typeface="Century Gothic" panose="020B0502020202020204" pitchFamily="34" charset="0"/>
                <a:sym typeface="Century Gothic" panose="020B0502020202020204" pitchFamily="34" charset="0"/>
              </a:endParaRPr>
            </a:p>
          </p:txBody>
        </p:sp>
      </p:grpSp>
      <p:sp>
        <p:nvSpPr>
          <p:cNvPr id="33796" name="Google Shape;1448;p20">
            <a:extLst>
              <a:ext uri="{FF2B5EF4-FFF2-40B4-BE49-F238E27FC236}">
                <a16:creationId xmlns:a16="http://schemas.microsoft.com/office/drawing/2014/main" id="{61737A2C-9C14-8674-9A1A-095B430E3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281" y="315618"/>
            <a:ext cx="3573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2000" b="1" dirty="0">
                <a:solidFill>
                  <a:srgbClr val="00206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Réalisation et mise en œuvre</a:t>
            </a:r>
            <a:endParaRPr lang="fr-FR" altLang="fr-FR" dirty="0"/>
          </a:p>
        </p:txBody>
      </p:sp>
      <p:sp>
        <p:nvSpPr>
          <p:cNvPr id="33797" name="Google Shape;1449;p20">
            <a:extLst>
              <a:ext uri="{FF2B5EF4-FFF2-40B4-BE49-F238E27FC236}">
                <a16:creationId xmlns:a16="http://schemas.microsoft.com/office/drawing/2014/main" id="{29D95C6D-82F3-4B91-3650-2B51B229F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242888"/>
            <a:ext cx="504825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III</a:t>
            </a:r>
            <a:endParaRPr lang="fr-FR" altLang="fr-FR" dirty="0"/>
          </a:p>
        </p:txBody>
      </p:sp>
      <p:sp>
        <p:nvSpPr>
          <p:cNvPr id="33798" name="Google Shape;1450;p20">
            <a:extLst>
              <a:ext uri="{FF2B5EF4-FFF2-40B4-BE49-F238E27FC236}">
                <a16:creationId xmlns:a16="http://schemas.microsoft.com/office/drawing/2014/main" id="{6045A6B3-73EF-F54F-2A9B-5D529E571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1360" y="247213"/>
            <a:ext cx="503238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</a:t>
            </a:r>
            <a:endParaRPr lang="fr-FR" altLang="fr-FR" dirty="0"/>
          </a:p>
        </p:txBody>
      </p:sp>
      <p:sp>
        <p:nvSpPr>
          <p:cNvPr id="33799" name="Google Shape;1451;p20">
            <a:extLst>
              <a:ext uri="{FF2B5EF4-FFF2-40B4-BE49-F238E27FC236}">
                <a16:creationId xmlns:a16="http://schemas.microsoft.com/office/drawing/2014/main" id="{139072E6-713D-6978-BCDE-C232EFBAA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241300"/>
            <a:ext cx="458787" cy="503238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</a:t>
            </a:r>
            <a:endParaRPr lang="fr-FR" altLang="fr-FR" dirty="0"/>
          </a:p>
        </p:txBody>
      </p:sp>
      <p:sp>
        <p:nvSpPr>
          <p:cNvPr id="33800" name="Google Shape;1452;p20">
            <a:extLst>
              <a:ext uri="{FF2B5EF4-FFF2-40B4-BE49-F238E27FC236}">
                <a16:creationId xmlns:a16="http://schemas.microsoft.com/office/drawing/2014/main" id="{956C583F-F9FE-A1F4-178C-083F28C09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238125"/>
            <a:ext cx="503237" cy="504825"/>
          </a:xfrm>
          <a:prstGeom prst="rect">
            <a:avLst/>
          </a:prstGeom>
          <a:solidFill>
            <a:schemeClr val="accent6">
              <a:lumMod val="75000"/>
              <a:alpha val="87057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II</a:t>
            </a:r>
            <a:endParaRPr lang="fr-FR" altLang="fr-FR" dirty="0"/>
          </a:p>
        </p:txBody>
      </p:sp>
      <p:sp>
        <p:nvSpPr>
          <p:cNvPr id="33801" name="Google Shape;1453;p20">
            <a:extLst>
              <a:ext uri="{FF2B5EF4-FFF2-40B4-BE49-F238E27FC236}">
                <a16:creationId xmlns:a16="http://schemas.microsoft.com/office/drawing/2014/main" id="{ABE127EC-2319-F893-6BD8-B2D8D56E8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239713"/>
            <a:ext cx="503238" cy="5032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IV</a:t>
            </a:r>
            <a:endParaRPr lang="fr-FR" altLang="fr-FR" dirty="0"/>
          </a:p>
        </p:txBody>
      </p:sp>
      <p:sp>
        <p:nvSpPr>
          <p:cNvPr id="33802" name="Google Shape;1457;p20">
            <a:extLst>
              <a:ext uri="{FF2B5EF4-FFF2-40B4-BE49-F238E27FC236}">
                <a16:creationId xmlns:a16="http://schemas.microsoft.com/office/drawing/2014/main" id="{12C1B930-FF74-1AB6-8C8A-D6642A474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3738" y="234950"/>
            <a:ext cx="503237" cy="5048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20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VI</a:t>
            </a:r>
            <a:endParaRPr lang="fr-FR" altLang="fr-FR" dirty="0"/>
          </a:p>
        </p:txBody>
      </p:sp>
      <p:sp>
        <p:nvSpPr>
          <p:cNvPr id="33804" name="Google Shape;1463;p20">
            <a:extLst>
              <a:ext uri="{FF2B5EF4-FFF2-40B4-BE49-F238E27FC236}">
                <a16:creationId xmlns:a16="http://schemas.microsoft.com/office/drawing/2014/main" id="{BAC8B672-488F-BCBA-9026-80BC72574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38" y="960438"/>
            <a:ext cx="1947862" cy="4603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FFFF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3805" name="Google Shape;1464;p20">
            <a:extLst>
              <a:ext uri="{FF2B5EF4-FFF2-40B4-BE49-F238E27FC236}">
                <a16:creationId xmlns:a16="http://schemas.microsoft.com/office/drawing/2014/main" id="{5F6E2C2E-EFCD-2239-FF36-2FED3E1B8F1B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9130028" y="798515"/>
            <a:ext cx="196850" cy="117475"/>
          </a:xfrm>
          <a:prstGeom prst="triangle">
            <a:avLst>
              <a:gd name="adj" fmla="val 50000"/>
            </a:avLst>
          </a:pr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C0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3807" name="Google Shape;1467;p20">
            <a:extLst>
              <a:ext uri="{FF2B5EF4-FFF2-40B4-BE49-F238E27FC236}">
                <a16:creationId xmlns:a16="http://schemas.microsoft.com/office/drawing/2014/main" id="{7372BD03-497D-16DD-F5E4-F04E6B449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1015" y="983456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Approche 1</a:t>
            </a:r>
            <a:endParaRPr lang="fr-FR" altLang="fr-F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809" name="Google Shape;1469;p20">
            <a:extLst>
              <a:ext uri="{FF2B5EF4-FFF2-40B4-BE49-F238E27FC236}">
                <a16:creationId xmlns:a16="http://schemas.microsoft.com/office/drawing/2014/main" id="{F3114E28-DEA6-82F1-D3BF-CF4D46893F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554538" y="6594475"/>
            <a:ext cx="3079750" cy="263525"/>
          </a:xfrm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17</a:t>
            </a:r>
            <a:endParaRPr lang="fr-FR" altLang="fr-FR" sz="12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0" name="Google Shape;1470;p20">
            <a:extLst>
              <a:ext uri="{FF2B5EF4-FFF2-40B4-BE49-F238E27FC236}">
                <a16:creationId xmlns:a16="http://schemas.microsoft.com/office/drawing/2014/main" id="{15E19062-C5A5-AB3B-1FDB-8D0BC6605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6594475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ENSAJ 2021-2022</a:t>
            </a:r>
            <a:endParaRPr lang="fr-FR" altLang="fr-FR"/>
          </a:p>
        </p:txBody>
      </p:sp>
      <p:sp>
        <p:nvSpPr>
          <p:cNvPr id="33816" name="Google Shape;836;p4">
            <a:extLst>
              <a:ext uri="{FF2B5EF4-FFF2-40B4-BE49-F238E27FC236}">
                <a16:creationId xmlns:a16="http://schemas.microsoft.com/office/drawing/2014/main" id="{07FB4B36-7A3E-5249-B57C-354E64B7F5A0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0" y="6596063"/>
            <a:ext cx="12192000" cy="26193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fr-FR" altLang="fr-FR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8" name="Google Shape;1338;p16">
            <a:extLst>
              <a:ext uri="{FF2B5EF4-FFF2-40B4-BE49-F238E27FC236}">
                <a16:creationId xmlns:a16="http://schemas.microsoft.com/office/drawing/2014/main" id="{C66997B0-4DEF-EC36-26DA-F2DA3ABD7E75}"/>
              </a:ext>
            </a:extLst>
          </p:cNvPr>
          <p:cNvSpPr txBox="1">
            <a:spLocks/>
          </p:cNvSpPr>
          <p:nvPr/>
        </p:nvSpPr>
        <p:spPr bwMode="auto">
          <a:xfrm>
            <a:off x="10305948" y="6608763"/>
            <a:ext cx="30797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cs typeface="Calibri" panose="020F0502020204030204" pitchFamily="34" charset="0"/>
                <a:sym typeface="Cambria" panose="02040503050406030204" pitchFamily="18" charset="0"/>
              </a:rPr>
              <a:t>13</a:t>
            </a:r>
            <a:endParaRPr lang="fr-FR" altLang="fr-FR" sz="1200" dirty="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819" name="Google Shape;945;p6">
            <a:extLst>
              <a:ext uri="{FF2B5EF4-FFF2-40B4-BE49-F238E27FC236}">
                <a16:creationId xmlns:a16="http://schemas.microsoft.com/office/drawing/2014/main" id="{0D7E994C-C0FD-EE7C-B3D0-D68BA3C6B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8075" y="6580188"/>
            <a:ext cx="17684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300" dirty="0">
                <a:solidFill>
                  <a:srgbClr val="FFFFFF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EMSI 2025-2026</a:t>
            </a:r>
            <a:endParaRPr lang="fr-FR" altLang="fr-FR" sz="1200" dirty="0"/>
          </a:p>
        </p:txBody>
      </p:sp>
      <p:sp>
        <p:nvSpPr>
          <p:cNvPr id="2" name="Google Shape;1463;p20">
            <a:extLst>
              <a:ext uri="{FF2B5EF4-FFF2-40B4-BE49-F238E27FC236}">
                <a16:creationId xmlns:a16="http://schemas.microsoft.com/office/drawing/2014/main" id="{AF32AE46-0748-FBA3-B737-4B92C7ECC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4522" y="960438"/>
            <a:ext cx="1947862" cy="460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91425" tIns="45700" rIns="91425" bIns="45700" anchor="ctr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fr-FR" sz="1800">
              <a:solidFill>
                <a:srgbClr val="FF0000"/>
              </a:solidFill>
              <a:latin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" name="Google Shape;1467;p20">
            <a:extLst>
              <a:ext uri="{FF2B5EF4-FFF2-40B4-BE49-F238E27FC236}">
                <a16:creationId xmlns:a16="http://schemas.microsoft.com/office/drawing/2014/main" id="{BE608009-8B4D-8EFF-B00A-D78E6772D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5813" y="963753"/>
            <a:ext cx="19478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300" b="1" dirty="0">
                <a:solidFill>
                  <a:srgbClr val="FF0000"/>
                </a:solidFill>
                <a:latin typeface="Cambria" panose="02040503050406030204" pitchFamily="18" charset="0"/>
                <a:sym typeface="Cambria" panose="02040503050406030204" pitchFamily="18" charset="0"/>
              </a:rPr>
              <a:t>Approche 2</a:t>
            </a:r>
            <a:endParaRPr lang="fr-FR" altLang="fr-FR" dirty="0">
              <a:solidFill>
                <a:srgbClr val="FF000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6713353-30BD-344E-87B1-AF16DC9327D1}"/>
              </a:ext>
            </a:extLst>
          </p:cNvPr>
          <p:cNvSpPr txBox="1"/>
          <p:nvPr/>
        </p:nvSpPr>
        <p:spPr>
          <a:xfrm>
            <a:off x="0" y="6595904"/>
            <a:ext cx="809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</a:rPr>
              <a:t>Conception et implémentation d'une application SAP Fiori pour l'automatisation du chargement des documents de vente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E315A82-1E9E-28FB-CC8A-F96EE5868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754" y="1451254"/>
            <a:ext cx="7376988" cy="505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407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102030</TotalTime>
  <Words>3095</Words>
  <Application>Microsoft Office PowerPoint</Application>
  <PresentationFormat>Grand écran</PresentationFormat>
  <Paragraphs>961</Paragraphs>
  <Slides>56</Slides>
  <Notes>53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56</vt:i4>
      </vt:variant>
    </vt:vector>
  </HeadingPairs>
  <TitlesOfParts>
    <vt:vector size="65" baseType="lpstr">
      <vt:lpstr>Cambria</vt:lpstr>
      <vt:lpstr>Times New Roman</vt:lpstr>
      <vt:lpstr>Century Gothic</vt:lpstr>
      <vt:lpstr>Garamond</vt:lpstr>
      <vt:lpstr>Georgia</vt:lpstr>
      <vt:lpstr>Calibri</vt:lpstr>
      <vt:lpstr>Aptos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Hamza Abbassi</dc:creator>
  <cp:lastModifiedBy>Laasri, Loubna</cp:lastModifiedBy>
  <cp:revision>324</cp:revision>
  <dcterms:created xsi:type="dcterms:W3CDTF">2015-06-22T23:04:11Z</dcterms:created>
  <dcterms:modified xsi:type="dcterms:W3CDTF">2026-07-16T17:04:57Z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(2)P2uok+fv6hNfwICgNmkac+5KiUc2lODxfpa+lCmty0UmGvlsbFnrfPRrejSuNLA8HX/SI09Z
VQJUUuSSs1mzqWAuojMg38MMMDCn9n1lqlnrHq0RvojFbtT1ZGH4VIRwlmSlntE4jxrVvkxM
5aIAnI/5GZeEuWrMmBPV4YtZR0McGGjCV/wrmLbFpOW7IJOW0Tgk55CY05vCQUUw3dK5rWHK
z0pw4k1qe6WVeq/PPB</vt:lpwstr>
  </property>
  <property fmtid="{D5CDD505-2E9C-101B-9397-08002B2CF9AE}" pid="3" name="_2015_ms_pID_7253431">
    <vt:lpwstr>WPLvSJBy4sm8BfcCr1iB0/Cft1ZpRbeC0t+9e08gfbSmQU/7I+YJxK
WsZK2OTtHRm5z9KhGgSvMXjhD7nBjn4Ua8KAba9/YkkZMQuwRTf5Glv476rAyMbkQ+NVTkLY
IoeDQBTMtglu1qStTzTW41Y29PWYbV/ZS4c/ecnq+Q/AKRkzeSrqxTLTdPNifH7eSD4=</vt:lpwstr>
  </property>
</Properties>
</file>